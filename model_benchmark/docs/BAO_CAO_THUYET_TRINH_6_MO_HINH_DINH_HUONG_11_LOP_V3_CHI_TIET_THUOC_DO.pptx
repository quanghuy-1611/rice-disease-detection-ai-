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b0b544b353457a" /><Relationship Type="http://schemas.openxmlformats.org/officeDocument/2006/relationships/extended-properties" Target="/docProps/app.xml" Id="R01e7ec56c8314d29" /><Relationship Type="http://schemas.openxmlformats.org/officeDocument/2006/relationships/officeDocument" Target="/ppt/presentation.xml" Id="R798fb3842bd949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dc34a303aa4ff0"/>
  </p:sldMasterIdLst>
  <p:notesMasterIdLst>
    <p:notesMasterId xmlns:r="http://schemas.openxmlformats.org/officeDocument/2006/relationships" r:id="Rec395dafa61e4299"/>
  </p:notesMasterIdLst>
  <p:sldIdLst>
    <p:sldId xmlns:r="http://schemas.openxmlformats.org/officeDocument/2006/relationships" id="256" r:id="Ra89833a58091465e"/>
    <p:sldId xmlns:r="http://schemas.openxmlformats.org/officeDocument/2006/relationships" id="257" r:id="R23f93a22919d410d"/>
    <p:sldId xmlns:r="http://schemas.openxmlformats.org/officeDocument/2006/relationships" id="258" r:id="Rd1a59fea1f704e39"/>
    <p:sldId xmlns:r="http://schemas.openxmlformats.org/officeDocument/2006/relationships" id="259" r:id="R6986bf9ae3694834"/>
    <p:sldId xmlns:r="http://schemas.openxmlformats.org/officeDocument/2006/relationships" id="260" r:id="R5f351cae755147b7"/>
    <p:sldId xmlns:r="http://schemas.openxmlformats.org/officeDocument/2006/relationships" id="261" r:id="R480892c41cfe464c"/>
    <p:sldId xmlns:r="http://schemas.openxmlformats.org/officeDocument/2006/relationships" id="262" r:id="R80a318130b884ab3"/>
    <p:sldId xmlns:r="http://schemas.openxmlformats.org/officeDocument/2006/relationships" id="263" r:id="Re5da47a3febc4309"/>
    <p:sldId xmlns:r="http://schemas.openxmlformats.org/officeDocument/2006/relationships" id="264" r:id="Rea6f0f46686945c5"/>
    <p:sldId xmlns:r="http://schemas.openxmlformats.org/officeDocument/2006/relationships" id="265" r:id="R75334e1ed3d044e1"/>
    <p:sldId xmlns:r="http://schemas.openxmlformats.org/officeDocument/2006/relationships" id="266" r:id="Rb3c69041c8d34bdb"/>
    <p:sldId xmlns:r="http://schemas.openxmlformats.org/officeDocument/2006/relationships" id="267" r:id="Re81e1ac5a6e147e0"/>
    <p:sldId xmlns:r="http://schemas.openxmlformats.org/officeDocument/2006/relationships" id="268" r:id="Rdf3101cedc8048d8"/>
    <p:sldId xmlns:r="http://schemas.openxmlformats.org/officeDocument/2006/relationships" id="269" r:id="Re5e7748c02a14496"/>
    <p:sldId xmlns:r="http://schemas.openxmlformats.org/officeDocument/2006/relationships" id="270" r:id="Rdf534fd8fcbb49b9"/>
    <p:sldId xmlns:r="http://schemas.openxmlformats.org/officeDocument/2006/relationships" id="271" r:id="R58f345e08d394c49"/>
    <p:sldId xmlns:r="http://schemas.openxmlformats.org/officeDocument/2006/relationships" id="272" r:id="R56c943e683644cc3"/>
    <p:sldId xmlns:r="http://schemas.openxmlformats.org/officeDocument/2006/relationships" id="273" r:id="Rcea238775591499e"/>
    <p:sldId xmlns:r="http://schemas.openxmlformats.org/officeDocument/2006/relationships" id="274" r:id="R95b9195896234c38"/>
    <p:sldId xmlns:r="http://schemas.openxmlformats.org/officeDocument/2006/relationships" id="275" r:id="R48a288801de048b9"/>
    <p:sldId xmlns:r="http://schemas.openxmlformats.org/officeDocument/2006/relationships" id="276" r:id="R902970a3bdfe4036"/>
    <p:sldId xmlns:r="http://schemas.openxmlformats.org/officeDocument/2006/relationships" id="277" r:id="Red340897c376411f"/>
    <p:sldId xmlns:r="http://schemas.openxmlformats.org/officeDocument/2006/relationships" id="278" r:id="R4ca939e17f394269"/>
    <p:sldId xmlns:r="http://schemas.openxmlformats.org/officeDocument/2006/relationships" id="279" r:id="R2ac95d2d41d04189"/>
    <p:sldId xmlns:r="http://schemas.openxmlformats.org/officeDocument/2006/relationships" id="280" r:id="Rdfa41e4410d14524"/>
    <p:sldId xmlns:r="http://schemas.openxmlformats.org/officeDocument/2006/relationships" id="281" r:id="R5db7dc35a0f9456a"/>
    <p:sldId xmlns:r="http://schemas.openxmlformats.org/officeDocument/2006/relationships" id="282" r:id="R1d73645f0bf544b0"/>
    <p:sldId xmlns:r="http://schemas.openxmlformats.org/officeDocument/2006/relationships" id="283" r:id="R9429ff8f4e134dd8"/>
    <p:sldId xmlns:r="http://schemas.openxmlformats.org/officeDocument/2006/relationships" id="284" r:id="R05cc137d804649d6"/>
    <p:sldId xmlns:r="http://schemas.openxmlformats.org/officeDocument/2006/relationships" id="285" r:id="R70024d5e79f349ff"/>
    <p:sldId xmlns:r="http://schemas.openxmlformats.org/officeDocument/2006/relationships" id="286" r:id="R66433833a4bf49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7efb8ddbc34614" /><Relationship Type="http://schemas.openxmlformats.org/officeDocument/2006/relationships/slideMaster" Target="/ppt/slideMasters/slideMaster1.xml" Id="R1fdc34a303aa4ff0" /><Relationship Type="http://schemas.openxmlformats.org/officeDocument/2006/relationships/notesMaster" Target="/ppt/notesMasters/notesMaster1.xml" Id="Rec395dafa61e4299" /><Relationship Type="http://schemas.openxmlformats.org/officeDocument/2006/relationships/presProps" Target="/ppt/presProps.xml" Id="R1cf2433ae2574290" /><Relationship Type="http://schemas.openxmlformats.org/officeDocument/2006/relationships/tableStyles" Target="/ppt/tableStyles.xml" Id="R6f363b6428f74e96" /><Relationship Type="http://schemas.openxmlformats.org/officeDocument/2006/relationships/slide" Target="/ppt/slides/slide1.xml" Id="Ra89833a58091465e" /><Relationship Type="http://schemas.openxmlformats.org/officeDocument/2006/relationships/slide" Target="/ppt/slides/slide2.xml" Id="R23f93a22919d410d" /><Relationship Type="http://schemas.openxmlformats.org/officeDocument/2006/relationships/slide" Target="/ppt/slides/slide3.xml" Id="Rd1a59fea1f704e39" /><Relationship Type="http://schemas.openxmlformats.org/officeDocument/2006/relationships/slide" Target="/ppt/slides/slide4.xml" Id="R6986bf9ae3694834" /><Relationship Type="http://schemas.openxmlformats.org/officeDocument/2006/relationships/slide" Target="/ppt/slides/slide5.xml" Id="R5f351cae755147b7" /><Relationship Type="http://schemas.openxmlformats.org/officeDocument/2006/relationships/slide" Target="/ppt/slides/slide6.xml" Id="R480892c41cfe464c" /><Relationship Type="http://schemas.openxmlformats.org/officeDocument/2006/relationships/slide" Target="/ppt/slides/slide7.xml" Id="R80a318130b884ab3" /><Relationship Type="http://schemas.openxmlformats.org/officeDocument/2006/relationships/slide" Target="/ppt/slides/slide8.xml" Id="Re5da47a3febc4309" /><Relationship Type="http://schemas.openxmlformats.org/officeDocument/2006/relationships/slide" Target="/ppt/slides/slide9.xml" Id="Rea6f0f46686945c5" /><Relationship Type="http://schemas.openxmlformats.org/officeDocument/2006/relationships/slide" Target="/ppt/slides/slide10.xml" Id="R75334e1ed3d044e1" /><Relationship Type="http://schemas.openxmlformats.org/officeDocument/2006/relationships/slide" Target="/ppt/slides/slide11.xml" Id="Rb3c69041c8d34bdb" /><Relationship Type="http://schemas.openxmlformats.org/officeDocument/2006/relationships/slide" Target="/ppt/slides/slide12.xml" Id="Re81e1ac5a6e147e0" /><Relationship Type="http://schemas.openxmlformats.org/officeDocument/2006/relationships/slide" Target="/ppt/slides/slide13.xml" Id="Rdf3101cedc8048d8" /><Relationship Type="http://schemas.openxmlformats.org/officeDocument/2006/relationships/slide" Target="/ppt/slides/slide14.xml" Id="Re5e7748c02a14496" /><Relationship Type="http://schemas.openxmlformats.org/officeDocument/2006/relationships/slide" Target="/ppt/slides/slide15.xml" Id="Rdf534fd8fcbb49b9" /><Relationship Type="http://schemas.openxmlformats.org/officeDocument/2006/relationships/slide" Target="/ppt/slides/slide16.xml" Id="R58f345e08d394c49" /><Relationship Type="http://schemas.openxmlformats.org/officeDocument/2006/relationships/slide" Target="/ppt/slides/slide17.xml" Id="R56c943e683644cc3" /><Relationship Type="http://schemas.openxmlformats.org/officeDocument/2006/relationships/slide" Target="/ppt/slides/slide18.xml" Id="Rcea238775591499e" /><Relationship Type="http://schemas.openxmlformats.org/officeDocument/2006/relationships/slide" Target="/ppt/slides/slide19.xml" Id="R95b9195896234c38" /><Relationship Type="http://schemas.openxmlformats.org/officeDocument/2006/relationships/slide" Target="/ppt/slides/slide20.xml" Id="R48a288801de048b9" /><Relationship Type="http://schemas.openxmlformats.org/officeDocument/2006/relationships/slide" Target="/ppt/slides/slide21.xml" Id="R902970a3bdfe4036" /><Relationship Type="http://schemas.openxmlformats.org/officeDocument/2006/relationships/slide" Target="/ppt/slides/slide22.xml" Id="Red340897c376411f" /><Relationship Type="http://schemas.openxmlformats.org/officeDocument/2006/relationships/slide" Target="/ppt/slides/slide23.xml" Id="R4ca939e17f394269" /><Relationship Type="http://schemas.openxmlformats.org/officeDocument/2006/relationships/slide" Target="/ppt/slides/slide24.xml" Id="R2ac95d2d41d04189" /><Relationship Type="http://schemas.openxmlformats.org/officeDocument/2006/relationships/slide" Target="/ppt/slides/slide25.xml" Id="Rdfa41e4410d14524" /><Relationship Type="http://schemas.openxmlformats.org/officeDocument/2006/relationships/slide" Target="/ppt/slides/slide26.xml" Id="R5db7dc35a0f9456a" /><Relationship Type="http://schemas.openxmlformats.org/officeDocument/2006/relationships/slide" Target="/ppt/slides/slide27.xml" Id="R1d73645f0bf544b0" /><Relationship Type="http://schemas.openxmlformats.org/officeDocument/2006/relationships/slide" Target="/ppt/slides/slide28.xml" Id="R9429ff8f4e134dd8" /><Relationship Type="http://schemas.openxmlformats.org/officeDocument/2006/relationships/slide" Target="/ppt/slides/slide29.xml" Id="R05cc137d804649d6" /><Relationship Type="http://schemas.openxmlformats.org/officeDocument/2006/relationships/slide" Target="/ppt/slides/slide30.xml" Id="R70024d5e79f349ff" /><Relationship Type="http://schemas.openxmlformats.org/officeDocument/2006/relationships/slide" Target="/ppt/slides/slide31.xml" Id="R66433833a4bf49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bab6a32faa4e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208152b8974882" /><Relationship Type="http://schemas.openxmlformats.org/officeDocument/2006/relationships/notesMaster" Target="/ppt/notesMasters/notesMaster1.xml" Id="R99b30ffe5e774b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d2d6434a2c4857" /><Relationship Type="http://schemas.openxmlformats.org/officeDocument/2006/relationships/notesMaster" Target="/ppt/notesMasters/notesMaster1.xml" Id="R5f9a5d90e5b34b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f8585d90794759" /><Relationship Type="http://schemas.openxmlformats.org/officeDocument/2006/relationships/notesMaster" Target="/ppt/notesMasters/notesMaster1.xml" Id="Re29f87a9d42842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569ad7852d4586" /><Relationship Type="http://schemas.openxmlformats.org/officeDocument/2006/relationships/notesMaster" Target="/ppt/notesMasters/notesMaster1.xml" Id="R1ee3dc27c5924b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22a884d4f7494c" /><Relationship Type="http://schemas.openxmlformats.org/officeDocument/2006/relationships/notesMaster" Target="/ppt/notesMasters/notesMaster1.xml" Id="R07d9818fae724b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2c11c258224015" /><Relationship Type="http://schemas.openxmlformats.org/officeDocument/2006/relationships/notesMaster" Target="/ppt/notesMasters/notesMaster1.xml" Id="R1aa4e0d4458149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b2c70df0f04104" /><Relationship Type="http://schemas.openxmlformats.org/officeDocument/2006/relationships/notesMaster" Target="/ppt/notesMasters/notesMaster1.xml" Id="R975378e9f17440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f8ef6fb631409f" /><Relationship Type="http://schemas.openxmlformats.org/officeDocument/2006/relationships/notesMaster" Target="/ppt/notesMasters/notesMaster1.xml" Id="R493b951a0e0f4e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5a026381cb44a6" /><Relationship Type="http://schemas.openxmlformats.org/officeDocument/2006/relationships/notesMaster" Target="/ppt/notesMasters/notesMaster1.xml" Id="R6641711497fc4d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c9fb6042cc45f2" /><Relationship Type="http://schemas.openxmlformats.org/officeDocument/2006/relationships/notesMaster" Target="/ppt/notesMasters/notesMaster1.xml" Id="Re71f08d80b0945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6e74d32733407e" /><Relationship Type="http://schemas.openxmlformats.org/officeDocument/2006/relationships/notesMaster" Target="/ppt/notesMasters/notesMaster1.xml" Id="Rcbd91276b49c49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007a34d7e54fda" /><Relationship Type="http://schemas.openxmlformats.org/officeDocument/2006/relationships/notesMaster" Target="/ppt/notesMasters/notesMaster1.xml" Id="R343f8df37b8b49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c4ecd7776442d3" /><Relationship Type="http://schemas.openxmlformats.org/officeDocument/2006/relationships/notesMaster" Target="/ppt/notesMasters/notesMaster1.xml" Id="Rd00058b2a42346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bbb8cdb8e9461f" /><Relationship Type="http://schemas.openxmlformats.org/officeDocument/2006/relationships/notesMaster" Target="/ppt/notesMasters/notesMaster1.xml" Id="R45102cc39f6544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ffc58be71764d1b" /><Relationship Type="http://schemas.openxmlformats.org/officeDocument/2006/relationships/notesMaster" Target="/ppt/notesMasters/notesMaster1.xml" Id="Ra427c45aa5f1441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8d35929af2404a" /><Relationship Type="http://schemas.openxmlformats.org/officeDocument/2006/relationships/notesMaster" Target="/ppt/notesMasters/notesMaster1.xml" Id="R32365d1fbe484ca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b16b50fd13c438d" /><Relationship Type="http://schemas.openxmlformats.org/officeDocument/2006/relationships/notesMaster" Target="/ppt/notesMasters/notesMaster1.xml" Id="R7c82c4f0d56a46e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bcca19869a4ddd" /><Relationship Type="http://schemas.openxmlformats.org/officeDocument/2006/relationships/notesMaster" Target="/ppt/notesMasters/notesMaster1.xml" Id="Rf46bdcb8c0b2460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3033f43845544ff" /><Relationship Type="http://schemas.openxmlformats.org/officeDocument/2006/relationships/notesMaster" Target="/ppt/notesMasters/notesMaster1.xml" Id="R1c1a0232c58e46a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ffe09f1414b4c67" /><Relationship Type="http://schemas.openxmlformats.org/officeDocument/2006/relationships/notesMaster" Target="/ppt/notesMasters/notesMaster1.xml" Id="R28fbb8b6fee7489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99aa65b9099465e" /><Relationship Type="http://schemas.openxmlformats.org/officeDocument/2006/relationships/notesMaster" Target="/ppt/notesMasters/notesMaster1.xml" Id="Ra1decdeb838f40b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fc78d7f101b4290" /><Relationship Type="http://schemas.openxmlformats.org/officeDocument/2006/relationships/notesMaster" Target="/ppt/notesMasters/notesMaster1.xml" Id="R5e1420ede244493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ac9749c7e6a414d" /><Relationship Type="http://schemas.openxmlformats.org/officeDocument/2006/relationships/notesMaster" Target="/ppt/notesMasters/notesMaster1.xml" Id="R6565d1e8326c495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9e536ce654f4c9b" /><Relationship Type="http://schemas.openxmlformats.org/officeDocument/2006/relationships/notesMaster" Target="/ppt/notesMasters/notesMaster1.xml" Id="R2a8ef69a9a3849e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14db9e6834448e2" /><Relationship Type="http://schemas.openxmlformats.org/officeDocument/2006/relationships/notesMaster" Target="/ppt/notesMasters/notesMaster1.xml" Id="R80f997ae532e480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83516b54ab94b9a" /><Relationship Type="http://schemas.openxmlformats.org/officeDocument/2006/relationships/notesMaster" Target="/ppt/notesMasters/notesMaster1.xml" Id="R83cb1abdbc18421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8ab666099314fa4" /><Relationship Type="http://schemas.openxmlformats.org/officeDocument/2006/relationships/notesMaster" Target="/ppt/notesMasters/notesMaster1.xml" Id="Rdc0b305dc749472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b49aefa81ad409e" /><Relationship Type="http://schemas.openxmlformats.org/officeDocument/2006/relationships/notesMaster" Target="/ppt/notesMasters/notesMaster1.xml" Id="Rb06ce6b78873429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25325ec80084ba9" /><Relationship Type="http://schemas.openxmlformats.org/officeDocument/2006/relationships/notesMaster" Target="/ppt/notesMasters/notesMaster1.xml" Id="R02f0f370a99948f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e792fe94d2e4a85" /><Relationship Type="http://schemas.openxmlformats.org/officeDocument/2006/relationships/notesMaster" Target="/ppt/notesMasters/notesMaster1.xml" Id="R42a2ecb504d843c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3b7a1cef80b46db" /><Relationship Type="http://schemas.openxmlformats.org/officeDocument/2006/relationships/notesMaster" Target="/ppt/notesMasters/notesMaster1.xml" Id="Ra524171dfdbf45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Tên đề tài đã đổi theo phạm vi 11 nhóm. Phải nói rõ đây là phân tích chuyển tiếp: checkpoint vẫn có 19 đầu 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Phạm vi nhãn gồm bệnh, sinh vật gây hại, cỏ dại và trạng thái bình thường; không gọi chung là 11 bệnh.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 lớp được chọn theo support, không chọn theo F1. Quyết định này xảy ra sau campaign 19 lớp nên phải ghi là thiết kế chuyển tiếp.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Bảng lấy trực tiếp từ split_counts trong JSON tái tính.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Quy trình này bảo thủ hơn việc loại 8 logit rồi renormalize vì mọi dự đoán ngoài 11 lớp đều là lỗi.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dùng số tham số dự kiến làm bằng chứng về latency hoặc bộ nhớ mobile.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quy chênh lệch F1 cho một block riêng lẻ nếu chưa ablation.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so sánh FLOPs vì campaign chưa lưu FLOPs thống nhất.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gọi ShuffleNet nhanh nhất khi chưa benchmark cùng runtime.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Giữ hồ sơ thực nghiệm đúng với log; không suy diễn cấu hình máy từ lời kể.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lấy từ train_backbone.py và final_evaluate_v2.py.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protocol đề xuất, chưa chạy.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tổng hợp vai trò của toàn bộ thước đo. Các slide 15–16 giải thích chi tiết metric và độ bất định; slide 20–24 trình bày kết quả từng lớp và bootstrap.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Protocol chính thức phải được khóa trước huấn luyện.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phương pháp chính thức:</a:t>
            </a:r>
          </a:p>
          <a:p xmlns:a="http://schemas.openxmlformats.org/drawingml/2006/main">
            <a:r>
              <a:t>https://scikit-learn.org/stable/modules/generated/sklearn.metrics.accuracy_score.html</a:t>
            </a:r>
          </a:p>
          <a:p xmlns:a="http://schemas.openxmlformats.org/drawingml/2006/main">
            <a:r>
              <a:t>https://scikit-learn.org/stable/modules/generated/sklearn.metrics.precision_score.html</a:t>
            </a:r>
          </a:p>
          <a:p xmlns:a="http://schemas.openxmlformats.org/drawingml/2006/main">
            <a:r>
              <a:t>https://scikit-learn.org/stable/modules/generated/sklearn.metrics.recall_score.html</a:t>
            </a:r>
          </a:p>
          <a:p xmlns:a="http://schemas.openxmlformats.org/drawingml/2006/main">
            <a:r>
              <a:t>https://scikit-learn.org/stable/modules/generated/sklearn.metrics.f1_score.html</a:t>
            </a:r>
          </a:p>
          <a:p xmlns:a="http://schemas.openxmlformats.org/drawingml/2006/main">
            <a:r>
              <a:t>Giá trị được tái tính từ 18 file test_predictions.csv trên 9.376 ảnh.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phương pháp:</a:t>
            </a:r>
          </a:p>
          <a:p xmlns:a="http://schemas.openxmlformats.org/drawingml/2006/main">
            <a:r>
              <a:t>NIST Measures of Scale: https://www.itl.nist.gov/div898/handbook/eda/section3/eda356.htm</a:t>
            </a:r>
          </a:p>
          <a:p xmlns:a="http://schemas.openxmlformats.org/drawingml/2006/main">
            <a:r>
              <a:t>Efron, B. 1979. Bootstrap Methods: Another Look at the Jackknife. DOI: https://doi.org/10.1214/aos/1176344552</a:t>
            </a:r>
          </a:p>
          <a:p xmlns:a="http://schemas.openxmlformats.org/drawingml/2006/main">
            <a:r>
              <a:t>scikit-learn resample: https://scikit-learn.org/stable/modules/generated/sklearn.utils.resample.html</a:t>
            </a:r>
          </a:p>
          <a:p xmlns:a="http://schemas.openxmlformats.org/drawingml/2006/main">
            <a:r>
              <a:t>Bootstrap giữ cặp dự đoán trên cùng 9.376 ảnh.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Bar chart dùng aggregate.macro_f1.mean trong JSON 11 lớp.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Mọi ô được đọc tự động từ aggregate trong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điểm là Macro-F1 từng seed sau lọc 11 true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Bảng per_class lấy từ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suy luận lớp khó chỉ từ support; cần xem ảnh và confusion matrix.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Bốn lớp được chọn để minh họa; bảng đầy đủ ở slide 20–21.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Bảng đối chiếu aggregate 19 lớp cũ với sensitivity 11 lớp.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hiệu chỉnh đa so sánh; đây không phải CI của mean qua ba seed.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Lựa chọn deployment cần latency/RAM/năng lượng, chưa chỉ Macro-F1.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dùng tham số để suy latency.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Chưa có inference benchmark cho 11-output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tách chất lượng sensitivity khỏi tài nguyên dự kiến.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 thể audit lại bằng script build_11class_transition_report.py.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chọn hoặc loại thêm lớp dựa vào F1 hiện tại.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Khi thuyết trình, nhắc câu cảnh báo trước khi đọc bảng kết quả.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f981ceabb14e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d13912176b4563" /><Relationship Type="http://schemas.openxmlformats.org/officeDocument/2006/relationships/slideLayout" Target="/ppt/slideLayouts/slideLayout1.xml" Id="R9786b71e6f7949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86b71e6f7949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7f91d9b934b81" /><Relationship Type="http://schemas.openxmlformats.org/officeDocument/2006/relationships/notesSlide" Target="/ppt/notesSlides/notesSlide1.xml" Id="Re8dd80c54a9549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30ae9e8394998" /><Relationship Type="http://schemas.openxmlformats.org/officeDocument/2006/relationships/notesSlide" Target="/ppt/notesSlides/notesSlide2.xml" Id="R7ef70c912d9146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da4c3ee154f4b" /><Relationship Type="http://schemas.openxmlformats.org/officeDocument/2006/relationships/notesSlide" Target="/ppt/notesSlides/notesSlide3.xml" Id="Rb76f670fd88a41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609d5dca84af1" /><Relationship Type="http://schemas.openxmlformats.org/officeDocument/2006/relationships/notesSlide" Target="/ppt/notesSlides/notesSlide4.xml" Id="R50da018333e64d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e66d0032d4048" /><Relationship Type="http://schemas.openxmlformats.org/officeDocument/2006/relationships/notesSlide" Target="/ppt/notesSlides/notesSlide5.xml" Id="R82c4c8f5d46844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b087acc434652" /><Relationship Type="http://schemas.openxmlformats.org/officeDocument/2006/relationships/notesSlide" Target="/ppt/notesSlides/notesSlide6.xml" Id="Ra168cab6797c42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026c38bb3497e" /><Relationship Type="http://schemas.openxmlformats.org/officeDocument/2006/relationships/notesSlide" Target="/ppt/notesSlides/notesSlide7.xml" Id="Raa68af9155c743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3823956aa45b8" /><Relationship Type="http://schemas.openxmlformats.org/officeDocument/2006/relationships/notesSlide" Target="/ppt/notesSlides/notesSlide8.xml" Id="R83a654278ccf47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1f3af4f6c46ca" /><Relationship Type="http://schemas.openxmlformats.org/officeDocument/2006/relationships/notesSlide" Target="/ppt/notesSlides/notesSlide9.xml" Id="R08d720e536054f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322fddc1a4f41" /><Relationship Type="http://schemas.openxmlformats.org/officeDocument/2006/relationships/notesSlide" Target="/ppt/notesSlides/notesSlide10.xml" Id="R8be10af734d143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78548de39450e" /><Relationship Type="http://schemas.openxmlformats.org/officeDocument/2006/relationships/notesSlide" Target="/ppt/notesSlides/notesSlide11.xml" Id="R082df55a100346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1fdac42c444f8" /><Relationship Type="http://schemas.openxmlformats.org/officeDocument/2006/relationships/notesSlide" Target="/ppt/notesSlides/notesSlide12.xml" Id="R889aee490a1247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040ba018f4b74" /><Relationship Type="http://schemas.openxmlformats.org/officeDocument/2006/relationships/notesSlide" Target="/ppt/notesSlides/notesSlide13.xml" Id="R8842b93f21e849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c795fa8384d3b" /><Relationship Type="http://schemas.openxmlformats.org/officeDocument/2006/relationships/notesSlide" Target="/ppt/notesSlides/notesSlide14.xml" Id="R3e70fe44df4f46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80339d9784a0a" /><Relationship Type="http://schemas.openxmlformats.org/officeDocument/2006/relationships/notesSlide" Target="/ppt/notesSlides/notesSlide15.xml" Id="R33382c955a914b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62f88e3db474d" /><Relationship Type="http://schemas.openxmlformats.org/officeDocument/2006/relationships/notesSlide" Target="/ppt/notesSlides/notesSlide16.xml" Id="R16843ef3277e4e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e1ff29cf64505" /><Relationship Type="http://schemas.openxmlformats.org/officeDocument/2006/relationships/notesSlide" Target="/ppt/notesSlides/notesSlide17.xml" Id="R25370b0e5cb144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05666ee244597" /><Relationship Type="http://schemas.openxmlformats.org/officeDocument/2006/relationships/notesSlide" Target="/ppt/notesSlides/notesSlide18.xml" Id="Rfdc3562f6ddd4a5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3d7d12c46409e" /><Relationship Type="http://schemas.openxmlformats.org/officeDocument/2006/relationships/notesSlide" Target="/ppt/notesSlides/notesSlide19.xml" Id="R587b3a54728e489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42fc8392d4eaa" /><Relationship Type="http://schemas.openxmlformats.org/officeDocument/2006/relationships/notesSlide" Target="/ppt/notesSlides/notesSlide20.xml" Id="R7c18189930f247f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df437c3d94d7f" /><Relationship Type="http://schemas.openxmlformats.org/officeDocument/2006/relationships/notesSlide" Target="/ppt/notesSlides/notesSlide21.xml" Id="Rab295a1b73c04ce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4049a80dd415b" /><Relationship Type="http://schemas.openxmlformats.org/officeDocument/2006/relationships/notesSlide" Target="/ppt/notesSlides/notesSlide22.xml" Id="R7f1315140b034dd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c84f6751544a3" /><Relationship Type="http://schemas.openxmlformats.org/officeDocument/2006/relationships/notesSlide" Target="/ppt/notesSlides/notesSlide23.xml" Id="R8d684420bbea46e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bd416a0cf4a18" /><Relationship Type="http://schemas.openxmlformats.org/officeDocument/2006/relationships/notesSlide" Target="/ppt/notesSlides/notesSlide24.xml" Id="R04ba8c10f12e4cb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8abbabe294382" /><Relationship Type="http://schemas.openxmlformats.org/officeDocument/2006/relationships/notesSlide" Target="/ppt/notesSlides/notesSlide25.xml" Id="R11dab58a40004cc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d98e9dd54493f" /><Relationship Type="http://schemas.openxmlformats.org/officeDocument/2006/relationships/notesSlide" Target="/ppt/notesSlides/notesSlide26.xml" Id="R0cc3274c40324f8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85c01e36c43b9" /><Relationship Type="http://schemas.openxmlformats.org/officeDocument/2006/relationships/notesSlide" Target="/ppt/notesSlides/notesSlide27.xml" Id="R8d53e8ec1c9b41f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ee4aaa1d14c85" /><Relationship Type="http://schemas.openxmlformats.org/officeDocument/2006/relationships/notesSlide" Target="/ppt/notesSlides/notesSlide28.xml" Id="Rfef52da6b8a748d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86a44f90a4283" /><Relationship Type="http://schemas.openxmlformats.org/officeDocument/2006/relationships/notesSlide" Target="/ppt/notesSlides/notesSlide29.xml" Id="R714f6d559671403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abafd917544aa" /><Relationship Type="http://schemas.openxmlformats.org/officeDocument/2006/relationships/notesSlide" Target="/ppt/notesSlides/notesSlide30.xml" Id="R6eb1d1663af348c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5500fda1c42c5" /><Relationship Type="http://schemas.openxmlformats.org/officeDocument/2006/relationships/notesSlide" Target="/ppt/notesSlides/notesSlide31.xml" Id="Rf2817139646843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5BF6EAE-5A1B-43E9-9DA1-E86E2F06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BÁO CÁO SƠ BỘ • RICEAI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88B9C1A-E172-4BE1-9A07-57C30A27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7620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01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So sánh sáu kiến trúc CNN trong nhận diện 11 nhóm bệnh, sinh vật gây hại và trạng thái cây lúa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AE5E883-AE28-4E1C-AE67-63A4955A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95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Phân tích chuyển tiếp từ campaign 19 lớp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Campaign 11 đầu ra chính thức chưa huấn luyện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D90BF6C-5333-4546-BB09-9D9C8CDE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stat">
            <a:extLst xmlns:a="http://schemas.openxmlformats.org/drawingml/2006/main">
              <a:ext uri="{FF2B5EF4-FFF2-40B4-BE49-F238E27FC236}">
                <a16:creationId xmlns:a16="http://schemas.microsoft.com/office/drawing/2014/main" id="{363EF12E-3908-420B-9BA8-22CE1407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4312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6 × 3</a:t>
            </a:r>
          </a:p>
        </p:txBody>
      </p:sp>
      <p:sp>
        <p:nvSpPr>
          <p:cNvPr id="6" name="cover-stat-label">
            <a:extLst xmlns:a="http://schemas.openxmlformats.org/drawingml/2006/main">
              <a:ext uri="{FF2B5EF4-FFF2-40B4-BE49-F238E27FC236}">
                <a16:creationId xmlns:a16="http://schemas.microsoft.com/office/drawing/2014/main" id="{B869B542-8D56-48EA-8B1D-09BC07F6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mô hình × lần train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E0A0B49F-CBDB-4B4C-AADC-59FFE4E9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531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Campaign V2 • Tập test khóa 9.829 ảnh</a:t>
            </a:r>
          </a:p>
        </p:txBody>
      </p:sp>
    </p:spTree>
    <p:extLst>
      <p:ext uri="{BB962C8B-B14F-4D97-AF65-F5344CB8AC3E}">
        <p14:creationId xmlns:p14="http://schemas.microsoft.com/office/powerpoint/2010/main" val="14198930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Câu hỏi nghiên cứu và phạm vi 11 nhóm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Mục tiêu hiện tại là kiểm tra độ bền của thứ hạng trước khi huấn luyện lại classifier 11 đầu ra.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Chất lượng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So sánh Accuracy, Macro-Precision, Macro-Recall và Macro-F1 trên 9.376 ảnh thuộc 11 lớp đủ support.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Độ ổn định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Mỗi backbone có ba checkpoint từ seed 42, 123 và 2026; báo cáo từng seed, mean và sample SD.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Tính trung thực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Dự đoán rơi vào 8 nhãn bị loại vẫn tính sai; không renormalize xác suất và không gọi đây là mô hình 11 lớp đã train.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Đây là phân tích độ nhạy để thiết kế campaign mới, không phải kết quả cuối của bài báo 11 lớp.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3">
            <a:extLst xmlns:a="http://schemas.openxmlformats.org/drawingml/2006/main">
              <a:ext uri="{FF2B5EF4-FFF2-40B4-BE49-F238E27FC236}">
                <a16:creationId xmlns:a16="http://schemas.microsoft.com/office/drawing/2014/main" id="{555035D6-8F19-43AF-B330-CE8BF609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Từ 65.516 ảnh đến phạm vi 11 lớp</a:t>
            </a:r>
          </a:p>
        </p:txBody>
      </p:sp>
      <p:sp>
        <p:nvSpPr>
          <p:cNvPr id="2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AC9E859D-C866-4ADC-B505-E802B609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3">
            <a:extLst xmlns:a="http://schemas.openxmlformats.org/drawingml/2006/main">
              <a:ext uri="{FF2B5EF4-FFF2-40B4-BE49-F238E27FC236}">
                <a16:creationId xmlns:a16="http://schemas.microsoft.com/office/drawing/2014/main" id="{BE82A00E-6ED9-48B3-BE84-16DC734C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split-0">
            <a:extLst xmlns:a="http://schemas.openxmlformats.org/drawingml/2006/main">
              <a:ext uri="{FF2B5EF4-FFF2-40B4-BE49-F238E27FC236}">
                <a16:creationId xmlns:a16="http://schemas.microsoft.com/office/drawing/2014/main" id="{A24EDE7E-80F4-4E84-9EA4-8C8FFD44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plit-num-0">
            <a:extLst xmlns:a="http://schemas.openxmlformats.org/drawingml/2006/main">
              <a:ext uri="{FF2B5EF4-FFF2-40B4-BE49-F238E27FC236}">
                <a16:creationId xmlns:a16="http://schemas.microsoft.com/office/drawing/2014/main" id="{178A4369-AE8C-412E-B264-0F2B6303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57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45.858</a:t>
            </a:r>
          </a:p>
        </p:txBody>
      </p:sp>
      <p:sp>
        <p:nvSpPr>
          <p:cNvPr id="6" name="split-name-0">
            <a:extLst xmlns:a="http://schemas.openxmlformats.org/drawingml/2006/main">
              <a:ext uri="{FF2B5EF4-FFF2-40B4-BE49-F238E27FC236}">
                <a16:creationId xmlns:a16="http://schemas.microsoft.com/office/drawing/2014/main" id="{D7117894-4999-45DF-BC16-A3975A4C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7" name="split-pct-0">
            <a:extLst xmlns:a="http://schemas.openxmlformats.org/drawingml/2006/main">
              <a:ext uri="{FF2B5EF4-FFF2-40B4-BE49-F238E27FC236}">
                <a16:creationId xmlns:a16="http://schemas.microsoft.com/office/drawing/2014/main" id="{0D2DB7B7-5A39-49DD-8170-3A3F8897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Học từ ảnh</a:t>
            </a:r>
          </a:p>
        </p:txBody>
      </p:sp>
      <p:sp>
        <p:nvSpPr>
          <p:cNvPr id="8" name="split-1">
            <a:extLst xmlns:a="http://schemas.openxmlformats.org/drawingml/2006/main">
              <a:ext uri="{FF2B5EF4-FFF2-40B4-BE49-F238E27FC236}">
                <a16:creationId xmlns:a16="http://schemas.microsoft.com/office/drawing/2014/main" id="{BD6FD7A2-6B75-4645-A9B2-1BB450E3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24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plit-num-1">
            <a:extLst xmlns:a="http://schemas.openxmlformats.org/drawingml/2006/main">
              <a:ext uri="{FF2B5EF4-FFF2-40B4-BE49-F238E27FC236}">
                <a16:creationId xmlns:a16="http://schemas.microsoft.com/office/drawing/2014/main" id="{C99F28A5-C9C2-484D-B5FC-01292FCA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57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9.829</a:t>
            </a:r>
          </a:p>
        </p:txBody>
      </p:sp>
      <p:sp>
        <p:nvSpPr>
          <p:cNvPr id="10" name="split-name-1">
            <a:extLst xmlns:a="http://schemas.openxmlformats.org/drawingml/2006/main">
              <a:ext uri="{FF2B5EF4-FFF2-40B4-BE49-F238E27FC236}">
                <a16:creationId xmlns:a16="http://schemas.microsoft.com/office/drawing/2014/main" id="{49BB4F87-A31A-4DBB-A3DE-D2C18D27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1" name="split-pct-1">
            <a:extLst xmlns:a="http://schemas.openxmlformats.org/drawingml/2006/main">
              <a:ext uri="{FF2B5EF4-FFF2-40B4-BE49-F238E27FC236}">
                <a16:creationId xmlns:a16="http://schemas.microsoft.com/office/drawing/2014/main" id="{BC79830A-FA89-4D77-9705-730CAC4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813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Chọn checkpoint tốt nhất</a:t>
            </a:r>
          </a:p>
        </p:txBody>
      </p:sp>
      <p:sp>
        <p:nvSpPr>
          <p:cNvPr id="12" name="split-2">
            <a:extLst xmlns:a="http://schemas.openxmlformats.org/drawingml/2006/main">
              <a:ext uri="{FF2B5EF4-FFF2-40B4-BE49-F238E27FC236}">
                <a16:creationId xmlns:a16="http://schemas.microsoft.com/office/drawing/2014/main" id="{3EE194D7-0154-42E5-B058-3A2C0F9C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24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plit-num-2">
            <a:extLst xmlns:a="http://schemas.openxmlformats.org/drawingml/2006/main">
              <a:ext uri="{FF2B5EF4-FFF2-40B4-BE49-F238E27FC236}">
                <a16:creationId xmlns:a16="http://schemas.microsoft.com/office/drawing/2014/main" id="{445678F7-E8C7-4FB1-B73A-FDB62860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57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9.829</a:t>
            </a:r>
          </a:p>
        </p:txBody>
      </p:sp>
      <p:sp>
        <p:nvSpPr>
          <p:cNvPr id="14" name="split-name-2">
            <a:extLst xmlns:a="http://schemas.openxmlformats.org/drawingml/2006/main">
              <a:ext uri="{FF2B5EF4-FFF2-40B4-BE49-F238E27FC236}">
                <a16:creationId xmlns:a16="http://schemas.microsoft.com/office/drawing/2014/main" id="{6B341295-5A40-4AA5-89A8-C5DF2962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5" name="split-pct-2">
            <a:extLst xmlns:a="http://schemas.openxmlformats.org/drawingml/2006/main">
              <a:ext uri="{FF2B5EF4-FFF2-40B4-BE49-F238E27FC236}">
                <a16:creationId xmlns:a16="http://schemas.microsoft.com/office/drawing/2014/main" id="{754799DF-0144-4B96-B80F-FDFA1D4F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813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Đánh giá cuối cùng</a:t>
            </a:r>
          </a:p>
        </p:txBody>
      </p:sp>
      <p:sp>
        <p:nvSpPr>
          <p:cNvPr id="16" name="data-notes">
            <a:extLst xmlns:a="http://schemas.openxmlformats.org/drawingml/2006/main">
              <a:ext uri="{FF2B5EF4-FFF2-40B4-BE49-F238E27FC236}">
                <a16:creationId xmlns:a16="http://schemas.microsoft.com/office/drawing/2014/main" id="{855B28A4-9D28-452F-82A2-5807C26B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67125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Split V2 khóa: train 45.858 • validation 9.829 • test 9.829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Quy tắc hậu kiểm: giữ lớp có support test ≥ 100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11 lớp giữ lại: 9.376 ảnh test; 8 lớp tạm loại: 453 ảnh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Không xóa dữ liệu gốc, không sửa checkpoint hay CSV dự đoán</a:t>
            </a:r>
          </a:p>
        </p:txBody>
      </p:sp>
      <p:sp>
        <p:nvSpPr>
          <p:cNvPr id="17" name="data-caveat">
            <a:extLst xmlns:a="http://schemas.openxmlformats.org/drawingml/2006/main">
              <a:ext uri="{FF2B5EF4-FFF2-40B4-BE49-F238E27FC236}">
                <a16:creationId xmlns:a16="http://schemas.microsoft.com/office/drawing/2014/main" id="{241A7699-B643-4D1A-B80F-4079F65C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3762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ata-caveat-title">
            <a:extLst xmlns:a="http://schemas.openxmlformats.org/drawingml/2006/main">
              <a:ext uri="{FF2B5EF4-FFF2-40B4-BE49-F238E27FC236}">
                <a16:creationId xmlns:a16="http://schemas.microsoft.com/office/drawing/2014/main" id="{95F4477B-B71B-4659-88A8-A6B31F0D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10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Giới hạn quan trọng</a:t>
            </a:r>
          </a:p>
        </p:txBody>
      </p:sp>
      <p:sp>
        <p:nvSpPr>
          <p:cNvPr id="19" name="data-caveat-body">
            <a:extLst xmlns:a="http://schemas.openxmlformats.org/drawingml/2006/main">
              <a:ext uri="{FF2B5EF4-FFF2-40B4-BE49-F238E27FC236}">
                <a16:creationId xmlns:a16="http://schemas.microsoft.com/office/drawing/2014/main" id="{0D3795B5-3CE6-4690-8D76-73900092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196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Chưa tách theo cây, ruộng hoặc phiên chụp. Đây là test nội bộ.</a:t>
            </a:r>
          </a:p>
        </p:txBody>
      </p:sp>
    </p:spTree>
    <p:extLst>
      <p:ext uri="{BB962C8B-B14F-4D97-AF65-F5344CB8AC3E}">
        <p14:creationId xmlns:p14="http://schemas.microsoft.com/office/powerpoint/2010/main" val="385806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Mười một lớp được giữ theo ngưỡng support test ≥ 100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Tổng test: 9.376 ảnh. Hai lớp lớn nhất: sâu đục thân 2.973 và rầy nâu 2.786 ảnh.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Nhóm nhỏ nhất còn giữ: ốc bươu vàng 122 ảnh; dữ liệu vẫn mất cân bằng.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257300"/>
          <a:ext xmlns:a="http://schemas.openxmlformats.org/drawingml/2006/main" cx="1095375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857375"/>
                <a:gridCol w="1857375"/>
                <a:gridCol w="1857375"/>
                <a:gridCol w="2047875"/>
              </a:tblGrid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Tổng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Bạc lá vi khuẩn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1260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1800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Đạo ôn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1172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251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251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1674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Rầy nâu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13001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2786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2786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18573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Đốm nâu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1540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Dảnh héo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215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215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1434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Ốc bươu vàng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566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cuốn lá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8232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1764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1764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11760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Bình thường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1756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đục thân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13875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2973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2973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19821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Tungro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759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1085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Cỏ dại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1114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239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239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1592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-5">
            <a:extLst xmlns:a="http://schemas.openxmlformats.org/drawingml/2006/main">
              <a:ext uri="{FF2B5EF4-FFF2-40B4-BE49-F238E27FC236}">
                <a16:creationId xmlns:a16="http://schemas.microsoft.com/office/drawing/2014/main" id="{826D2D10-15D5-452D-B731-5EBF6E7A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Luồng tái tính: giữ nguyên dự đoán 19 đầu ra</a:t>
            </a:r>
          </a:p>
        </p:txBody>
      </p:sp>
      <p:sp>
        <p:nvSpPr>
          <p:cNvPr id="2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095EAF37-935E-4FB6-9C76-4FA2BAF9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524D11A2-9F59-4EE5-BBD3-E439F06C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flow-line-0">
            <a:extLst xmlns:a="http://schemas.openxmlformats.org/drawingml/2006/main">
              <a:ext uri="{FF2B5EF4-FFF2-40B4-BE49-F238E27FC236}">
                <a16:creationId xmlns:a16="http://schemas.microsoft.com/office/drawing/2014/main" id="{197F315F-B670-4E8E-985B-B7D695D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line-1">
            <a:extLst xmlns:a="http://schemas.openxmlformats.org/drawingml/2006/main">
              <a:ext uri="{FF2B5EF4-FFF2-40B4-BE49-F238E27FC236}">
                <a16:creationId xmlns:a16="http://schemas.microsoft.com/office/drawing/2014/main" id="{9955E7A9-4ABE-4C71-8EF7-7CFFC467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line-2">
            <a:extLst xmlns:a="http://schemas.openxmlformats.org/drawingml/2006/main">
              <a:ext uri="{FF2B5EF4-FFF2-40B4-BE49-F238E27FC236}">
                <a16:creationId xmlns:a16="http://schemas.microsoft.com/office/drawing/2014/main" id="{850E141A-735C-4773-9423-A37A3F03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line-3">
            <a:extLst xmlns:a="http://schemas.openxmlformats.org/drawingml/2006/main">
              <a:ext uri="{FF2B5EF4-FFF2-40B4-BE49-F238E27FC236}">
                <a16:creationId xmlns:a16="http://schemas.microsoft.com/office/drawing/2014/main" id="{7E862339-4B30-45C6-9078-DFA0A718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node-0">
            <a:extLst xmlns:a="http://schemas.openxmlformats.org/drawingml/2006/main">
              <a:ext uri="{FF2B5EF4-FFF2-40B4-BE49-F238E27FC236}">
                <a16:creationId xmlns:a16="http://schemas.microsoft.com/office/drawing/2014/main" id="{E8451528-C4BB-434E-9812-B76DF08B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num-0">
            <a:extLst xmlns:a="http://schemas.openxmlformats.org/drawingml/2006/main">
              <a:ext uri="{FF2B5EF4-FFF2-40B4-BE49-F238E27FC236}">
                <a16:creationId xmlns:a16="http://schemas.microsoft.com/office/drawing/2014/main" id="{9C30586C-E89B-491C-B61A-70ED2077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6912F287-618A-4139-A66E-CC513133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LỌC NHÃN THẬT</a:t>
            </a:r>
          </a:p>
        </p:txBody>
      </p:sp>
      <p:sp>
        <p:nvSpPr>
          <p:cNvPr id="11" name="flow-body-0">
            <a:extLst xmlns:a="http://schemas.openxmlformats.org/drawingml/2006/main">
              <a:ext uri="{FF2B5EF4-FFF2-40B4-BE49-F238E27FC236}">
                <a16:creationId xmlns:a16="http://schemas.microsoft.com/office/drawing/2014/main" id="{C7A906C4-ABB5-434D-B9BD-154A4B67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Chỉ giữ hàng test có true_label thuộc 11 lớp.</a:t>
            </a:r>
          </a:p>
        </p:txBody>
      </p:sp>
      <p:sp>
        <p:nvSpPr>
          <p:cNvPr id="12" name="flow-node-1">
            <a:extLst xmlns:a="http://schemas.openxmlformats.org/drawingml/2006/main">
              <a:ext uri="{FF2B5EF4-FFF2-40B4-BE49-F238E27FC236}">
                <a16:creationId xmlns:a16="http://schemas.microsoft.com/office/drawing/2014/main" id="{E2092F7E-8E8E-4FE5-AD6D-5B8F853C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ow-num-1">
            <a:extLst xmlns:a="http://schemas.openxmlformats.org/drawingml/2006/main">
              <a:ext uri="{FF2B5EF4-FFF2-40B4-BE49-F238E27FC236}">
                <a16:creationId xmlns:a16="http://schemas.microsoft.com/office/drawing/2014/main" id="{43D33EC6-CD2E-4EDE-9442-B91E6805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500E1CE1-7DE6-4DC5-863A-5B3DA66E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GIỮ DỰ ĐOÁN</a:t>
            </a:r>
          </a:p>
        </p:txBody>
      </p:sp>
      <p:sp>
        <p:nvSpPr>
          <p:cNvPr id="15" name="flow-body-1">
            <a:extLst xmlns:a="http://schemas.openxmlformats.org/drawingml/2006/main">
              <a:ext uri="{FF2B5EF4-FFF2-40B4-BE49-F238E27FC236}">
                <a16:creationId xmlns:a16="http://schemas.microsoft.com/office/drawing/2014/main" id="{A5397EFE-07CC-4C3C-B1B1-8A49EEBA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Không ép predicted_label vào 11 lớp; dự đoán sang lớp loại = sai.</a:t>
            </a:r>
          </a:p>
        </p:txBody>
      </p:sp>
      <p:sp>
        <p:nvSpPr>
          <p:cNvPr id="16" name="flow-node-2">
            <a:extLst xmlns:a="http://schemas.openxmlformats.org/drawingml/2006/main">
              <a:ext uri="{FF2B5EF4-FFF2-40B4-BE49-F238E27FC236}">
                <a16:creationId xmlns:a16="http://schemas.microsoft.com/office/drawing/2014/main" id="{F2A7B1F3-D503-4BFE-A28E-DB9F1362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low-num-2">
            <a:extLst xmlns:a="http://schemas.openxmlformats.org/drawingml/2006/main">
              <a:ext uri="{FF2B5EF4-FFF2-40B4-BE49-F238E27FC236}">
                <a16:creationId xmlns:a16="http://schemas.microsoft.com/office/drawing/2014/main" id="{CBBB98E1-4640-43AD-BB6C-11FFAE22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4A899F44-C1DE-4FC8-AA74-3C0CF3A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TÍNH LẠI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A7A68D0E-8FFE-46AC-BF05-E0EA45E6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Accuracy, Macro-P/R/F1 cho 11 nhãn.</a:t>
            </a:r>
          </a:p>
        </p:txBody>
      </p:sp>
      <p:sp>
        <p:nvSpPr>
          <p:cNvPr id="20" name="flow-node-3">
            <a:extLst xmlns:a="http://schemas.openxmlformats.org/drawingml/2006/main">
              <a:ext uri="{FF2B5EF4-FFF2-40B4-BE49-F238E27FC236}">
                <a16:creationId xmlns:a16="http://schemas.microsoft.com/office/drawing/2014/main" id="{D6D607B9-3475-41F0-8D41-C5FD9664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ow-num-3">
            <a:extLst xmlns:a="http://schemas.openxmlformats.org/drawingml/2006/main">
              <a:ext uri="{FF2B5EF4-FFF2-40B4-BE49-F238E27FC236}">
                <a16:creationId xmlns:a16="http://schemas.microsoft.com/office/drawing/2014/main" id="{675031EE-2B60-4BC7-B621-4A4E1393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78AF04A5-BE93-4402-B212-75FB4EAB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GỘP 3 SEED</a:t>
            </a:r>
          </a:p>
        </p:txBody>
      </p:sp>
      <p:sp>
        <p:nvSpPr>
          <p:cNvPr id="23" name="flow-body-3">
            <a:extLst xmlns:a="http://schemas.openxmlformats.org/drawingml/2006/main">
              <a:ext uri="{FF2B5EF4-FFF2-40B4-BE49-F238E27FC236}">
                <a16:creationId xmlns:a16="http://schemas.microsoft.com/office/drawing/2014/main" id="{8F73A9D0-19E3-4398-8BC7-11F26BA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5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Mean, sample SD và paired bootstrap 2.000 mẫu.</a:t>
            </a:r>
          </a:p>
        </p:txBody>
      </p:sp>
      <p:sp>
        <p:nvSpPr>
          <p:cNvPr id="24" name="flow-node-4">
            <a:extLst xmlns:a="http://schemas.openxmlformats.org/drawingml/2006/main">
              <a:ext uri="{FF2B5EF4-FFF2-40B4-BE49-F238E27FC236}">
                <a16:creationId xmlns:a16="http://schemas.microsoft.com/office/drawing/2014/main" id="{03774E36-FED8-42F1-A131-8EE4857C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low-num-4">
            <a:extLst xmlns:a="http://schemas.openxmlformats.org/drawingml/2006/main">
              <a:ext uri="{FF2B5EF4-FFF2-40B4-BE49-F238E27FC236}">
                <a16:creationId xmlns:a16="http://schemas.microsoft.com/office/drawing/2014/main" id="{E219C0E6-8470-42D2-87C3-2DF72FC8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F3C4AE49-A0C5-4269-88D8-47A60EFE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ĐỊNH HƯỚNG</a:t>
            </a:r>
          </a:p>
        </p:txBody>
      </p:sp>
      <p:sp>
        <p:nvSpPr>
          <p:cNvPr id="27" name="flow-body-4">
            <a:extLst xmlns:a="http://schemas.openxmlformats.org/drawingml/2006/main">
              <a:ext uri="{FF2B5EF4-FFF2-40B4-BE49-F238E27FC236}">
                <a16:creationId xmlns:a16="http://schemas.microsoft.com/office/drawing/2014/main" id="{49176CD5-1EFF-4267-B888-4F99A2C1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Chốt protocol để train lại classifier 11 đầu ra.</a:t>
            </a:r>
          </a:p>
        </p:txBody>
      </p:sp>
      <p:sp>
        <p:nvSpPr>
          <p:cNvPr id="28" name="protocol-config">
            <a:extLst xmlns:a="http://schemas.openxmlformats.org/drawingml/2006/main">
              <a:ext uri="{FF2B5EF4-FFF2-40B4-BE49-F238E27FC236}">
                <a16:creationId xmlns:a16="http://schemas.microsoft.com/office/drawing/2014/main" id="{704DADBD-8717-44B3-9670-A4C2C098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339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Nguồn: 18 file test_predictions.csv của campaign V2 (6 mô hình × 3 seed).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Không sửa checkpoint, run manifest, history hoặc file dự đoán gốc.</a:t>
            </a:r>
          </a:p>
        </p:txBody>
      </p:sp>
      <p:sp>
        <p:nvSpPr>
          <p:cNvPr id="29" name="protocol-rule">
            <a:extLst xmlns:a="http://schemas.openxmlformats.org/drawingml/2006/main">
              <a:ext uri="{FF2B5EF4-FFF2-40B4-BE49-F238E27FC236}">
                <a16:creationId xmlns:a16="http://schemas.microsoft.com/office/drawing/2014/main" id="{8E156611-7A19-42D2-AA64-9D43A123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72125"/>
            <a:ext cx="762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rotocol-lock">
            <a:extLst xmlns:a="http://schemas.openxmlformats.org/drawingml/2006/main">
              <a:ext uri="{FF2B5EF4-FFF2-40B4-BE49-F238E27FC236}">
                <a16:creationId xmlns:a16="http://schemas.microsoft.com/office/drawing/2014/main" id="{69B59003-1EEC-4F08-846A-B7DEC729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721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Kết quả dưới đây là sensitivity analysis, không phải test của mô hình 11 đầu ra.</a:t>
            </a:r>
          </a:p>
        </p:txBody>
      </p:sp>
    </p:spTree>
    <p:extLst>
      <p:ext uri="{BB962C8B-B14F-4D97-AF65-F5344CB8AC3E}">
        <p14:creationId xmlns:p14="http://schemas.microsoft.com/office/powerpoint/2010/main" val="11386662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Sáu backbone giữ nguyên; đầu 11 lớp mới chỉ là dự kiến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*Số tham số dự kiến = backbone hiện tại + classifier 11 đầu ra; chưa có checkpoint 11 lớp.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Thứ tự mô hình và pretrained recipe giữ nguyên để campaign mới so sánh công bằng.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857750"/>
                <a:gridCol w="2952750"/>
              </a:tblGrid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Cấu trúc chính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Tham số đầu 11 lớp*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MBConv + SE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4,022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Inverted residual + SE + h-swish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4,216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Residual basic blocks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11,182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 connectivity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6,965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Inverted residual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2,238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Channel split + shuffle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1,265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 và MobileNetV3-Large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mạng hướng mobile nhưng V3-Large lớn hơn và có SE/hard-swish.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Inverted residual: mở rộng → depthwise → chiếu tuyến tính; đầu 11 lớp dự kiến 2,238 triệu tham số.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MobileNetV3-Large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Inverted residual kết hợp SE và hard-swish; đầu 11 lớp dự kiến 4,216 triệu tham số.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Vai trò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V2 là baseline nhẹ; V3-Large là ứng viên mobile chính. Chưa benchmark latency/pin trên cùng điện thoại.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Chất lượng chuyển tiếp V3 cao hơn V2, nhưng deployment vẫn phải đo trên thiết bị thật.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 và DenseNet-121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baseline cổ điển đối chiếu shortcut cộng và kết nối đặc trưng dày.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Residual shortcut hỗ trợ dòng gradient; đầu 11 lớp dự kiến 11,182 triệu tham số, lớn nhất nhóm.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Nối đặc trưng từ nhiều lớp trước; đầu 11 lớp dự kiến 6,965 triệu tham số.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Vai trò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Kiểm tra liệu backbone nhiều tham số hoặc tái sử dụng đặc trưng có vượt các mạng mobile hay không.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Trong phân tích chuyển tiếp, quy mô tham số không quyết định thứ hạng Macro-F1.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 và ShuffleNet V2 1.0×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cực của bài toán chất lượng–độ gọn.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MBConv + SE; đầu 11 lớp dự kiến 4,022 triệu tham số và hiện dẫn đầu Macro-F1 chuyển tiếp.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Channel split và channel shuffle; đầu 11 lớp dự kiến 1,265 triệu tham số, nhỏ nhất nhóm.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Câu hỏi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Mô hình nhỏ nhất có giữ được chất lượng đủ dùng không? Kết quả hiện tại cho thấy khoảng cách còn lớn.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Mạng gọn chỉ có ý nghĩa triển khai khi chất lượng, latency, RAM và năng lượng đều được đo.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Môi trường và bằng chứng tái lập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Tên GPU không được dùng làm biến giải thích kết quả trong bản 11 lớp.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Campaign 11 lớp sau này phải ghi tự động GPU, driver, CUDA, VRAM và thời gian từng run.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20000"/>
              </a:tblGrid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Hạng mục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Thông tin có bằng chứng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Framework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Python 3.11.9 • PyTorch 2.2.1+cu121 • TorchVision 0.17.1+cu121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Nền tảng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Windows • CUDA; run manifest không lưu tên model GPU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Seed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42, 123, 2026; khóa Python / NumPy / Torch / CUDA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Chế độ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Deterministic algorithms; tắt cuDNN benchmark và TF32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Dữ liệu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Split/manifest khóa SHA-256; cùng danh sách ảnh cho mọi run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Lưu ý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Không đổi tên GPU thành phần cứng không được log trong run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Tiền xử lý phải giữ nguyên khi train lại 11 lớp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Thay số đầu ra, không đổi pipeline để bảo đảm phép so sánh còn cùng điều kiện.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Chuẩn hóa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RGB → resize 224×224 bilinear, antialias → tensor [0,1] → ImageNet mean/std.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Lật ngang, xoay, dịch, scale và color jitter theo recipe V2; class weights chỉ tính từ train.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Val / test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Chỉ resize và chuẩn hóa; không TTA, không augmentation ngẫu nhiên và không shuffle test.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Nếu đổi augmentation hoặc resolution, phải coi là campaign khác và không trộn với bảng hiện tại.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Protocol train 11 lớp đề xuất: giữ nguyên ngân sách V2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Chọn best checkpoint theo validation Macro-F1; test chỉ mở sau khi đủ 18 run.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Tính lại class weight trên 11 lớp train; khóa manifest mới và SHA-256 trước khi chạy.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905250"/>
                <a:gridCol w="3905250"/>
              </a:tblGrid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Thiết lập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Head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Fine-tune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Số đầu ra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Epoch tối đa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Optimizer / LR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Adam / 10⁻³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Adam / 10⁻⁵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Batch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Loss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Weighted cross-entropy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Weighted cross-entropy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Điều khiển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Early stop 5; Reduce LR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Early stop 5; Reduce LR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Khung tiêu chí so sánh sáu mô hình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Quy tắc đọc: xếp hạng bằng Macro-F1 mean. Nếu điểm gần nhau, đọc thêm SD và bootstrap.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Không chọn mô hình triển khai chỉ từ Accuracy hoặc số tham số.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219200"/>
          <a:ext xmlns:a="http://schemas.openxmlformats.org/drawingml/2006/main" cx="1095375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000375"/>
                <a:gridCol w="5238750"/>
              </a:tblGrid>
              <a:tr h="564356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Thước đo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Cách sử dụng trong kết luận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64356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Xếp hạng chất lượng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Macro-F1 mean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Tiêu chí chính. Mỗi lớp có trọng số ngang nhau dù số ảnh khác nhau.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64356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Kiểm tra độ đúng chung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Accuracy mean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Chỉ số bổ sung. Không dùng riêng vì các lớp lớn có thể chi phối kết quả.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Giải thích kiểu sai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Macro-Precision và Macro-Recall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Precision phản ánh dự đoán nhầm vào lớp. Recall phản ánh ảnh thật bị bỏ sót.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64356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Độ ổn định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Sample SD qua ba seed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SD nhỏ cho thấy metric ít dao động hơn khi huấn luyện lại.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Chất lượng từng lớp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F1 lớp kèm support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Xác định lớp yếu và kiểm tra điểm tổng thể có che khuất lớp khó hay không.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64356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Độ chắc chắn của chênh lệch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Paired bootstrap 95% CI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So sánh chênh lệch Macro-F1 trên cùng ảnh. CI chứa 0 nghĩa là chưa tách biệt rõ.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Khả năng triển khai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Tham số, sau đó latency, RAM và năng lượng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Tham số chỉ phản ánh quy mô. Quyết định mobile cần phép đo trên cùng thiết bị.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-5">
            <a:extLst xmlns:a="http://schemas.openxmlformats.org/drawingml/2006/main">
              <a:ext uri="{FF2B5EF4-FFF2-40B4-BE49-F238E27FC236}">
                <a16:creationId xmlns:a16="http://schemas.microsoft.com/office/drawing/2014/main" id="{826D2D10-15D5-452D-B731-5EBF6E7A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Đánh giá 11 lớp sau khi train lại</a:t>
            </a:r>
          </a:p>
        </p:txBody>
      </p:sp>
      <p:sp>
        <p:nvSpPr>
          <p:cNvPr id="2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095EAF37-935E-4FB6-9C76-4FA2BAF9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524D11A2-9F59-4EE5-BBD3-E439F06C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flow-line-0">
            <a:extLst xmlns:a="http://schemas.openxmlformats.org/drawingml/2006/main">
              <a:ext uri="{FF2B5EF4-FFF2-40B4-BE49-F238E27FC236}">
                <a16:creationId xmlns:a16="http://schemas.microsoft.com/office/drawing/2014/main" id="{197F315F-B670-4E8E-985B-B7D695D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line-1">
            <a:extLst xmlns:a="http://schemas.openxmlformats.org/drawingml/2006/main">
              <a:ext uri="{FF2B5EF4-FFF2-40B4-BE49-F238E27FC236}">
                <a16:creationId xmlns:a16="http://schemas.microsoft.com/office/drawing/2014/main" id="{9955E7A9-4ABE-4C71-8EF7-7CFFC467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line-2">
            <a:extLst xmlns:a="http://schemas.openxmlformats.org/drawingml/2006/main">
              <a:ext uri="{FF2B5EF4-FFF2-40B4-BE49-F238E27FC236}">
                <a16:creationId xmlns:a16="http://schemas.microsoft.com/office/drawing/2014/main" id="{850E141A-735C-4773-9423-A37A3F03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line-3">
            <a:extLst xmlns:a="http://schemas.openxmlformats.org/drawingml/2006/main">
              <a:ext uri="{FF2B5EF4-FFF2-40B4-BE49-F238E27FC236}">
                <a16:creationId xmlns:a16="http://schemas.microsoft.com/office/drawing/2014/main" id="{7E862339-4B30-45C6-9078-DFA0A718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node-0">
            <a:extLst xmlns:a="http://schemas.openxmlformats.org/drawingml/2006/main">
              <a:ext uri="{FF2B5EF4-FFF2-40B4-BE49-F238E27FC236}">
                <a16:creationId xmlns:a16="http://schemas.microsoft.com/office/drawing/2014/main" id="{E8451528-C4BB-434E-9812-B76DF08B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num-0">
            <a:extLst xmlns:a="http://schemas.openxmlformats.org/drawingml/2006/main">
              <a:ext uri="{FF2B5EF4-FFF2-40B4-BE49-F238E27FC236}">
                <a16:creationId xmlns:a16="http://schemas.microsoft.com/office/drawing/2014/main" id="{9C30586C-E89B-491C-B61A-70ED2077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6912F287-618A-4139-A66E-CC513133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KHÓA MANIFEST</a:t>
            </a:r>
          </a:p>
        </p:txBody>
      </p:sp>
      <p:sp>
        <p:nvSpPr>
          <p:cNvPr id="11" name="flow-body-0">
            <a:extLst xmlns:a="http://schemas.openxmlformats.org/drawingml/2006/main">
              <a:ext uri="{FF2B5EF4-FFF2-40B4-BE49-F238E27FC236}">
                <a16:creationId xmlns:a16="http://schemas.microsoft.com/office/drawing/2014/main" id="{C7A906C4-ABB5-434D-B9BD-154A4B67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 lớp; SHA-256; cố định split.</a:t>
            </a:r>
          </a:p>
        </p:txBody>
      </p:sp>
      <p:sp>
        <p:nvSpPr>
          <p:cNvPr id="12" name="flow-node-1">
            <a:extLst xmlns:a="http://schemas.openxmlformats.org/drawingml/2006/main">
              <a:ext uri="{FF2B5EF4-FFF2-40B4-BE49-F238E27FC236}">
                <a16:creationId xmlns:a16="http://schemas.microsoft.com/office/drawing/2014/main" id="{E2092F7E-8E8E-4FE5-AD6D-5B8F853C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ow-num-1">
            <a:extLst xmlns:a="http://schemas.openxmlformats.org/drawingml/2006/main">
              <a:ext uri="{FF2B5EF4-FFF2-40B4-BE49-F238E27FC236}">
                <a16:creationId xmlns:a16="http://schemas.microsoft.com/office/drawing/2014/main" id="{43D33EC6-CD2E-4EDE-9442-B91E6805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500E1CE1-7DE6-4DC5-863A-5B3DA66E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TRAIN 18 RUN</a:t>
            </a:r>
          </a:p>
        </p:txBody>
      </p:sp>
      <p:sp>
        <p:nvSpPr>
          <p:cNvPr id="15" name="flow-body-1">
            <a:extLst xmlns:a="http://schemas.openxmlformats.org/drawingml/2006/main">
              <a:ext uri="{FF2B5EF4-FFF2-40B4-BE49-F238E27FC236}">
                <a16:creationId xmlns:a16="http://schemas.microsoft.com/office/drawing/2014/main" id="{A5397EFE-07CC-4C3C-B1B1-8A49EEBA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6 backbone × 3 seed; cùng recipe.</a:t>
            </a:r>
          </a:p>
        </p:txBody>
      </p:sp>
      <p:sp>
        <p:nvSpPr>
          <p:cNvPr id="16" name="flow-node-2">
            <a:extLst xmlns:a="http://schemas.openxmlformats.org/drawingml/2006/main">
              <a:ext uri="{FF2B5EF4-FFF2-40B4-BE49-F238E27FC236}">
                <a16:creationId xmlns:a16="http://schemas.microsoft.com/office/drawing/2014/main" id="{F2A7B1F3-D503-4BFE-A28E-DB9F1362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low-num-2">
            <a:extLst xmlns:a="http://schemas.openxmlformats.org/drawingml/2006/main">
              <a:ext uri="{FF2B5EF4-FFF2-40B4-BE49-F238E27FC236}">
                <a16:creationId xmlns:a16="http://schemas.microsoft.com/office/drawing/2014/main" id="{CBBB98E1-4640-43AD-BB6C-11FFAE22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4A899F44-C1DE-4FC8-AA74-3C0CF3A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CHỌN BẰNG VAL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A7A68D0E-8FFE-46AC-BF05-E0EA45E6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Best validation Macro-F1, không nhìn test.</a:t>
            </a:r>
          </a:p>
        </p:txBody>
      </p:sp>
      <p:sp>
        <p:nvSpPr>
          <p:cNvPr id="20" name="flow-node-3">
            <a:extLst xmlns:a="http://schemas.openxmlformats.org/drawingml/2006/main">
              <a:ext uri="{FF2B5EF4-FFF2-40B4-BE49-F238E27FC236}">
                <a16:creationId xmlns:a16="http://schemas.microsoft.com/office/drawing/2014/main" id="{D6D607B9-3475-41F0-8D41-C5FD9664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ow-num-3">
            <a:extLst xmlns:a="http://schemas.openxmlformats.org/drawingml/2006/main">
              <a:ext uri="{FF2B5EF4-FFF2-40B4-BE49-F238E27FC236}">
                <a16:creationId xmlns:a16="http://schemas.microsoft.com/office/drawing/2014/main" id="{675031EE-2B60-4BC7-B621-4A4E1393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78AF04A5-BE93-4402-B212-75FB4EAB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MỞ TEST 1 LẦN</a:t>
            </a:r>
          </a:p>
        </p:txBody>
      </p:sp>
      <p:sp>
        <p:nvSpPr>
          <p:cNvPr id="23" name="flow-body-3">
            <a:extLst xmlns:a="http://schemas.openxmlformats.org/drawingml/2006/main">
              <a:ext uri="{FF2B5EF4-FFF2-40B4-BE49-F238E27FC236}">
                <a16:creationId xmlns:a16="http://schemas.microsoft.com/office/drawing/2014/main" id="{8F73A9D0-19E3-4398-8BC7-11F26BA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Đánh giá từng checkpoint trên 9.376 ảnh.</a:t>
            </a:r>
          </a:p>
        </p:txBody>
      </p:sp>
      <p:sp>
        <p:nvSpPr>
          <p:cNvPr id="24" name="flow-node-4">
            <a:extLst xmlns:a="http://schemas.openxmlformats.org/drawingml/2006/main">
              <a:ext uri="{FF2B5EF4-FFF2-40B4-BE49-F238E27FC236}">
                <a16:creationId xmlns:a16="http://schemas.microsoft.com/office/drawing/2014/main" id="{03774E36-FED8-42F1-A131-8EE4857C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low-num-4">
            <a:extLst xmlns:a="http://schemas.openxmlformats.org/drawingml/2006/main">
              <a:ext uri="{FF2B5EF4-FFF2-40B4-BE49-F238E27FC236}">
                <a16:creationId xmlns:a16="http://schemas.microsoft.com/office/drawing/2014/main" id="{E219C0E6-8470-42D2-87C3-2DF72FC8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F3C4AE49-A0C5-4269-88D8-47A60EFE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BÁO CÁO</a:t>
            </a:r>
          </a:p>
        </p:txBody>
      </p:sp>
      <p:sp>
        <p:nvSpPr>
          <p:cNvPr id="27" name="flow-body-4">
            <a:extLst xmlns:a="http://schemas.openxmlformats.org/drawingml/2006/main">
              <a:ext uri="{FF2B5EF4-FFF2-40B4-BE49-F238E27FC236}">
                <a16:creationId xmlns:a16="http://schemas.microsoft.com/office/drawing/2014/main" id="{49176CD5-1EFF-4267-B888-4F99A2C1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7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 ± SD, từng lớp, bootstrap và mobile benchmark.</a:t>
            </a:r>
          </a:p>
        </p:txBody>
      </p:sp>
      <p:sp>
        <p:nvSpPr>
          <p:cNvPr id="28" name="protocol-config">
            <a:extLst xmlns:a="http://schemas.openxmlformats.org/drawingml/2006/main">
              <a:ext uri="{FF2B5EF4-FFF2-40B4-BE49-F238E27FC236}">
                <a16:creationId xmlns:a16="http://schemas.microsoft.com/office/drawing/2014/main" id="{704DADBD-8717-44B3-9670-A4C2C098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339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Campaign mới phải tạo thư mục output riêng, không ghi đè runs/final_test_v2.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Các con số chuyển tiếp hiện tại chỉ dùng làm mốc kiểm tra hợp lý.</a:t>
            </a:r>
          </a:p>
        </p:txBody>
      </p:sp>
      <p:sp>
        <p:nvSpPr>
          <p:cNvPr id="29" name="protocol-rule">
            <a:extLst xmlns:a="http://schemas.openxmlformats.org/drawingml/2006/main">
              <a:ext uri="{FF2B5EF4-FFF2-40B4-BE49-F238E27FC236}">
                <a16:creationId xmlns:a16="http://schemas.microsoft.com/office/drawing/2014/main" id="{8E156611-7A19-42D2-AA64-9D43A123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72125"/>
            <a:ext cx="762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rotocol-lock">
            <a:extLst xmlns:a="http://schemas.openxmlformats.org/drawingml/2006/main">
              <a:ext uri="{FF2B5EF4-FFF2-40B4-BE49-F238E27FC236}">
                <a16:creationId xmlns:a16="http://schemas.microsoft.com/office/drawing/2014/main" id="{69B59003-1EEC-4F08-846A-B7DEC729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721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Không chọn lớp, siêu tham số hoặc mô hình sau khi xem test mới.</a:t>
            </a:r>
          </a:p>
        </p:txBody>
      </p:sp>
    </p:spTree>
    <p:extLst>
      <p:ext uri="{BB962C8B-B14F-4D97-AF65-F5344CB8AC3E}">
        <p14:creationId xmlns:p14="http://schemas.microsoft.com/office/powerpoint/2010/main" val="11386662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Cách tính và kết quả của các thước đo chất lượng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Thước đo được tính xác định từ nhãn thật và dự đoán; chúng không có một “% chính xác” riêng.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Nguồn: scikit-learn official docs — accuracy_score, precision_score, recall_score và f1_score.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238250"/>
          <a:ext xmlns:a="http://schemas.openxmlformats.org/drawingml/2006/main" cx="1095375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714625"/>
                <a:gridCol w="3000375"/>
                <a:gridCol w="3095625"/>
              </a:tblGrid>
              <a:tr h="7461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Thước đo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Công thức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Kết quả mean sáu 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Cách đọc và giới hạn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7461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Số dự đoán đúng / 9.376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96,551% đến 99,335%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B0: 99,335% ± 0,048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Độ đúng chung. Lớp lớn có thể chi phối.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7461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Macro-Precision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Trung bình 11 giá trị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TPc / (TPc + FPc)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93,074% đến 98,288%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B0: 98,288% ± 0,195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Thấp khi mô hình gọi nhầm ảnh lớp khác vào lớp c.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Macro-Recall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Trung bình 11 giá trị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TPc / (TPc + FNc)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90,312% đến 97,717%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B0: 97,717% ± 0,146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Thấp khi mô hình bỏ sót ảnh thật của lớp c.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7461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F1 lớp c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2TPc / (2TPc + FPc + FNc)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Theo lớp và mô hình: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76,711% đến 100,000%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Đọc kèm support. Không dùng true negative.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Trung bình không trọng số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của 11 F1 lớp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91,524% đến 97,994%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B0: 97,994% ± 0,159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Tiêu chí xếp hạng chính cho dữ liệu mất cân bằng.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6">
            <a:extLst xmlns:a="http://schemas.openxmlformats.org/drawingml/2006/main">
              <a:ext uri="{FF2B5EF4-FFF2-40B4-BE49-F238E27FC236}">
                <a16:creationId xmlns:a16="http://schemas.microsoft.com/office/drawing/2014/main" id="{96E14A23-0A52-4EF1-9AD1-56051477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Độ tin cậy của SD và paired bootstrap</a:t>
            </a:r>
          </a:p>
        </p:txBody>
      </p:sp>
      <p:sp>
        <p:nvSpPr>
          <p:cNvPr id="2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303E3599-F1EE-4269-BEA2-219C0A51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6">
            <a:extLst xmlns:a="http://schemas.openxmlformats.org/drawingml/2006/main">
              <a:ext uri="{FF2B5EF4-FFF2-40B4-BE49-F238E27FC236}">
                <a16:creationId xmlns:a16="http://schemas.microsoft.com/office/drawing/2014/main" id="{C26CE9D2-F4A4-42BE-B121-C8E729A1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macro-formula">
            <a:extLst xmlns:a="http://schemas.openxmlformats.org/drawingml/2006/main">
              <a:ext uri="{FF2B5EF4-FFF2-40B4-BE49-F238E27FC236}">
                <a16:creationId xmlns:a16="http://schemas.microsoft.com/office/drawing/2014/main" id="{F3888F8C-0B11-4FF3-815C-C8ADAA9B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667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3 lớp lớn chiếm 76,54%</a:t>
            </a:r>
          </a:p>
        </p:txBody>
      </p:sp>
      <p:sp>
        <p:nvSpPr>
          <p:cNvPr id="5" name="macro-desc">
            <a:extLst xmlns:a="http://schemas.openxmlformats.org/drawingml/2006/main">
              <a:ext uri="{FF2B5EF4-FFF2-40B4-BE49-F238E27FC236}">
                <a16:creationId xmlns:a16="http://schemas.microsoft.com/office/drawing/2014/main" id="{6DAEDAC0-E61C-468A-9B78-908B6706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765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Rầy nâu, sâu cuốn lá và sâu đục thân chiếm 7.523 / 9.829 ảnh.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9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Accuracy cao vẫn có thể che khuất lỗi ở những lớp ít ảnh.</a:t>
            </a:r>
          </a:p>
        </p:txBody>
      </p:sp>
      <p:sp>
        <p:nvSpPr>
          <p:cNvPr id="6" name="metric-separator">
            <a:extLst xmlns:a="http://schemas.openxmlformats.org/drawingml/2006/main">
              <a:ext uri="{FF2B5EF4-FFF2-40B4-BE49-F238E27FC236}">
                <a16:creationId xmlns:a16="http://schemas.microsoft.com/office/drawing/2014/main" id="{C4DDB1E3-1010-4318-8ABC-83051683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h-0">
            <a:extLst xmlns:a="http://schemas.openxmlformats.org/drawingml/2006/main">
              <a:ext uri="{FF2B5EF4-FFF2-40B4-BE49-F238E27FC236}">
                <a16:creationId xmlns:a16="http://schemas.microsoft.com/office/drawing/2014/main" id="{5F451F6D-B4E2-48FC-87C2-52DB0D92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240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8" name="metric-b-0">
            <a:extLst xmlns:a="http://schemas.openxmlformats.org/drawingml/2006/main">
              <a:ext uri="{FF2B5EF4-FFF2-40B4-BE49-F238E27FC236}">
                <a16:creationId xmlns:a16="http://schemas.microsoft.com/office/drawing/2014/main" id="{3D6E8497-CCFF-4576-AC23-9DE00F48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Mỗi ảnh có trọng số như nhau.</a:t>
            </a:r>
          </a:p>
        </p:txBody>
      </p:sp>
      <p:sp>
        <p:nvSpPr>
          <p:cNvPr id="9" name="metric-h-1">
            <a:extLst xmlns:a="http://schemas.openxmlformats.org/drawingml/2006/main">
              <a:ext uri="{FF2B5EF4-FFF2-40B4-BE49-F238E27FC236}">
                <a16:creationId xmlns:a16="http://schemas.microsoft.com/office/drawing/2014/main" id="{93DCD0E7-CC31-4DCC-A325-1D3DDB94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76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Macro-F1</a:t>
            </a:r>
          </a:p>
        </p:txBody>
      </p:sp>
      <p:sp>
        <p:nvSpPr>
          <p:cNvPr id="10" name="metric-b-1">
            <a:extLst xmlns:a="http://schemas.openxmlformats.org/drawingml/2006/main">
              <a:ext uri="{FF2B5EF4-FFF2-40B4-BE49-F238E27FC236}">
                <a16:creationId xmlns:a16="http://schemas.microsoft.com/office/drawing/2014/main" id="{2AE959E7-2A09-46E7-949B-91DEDFC3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Mỗi lớp có trọng số như nhau.</a:t>
            </a:r>
          </a:p>
        </p:txBody>
      </p:sp>
      <p:sp>
        <p:nvSpPr>
          <p:cNvPr id="11" name="metric-h-2">
            <a:extLst xmlns:a="http://schemas.openxmlformats.org/drawingml/2006/main">
              <a:ext uri="{FF2B5EF4-FFF2-40B4-BE49-F238E27FC236}">
                <a16:creationId xmlns:a16="http://schemas.microsoft.com/office/drawing/2014/main" id="{71A16988-B3D3-47D2-9D48-8D21C7BA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290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SD qua seed</a:t>
            </a:r>
          </a:p>
        </p:txBody>
      </p:sp>
      <p:sp>
        <p:nvSpPr>
          <p:cNvPr id="12" name="metric-b-2">
            <a:extLst xmlns:a="http://schemas.openxmlformats.org/drawingml/2006/main">
              <a:ext uri="{FF2B5EF4-FFF2-40B4-BE49-F238E27FC236}">
                <a16:creationId xmlns:a16="http://schemas.microsoft.com/office/drawing/2014/main" id="{660E03A3-2B0F-49B4-A81D-3EE4AC86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29000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Mức dao động khi train lại.</a:t>
            </a:r>
          </a:p>
        </p:txBody>
      </p:sp>
      <p:sp>
        <p:nvSpPr>
          <p:cNvPr id="13" name="metric-h-3">
            <a:extLst xmlns:a="http://schemas.openxmlformats.org/drawingml/2006/main">
              <a:ext uri="{FF2B5EF4-FFF2-40B4-BE49-F238E27FC236}">
                <a16:creationId xmlns:a16="http://schemas.microsoft.com/office/drawing/2014/main" id="{33563656-2291-485E-9CBB-E5954816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81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CI bootstrap</a:t>
            </a:r>
          </a:p>
        </p:txBody>
      </p:sp>
      <p:sp>
        <p:nvSpPr>
          <p:cNvPr id="14" name="metric-b-3">
            <a:extLst xmlns:a="http://schemas.openxmlformats.org/drawingml/2006/main">
              <a:ext uri="{FF2B5EF4-FFF2-40B4-BE49-F238E27FC236}">
                <a16:creationId xmlns:a16="http://schemas.microsoft.com/office/drawing/2014/main" id="{DE82B339-4412-48CD-B78E-B82A3D92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Bất định do tập ảnh kiểm thử.</a:t>
            </a:r>
          </a:p>
        </p:txBody>
      </p:sp>
      <p:sp>
        <p:nvSpPr>
          <p:cNvPr id="15" name="metric-warning">
            <a:extLst xmlns:a="http://schemas.openxmlformats.org/drawingml/2006/main">
              <a:ext uri="{FF2B5EF4-FFF2-40B4-BE49-F238E27FC236}">
                <a16:creationId xmlns:a16="http://schemas.microsoft.com/office/drawing/2014/main" id="{3AFEDA18-8AEE-4858-80D9-7FCDA083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810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warning-text">
            <a:extLst xmlns:a="http://schemas.openxmlformats.org/drawingml/2006/main">
              <a:ext uri="{FF2B5EF4-FFF2-40B4-BE49-F238E27FC236}">
                <a16:creationId xmlns:a16="http://schemas.microsoft.com/office/drawing/2014/main" id="{E60BA53E-7D9B-44C5-80BA-10B47B02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Tiêu chí chính: Macro-F1. Accuracy bổ sung; SD và CI không thay thế nhau.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839AF-6BEE-47AA-A2ED-10F358CA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457200" y="1352550"/>
          <a:ext xmlns:a="http://schemas.openxmlformats.org/drawingml/2006/main" cx="1095375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000375"/>
                <a:gridCol w="2857500"/>
                <a:gridCol w="3000375"/>
              </a:tblGrid>
              <a:tr h="869156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Thước đo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Cách tính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Kết quả hiện tại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Độ tin cậy và giới hạn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869156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Sample SD qua seed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 = căn bậc hai của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Σ(xi - x̄)² / (n - 1), n = 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SD Macro-F1: 0,070 đến 1,771 điểm %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V3-L nhỏ nhất; Shuffle lớn nhất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Mô tả dao động của ba lần train. Mean ± SD không phải CI 95%.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869156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Paired bootstrap 95% CI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Lấy mẫu có hoàn lại cùng chỉ số ảnh.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 = 2.000; percentile 2,5% đến 97,5%.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 so sánh V3 với năm mô hình × ba seed.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6 CI chứa 0; 9 CI không chứa 0.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Phản ánh biến thiên do tập ảnh của checkpoint cố định. Chưa gộp biến thiên train và chưa hiệu chỉnh đa so sánh.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Cách diễn giải CI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Tính Δ Macro-F1 cho từng mẫu bootstrap.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CI chứa 0: chênh lệch chưa tách biệt rõ ở seed đó.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CI 95% không có nghĩa mô hình đúng 95% và không chứng minh quan hệ nhân quả.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9F17D7-4DAB-493F-A20F-443581B2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00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Nguồn và mức độ tin cậy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E27D96-882C-4E9D-B178-CCE4D04A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05425"/>
            <a:ext cx="1071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NIST SEMATECH e-Handbook cung cấp công thức sample SD. Efron 1979 là bài bootstrap gốc đã bình duyệt trên The Annals of Statistics. scikit-learn resample xác nhận cơ chế lấy mẫu có hoàn lại.</a:t>
            </a:r>
          </a:p>
        </p:txBody>
      </p:sp>
    </p:spTree>
    <p:extLst>
      <p:ext uri="{BB962C8B-B14F-4D97-AF65-F5344CB8AC3E}">
        <p14:creationId xmlns:p14="http://schemas.microsoft.com/office/powerpoint/2010/main" val="6631504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7">
            <a:extLst xmlns:a="http://schemas.openxmlformats.org/drawingml/2006/main">
              <a:ext uri="{FF2B5EF4-FFF2-40B4-BE49-F238E27FC236}">
                <a16:creationId xmlns:a16="http://schemas.microsoft.com/office/drawing/2014/main" id="{2F68A621-E262-45DC-996E-1F9213AE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 dẫn đầu Macro-F1 chuyển tiếp</a:t>
            </a:r>
          </a:p>
        </p:txBody>
      </p:sp>
      <p:sp>
        <p:nvSpPr>
          <p:cNvPr id="2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1D371C98-60FA-435C-8EE4-4383C67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7">
            <a:extLst xmlns:a="http://schemas.openxmlformats.org/drawingml/2006/main">
              <a:ext uri="{FF2B5EF4-FFF2-40B4-BE49-F238E27FC236}">
                <a16:creationId xmlns:a16="http://schemas.microsoft.com/office/drawing/2014/main" id="{9E4222E4-E1F1-498F-B414-ADC2D088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winner-panel">
            <a:extLst xmlns:a="http://schemas.openxmlformats.org/drawingml/2006/main">
              <a:ext uri="{FF2B5EF4-FFF2-40B4-BE49-F238E27FC236}">
                <a16:creationId xmlns:a16="http://schemas.microsoft.com/office/drawing/2014/main" id="{91AFFC93-0C8D-4DAD-B964-3853599B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inner-label">
            <a:extLst xmlns:a="http://schemas.openxmlformats.org/drawingml/2006/main">
              <a:ext uri="{FF2B5EF4-FFF2-40B4-BE49-F238E27FC236}">
                <a16:creationId xmlns:a16="http://schemas.microsoft.com/office/drawing/2014/main" id="{C4730370-8013-4352-9FF4-FD256F3D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97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MEAN ± SD</a:t>
            </a:r>
          </a:p>
        </p:txBody>
      </p:sp>
      <p:sp>
        <p:nvSpPr>
          <p:cNvPr id="7" name="winner-value">
            <a:extLst xmlns:a="http://schemas.openxmlformats.org/drawingml/2006/main">
              <a:ext uri="{FF2B5EF4-FFF2-40B4-BE49-F238E27FC236}">
                <a16:creationId xmlns:a16="http://schemas.microsoft.com/office/drawing/2014/main" id="{86DCCA80-BD1C-490A-9A5C-FBEB3906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81225"/>
            <a:ext cx="252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97,76%</a:t>
            </a:r>
          </a:p>
        </p:txBody>
      </p:sp>
      <p:sp>
        <p:nvSpPr>
          <p:cNvPr id="8" name="winner-name">
            <a:extLst xmlns:a="http://schemas.openxmlformats.org/drawingml/2006/main">
              <a:ext uri="{FF2B5EF4-FFF2-40B4-BE49-F238E27FC236}">
                <a16:creationId xmlns:a16="http://schemas.microsoft.com/office/drawing/2014/main" id="{3E0C195A-9CCB-4ED7-9E05-BCAD0475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813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F855A"/>
                </a:solidFill>
                <a:latin typeface="Arial"/>
                <a:ea typeface="Arial"/>
                <a:cs typeface="Arial"/>
              </a:rPr>
              <a:t>SD = 0,064 điểm %</a:t>
            </a:r>
          </a:p>
        </p:txBody>
      </p:sp>
      <p:sp>
        <p:nvSpPr>
          <p:cNvPr id="9" name="overall-gap">
            <a:extLst xmlns:a="http://schemas.openxmlformats.org/drawingml/2006/main">
              <a:ext uri="{FF2B5EF4-FFF2-40B4-BE49-F238E27FC236}">
                <a16:creationId xmlns:a16="http://schemas.microsoft.com/office/drawing/2014/main" id="{7A6F7D83-9ED0-4F41-BB30-F98E7E04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314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V3-Large: 97,32%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Chênh lệch B0 − V3: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+0,441 điểm %</a:t>
            </a:r>
          </a:p>
        </p:txBody>
      </p:sp>
      <p:sp>
        <p:nvSpPr>
          <p:cNvPr id="10" name="axis-note">
            <a:extLst xmlns:a="http://schemas.openxmlformats.org/drawingml/2006/main">
              <a:ext uri="{FF2B5EF4-FFF2-40B4-BE49-F238E27FC236}">
                <a16:creationId xmlns:a16="http://schemas.microsoft.com/office/drawing/2014/main" id="{4BBBFF0D-168E-46A6-89D7-F92D0E21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387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Thanh bắt đầu từ 0%.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Đây là điểm test nội bộ, không phải độ chính xác thực địa.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FA711-4BCF-4FF3-912C-2E3319FA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8AEEA-42DA-4DE3-AD27-0B0AE3B1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0953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2F855A"/>
            </a:solidFill>
          </a:ln>
        </p:spPr>
      </p:sp>
      <p:graphicFrame>
        <p:nvGraphicFramePr>
          <p:cNvPr id="60" name=""/>
          <p:cNvGraphicFramePr/>
          <p:nvPr/>
        </p:nvGraphicFramePr>
        <p:xfrm>
          <a:off xmlns:a="http://schemas.openxmlformats.org/drawingml/2006/main" x="666750" y="1362075"/>
          <a:ext xmlns:a="http://schemas.openxmlformats.org/drawingml/2006/main" cx="10572750" cy="38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Lưu ý: checkpoint 19 đầu ra; đây chưa phải kết quả của classifier 11 đầu ra.</a:t>
                      </a:r>
                    </a:p>
                  </a:txBody>
                  <a:tcPr marL="91440" marR="91440" marT="45720" marB="45720" anchor="ctr">
                    <a:solidFill>
                      <a:srgbClr val="EAF6F0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AC22B0-EE8B-475A-AADA-14920175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A5E11-95AD-4B52-830B-6D71D5DC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88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5F3B7-8346-41BE-BB7D-7E020D8A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A5173-CDCC-4A81-B3DD-E7BB0AE6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7ECE8-CE23-4887-8441-6F6491F9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25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6425C9-8525-4326-B497-ABE980A6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96E11-92AA-4BDC-B5A4-A49514E4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F5E658-BCFA-4BA5-A6E9-60543357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6F15D2-B2F4-4F2E-A6EA-5DCC3DAE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D55E79-38CB-436E-A040-6437D987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4DEF26-1F8B-4241-A4CB-8B32ACB8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5D1895-47E8-4471-BED2-D28581C4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DF169F-530E-4A43-93A3-897D8752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5CBDC0-5D99-404C-B7F3-9C9372DC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F93661-0D33-4544-B36D-0C158FE1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0DA782-0D4E-460F-A4DD-530F8DB5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5553151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424CCA-F9B7-4796-B44C-0B16A74D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101" y="2095500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97,994%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A9A5FA-D648-4F11-83C9-471B3D10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5563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MobileNetV3-Large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4B2791-3EA7-4941-B5F6-725FEC97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52713"/>
            <a:ext cx="5325904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BC1795-5333-4F71-B870-BDA54D7F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5854" y="2595563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97,585%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C101BB-56F3-4765-ADEE-0B58A42F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AF0B87-CF3B-47CD-8D4B-669D704F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52775"/>
            <a:ext cx="5130380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763E8B-D91D-48D0-B7CF-F422E4C3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330" y="3095625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97,234%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E535F7-C456-45AB-990D-ED5BF6E5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5688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F9F217-6996-43FB-B57B-145466CC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52838"/>
            <a:ext cx="5090948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59050B-19AA-4CE9-85C3-0CAFDAA3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98" y="3595688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97,163%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5D9987-4445-4A9F-90D0-E6369609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6CDD94-E59C-4AC6-809A-8203ED4E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52900"/>
            <a:ext cx="4571327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885B13-16D1-4CFA-908B-02BA0927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277" y="4095750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96,227%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73DE2A-DEFA-4A82-B6C6-1797BEBC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5813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 1.0×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2EC982-07A8-4FE6-82F8-4F01FF2A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52963"/>
            <a:ext cx="1957958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23A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41934A-DD0A-41E6-B9B6-6673CA76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908" y="4595813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91,524%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8CD952-1AD0-4A32-B027-8713CB3A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95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mean qua 3 seed (%)</a:t>
            </a:r>
          </a:p>
        </p:txBody>
      </p:sp>
    </p:spTree>
    <p:extLst>
      <p:ext uri="{BB962C8B-B14F-4D97-AF65-F5344CB8AC3E}">
        <p14:creationId xmlns:p14="http://schemas.microsoft.com/office/powerpoint/2010/main" val="8157861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2">
            <a:extLst xmlns:a="http://schemas.openxmlformats.org/drawingml/2006/main">
              <a:ext uri="{FF2B5EF4-FFF2-40B4-BE49-F238E27FC236}">
                <a16:creationId xmlns:a16="http://schemas.microsoft.com/office/drawing/2014/main" id="{43B0008C-E08E-4F23-AB42-B7E9CA3D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Kết quả tổng thể trên 9.376 ảnh của 11 lớp</a:t>
            </a:r>
          </a:p>
        </p:txBody>
      </p:sp>
      <p:sp>
        <p:nvSpPr>
          <p:cNvPr id="2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AF43F4CA-8D37-478C-91B1-3467BDEA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12">
            <a:extLst xmlns:a="http://schemas.openxmlformats.org/drawingml/2006/main">
              <a:ext uri="{FF2B5EF4-FFF2-40B4-BE49-F238E27FC236}">
                <a16:creationId xmlns:a16="http://schemas.microsoft.com/office/drawing/2014/main" id="{1151569E-AD51-4E80-A10A-5873A758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resource-insight">
            <a:extLst xmlns:a="http://schemas.openxmlformats.org/drawingml/2006/main">
              <a:ext uri="{FF2B5EF4-FFF2-40B4-BE49-F238E27FC236}">
                <a16:creationId xmlns:a16="http://schemas.microsoft.com/office/drawing/2014/main" id="{0F6D3110-6DE2-459E-8881-F25FF0ED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B0 đứng đầu mean Macro-F1 97,994%; V3-Large đứng thứ hai 97,585%.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Thứ hạng sáu mô hình không đổi so với phân tích 19 lớp.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019300"/>
                <a:gridCol w="2019300"/>
                <a:gridCol w="2019300"/>
                <a:gridCol w="2038350"/>
              </a:tblGrid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± SD (%)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Macro-R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99,335 ± 0,048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98,288 ± 0,195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97,717 ± 0,146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97,994 ± 0,159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99,189 ± 0,046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97,985 ± 0,079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97,219 ± 0,110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97,585 ± 0,070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98,941 ± 0,386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97,576 ± 0,837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96,917 ± 1,031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97,234 ± 0,941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98,948 ± 0,137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97,630 ± 0,320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96,711 ± 0,349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97,163 ± 0,316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98,617 ± 0,374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96,790 ± 0,828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95,719 ± 1,110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96,227 ± 0,981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96,551 ± 0,838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93,074 ± 1,401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90,312 ± 2,041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 ± 1,771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4589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8">
            <a:extLst xmlns:a="http://schemas.openxmlformats.org/drawingml/2006/main">
              <a:ext uri="{FF2B5EF4-FFF2-40B4-BE49-F238E27FC236}">
                <a16:creationId xmlns:a16="http://schemas.microsoft.com/office/drawing/2014/main" id="{1C597C3A-AA3D-48C1-88A3-B3FA6D03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Độ ổn định Macro-F1 qua ba seed</a:t>
            </a:r>
          </a:p>
        </p:txBody>
      </p:sp>
      <p:sp>
        <p:nvSpPr>
          <p:cNvPr id="2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3735F3D6-BCD0-4EBC-97DE-D3418EED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8">
            <a:extLst xmlns:a="http://schemas.openxmlformats.org/drawingml/2006/main">
              <a:ext uri="{FF2B5EF4-FFF2-40B4-BE49-F238E27FC236}">
                <a16:creationId xmlns:a16="http://schemas.microsoft.com/office/drawing/2014/main" id="{6AC4793F-CB2D-4903-B7DD-D4C4FC75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stable-head">
            <a:extLst xmlns:a="http://schemas.openxmlformats.org/drawingml/2006/main">
              <a:ext uri="{FF2B5EF4-FFF2-40B4-BE49-F238E27FC236}">
                <a16:creationId xmlns:a16="http://schemas.microsoft.com/office/drawing/2014/main" id="{8A349C82-EDE3-4D9E-92A7-55717BCF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66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SD nhỏ nhất</a:t>
            </a:r>
          </a:p>
        </p:txBody>
      </p:sp>
      <p:sp>
        <p:nvSpPr>
          <p:cNvPr id="6" name="stable-value">
            <a:extLst xmlns:a="http://schemas.openxmlformats.org/drawingml/2006/main">
              <a:ext uri="{FF2B5EF4-FFF2-40B4-BE49-F238E27FC236}">
                <a16:creationId xmlns:a16="http://schemas.microsoft.com/office/drawing/2014/main" id="{4F9F4B29-FBB4-4D1C-9799-AE8257D3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431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0,064 điểm %</a:t>
            </a:r>
          </a:p>
        </p:txBody>
      </p:sp>
      <p:sp>
        <p:nvSpPr>
          <p:cNvPr id="7" name="stable-body">
            <a:extLst xmlns:a="http://schemas.openxmlformats.org/drawingml/2006/main">
              <a:ext uri="{FF2B5EF4-FFF2-40B4-BE49-F238E27FC236}">
                <a16:creationId xmlns:a16="http://schemas.microsoft.com/office/drawing/2014/main" id="{42F607AF-21D1-4BE5-89A8-EFEED79C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527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EfficientNet-B0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Cao nhất cả 3 seed.</a:t>
            </a:r>
          </a:p>
        </p:txBody>
      </p:sp>
      <p:sp>
        <p:nvSpPr>
          <p:cNvPr id="8" name="unstable-head">
            <a:extLst xmlns:a="http://schemas.openxmlformats.org/drawingml/2006/main">
              <a:ext uri="{FF2B5EF4-FFF2-40B4-BE49-F238E27FC236}">
                <a16:creationId xmlns:a16="http://schemas.microsoft.com/office/drawing/2014/main" id="{163DA5F6-DDF9-4CCD-990C-1208751C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05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64B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64B46"/>
                </a:solidFill>
                <a:latin typeface="Arial"/>
                <a:ea typeface="Arial"/>
                <a:cs typeface="Arial"/>
              </a:rPr>
              <a:t>SD lớn nhất</a:t>
            </a:r>
          </a:p>
        </p:txBody>
      </p:sp>
      <p:sp>
        <p:nvSpPr>
          <p:cNvPr id="9" name="unstable-value">
            <a:extLst xmlns:a="http://schemas.openxmlformats.org/drawingml/2006/main">
              <a:ext uri="{FF2B5EF4-FFF2-40B4-BE49-F238E27FC236}">
                <a16:creationId xmlns:a16="http://schemas.microsoft.com/office/drawing/2014/main" id="{4FFB0D62-D52A-4E84-9C11-26592623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81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1,691 điểm %</a:t>
            </a:r>
          </a:p>
        </p:txBody>
      </p:sp>
      <p:sp>
        <p:nvSpPr>
          <p:cNvPr id="10" name="unstable-body">
            <a:extLst xmlns:a="http://schemas.openxmlformats.org/drawingml/2006/main">
              <a:ext uri="{FF2B5EF4-FFF2-40B4-BE49-F238E27FC236}">
                <a16:creationId xmlns:a16="http://schemas.microsoft.com/office/drawing/2014/main" id="{377148ED-4FEE-4FB8-8064-9E1324B0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911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ShuffleNet V2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Dao động nhiều hơn.</a:t>
            </a:r>
          </a:p>
        </p:txBody>
      </p:sp>
      <p:graphicFrame>
        <p:nvGraphicFramePr>
          <p:cNvPr id="88" name=""/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79057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1571625"/>
                <a:gridCol w="1571625"/>
                <a:gridCol w="1571625"/>
              </a:tblGrid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 (%)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42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123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2026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97,78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97,69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97,82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97,55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97,36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97,06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97,59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97,21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95,84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96,36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96,62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96,99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96,83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95,13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96,60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92,70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90,90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89,32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7E205-AFE7-4B7E-8A97-439DD769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526F1-C2E4-427F-B14A-FE2D896C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A1E16-F729-474A-AE85-4806F206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005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88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0AC08-2960-45AE-85F0-34DDD82C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7BB58-81E1-4CBD-AA99-23E02AA2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290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E21A9-F767-4DCA-9333-A93CF469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718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8114D5-6B4F-44E9-AF36-7A2C8180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575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511C6-85EB-4BA2-8FBA-E59F8B9E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03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A91E1-F52B-43A0-A837-D444BD84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860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B4CD8A-4F7B-4276-A3C1-7D826F65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288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E20C9D-C5CF-498C-9E86-5F5266D3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145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671EDA-31DD-4BEB-B7A8-493A8E4E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573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FB929F-4211-475D-9AC7-33584F99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430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AE50E6-6AA4-4502-9FEE-A6351915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4E7DDA-4FF5-4E0D-A1AC-05B3E920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62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123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28A273-0A1B-420B-B7B5-8CA2DE45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9C7A2A-5F70-4A7E-8F0A-DE8CC2FE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5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(%)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E7CF50-F066-48E6-A97F-8147F584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90750" y="1807257"/>
            <a:ext cx="3857625" cy="858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F855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B79434-E750-43F0-AF86-EB85BC50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48375" y="1807257"/>
            <a:ext cx="3857625" cy="692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F855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4669EF-2A9C-4AAB-9156-7AE752DF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4548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A1C236-A731-49E6-A318-A6F5BE0C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963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D5969F-B865-4A4F-912F-86294C4C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2891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575A5A-F73E-48BE-B6F7-34DEE9C3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90750" y="1952832"/>
            <a:ext cx="3857625" cy="362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176A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F4838A-39FE-4DB5-9CD1-3277A924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48375" y="1985630"/>
            <a:ext cx="3857625" cy="34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176A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B3738D-527D-4575-9516-1E2F867C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0520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50CFFC-1698-4BE3-927A-4FC0636C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142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874AB4-BC6D-4138-AA39-D1AAB597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3800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261C21-4C85-456F-AB9D-9F2C5CD2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90750" y="1914029"/>
            <a:ext cx="3857625" cy="144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D5BD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3D9009-F45C-4EE1-9C4B-CBDC55A4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48375" y="1928490"/>
            <a:ext cx="3857625" cy="4581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D5BD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3341C0-30BA-4A45-A997-0D587EC5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6640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C98C4D-5F5C-4584-AAC6-7AE8FD99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8086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0DA290-9CD6-4E51-BD53-0A0FF689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390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8BFA91-945A-4CD1-BC93-1019FDAA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90750" y="2111506"/>
            <a:ext cx="3857625" cy="672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8C9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F180FF-FD56-412C-AFAA-6CC7B813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48375" y="1999761"/>
            <a:ext cx="3857625" cy="1789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8C9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CDC346-6160-4651-9A75-1C57E0A9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638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6B0497-FF28-42A3-8F67-BF73C3D9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311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CEAF3D-E9B9-4432-976F-E90C0988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5213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230B7F-FCD8-4FF0-9D50-360E893C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90750" y="2173085"/>
            <a:ext cx="3857625" cy="512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28E2B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FF7DA3-F116-44DF-9E19-D8C5DB58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48375" y="2232858"/>
            <a:ext cx="3857625" cy="4529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28E2B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D84BE4-96D1-4ED1-812E-D6B934AE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2546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F8F130-A8AD-47E8-92E6-2ACCB635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3815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6B2139-404C-4781-87F0-8ACE88BE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8523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19EEBB-EFB2-42D5-BA38-BA1C1F72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90750" y="3173689"/>
            <a:ext cx="3857625" cy="596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5423A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A72F58-8A5F-45C9-9A13-8C8BB348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48375" y="3769739"/>
            <a:ext cx="3857625" cy="4106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5423A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FD1E121-8534-41DF-A4A5-3605B39D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2606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23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895DEF-EA33-46D5-999F-8D7D0030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2211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23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5A080C-B728-4AC0-8A1D-630C23B1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327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23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12125CA-1418-4CFC-9283-329AE15E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55A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4801E62-E625-4B90-B3D4-4B781070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7AD2F1E-CB19-4866-9567-4C5D98EB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067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71D652B-80D5-473E-A613-1039AE05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91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176AE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565F584-BB1D-4140-B423-5ACB0082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4C16638-E365-4E6F-9150-3806475E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067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MobileNetV3-Large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951779C-F0C0-4BA1-9385-5F2C8EE3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91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5BD0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B9032F-0667-497D-BA5C-66E3D2B2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9488FAB-8FBE-4ED9-ADBB-BA5A9AFD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67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168D55E-9D52-4A69-B4FA-34BF4BC2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14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8C95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4F2A9BD-6308-4B05-A781-819E313F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46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0B3CA92-0F9B-4248-8EC5-751765BD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391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ED6F030-B0B8-43AE-B23F-1E59106F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514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8E2B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3DA461E-1AA4-4971-80FD-9A9103D9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46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472C8DB-EDF1-4FA7-857E-1F79CDCC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391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72502FF-4E6F-4B88-A721-FA55E310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14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5423A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85EBE1E-BEEA-4EAA-84A5-04218681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46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23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CB3167E-9126-475E-AC8D-5274E7B5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391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 1.0×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522390C-C213-4A2A-A997-89E3BEF2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Training seed</a:t>
            </a:r>
          </a:p>
        </p:txBody>
      </p:sp>
    </p:spTree>
    <p:extLst>
      <p:ext uri="{BB962C8B-B14F-4D97-AF65-F5344CB8AC3E}">
        <p14:creationId xmlns:p14="http://schemas.microsoft.com/office/powerpoint/2010/main" val="88841939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F1 theo lớp — sáu lớp đầu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Đơn vị: %. Mean 3 seed, làm tròn 1 chữ số; 100,0 có thể do làm tròn.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B0 = EfficientNet-B0; V3-L = MobileNetV3-Large; Shuffle = ShuffleNet V2 1.0×.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499E7-F3E1-46A3-985F-8E3B7BE3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1371600"/>
                <a:gridCol w="1371600"/>
                <a:gridCol w="1371600"/>
                <a:gridCol w="1371600"/>
                <a:gridCol w="1371600"/>
                <a:gridCol w="1381125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 (test n)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Eff-B0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MV3-L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RN18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DN121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MV2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Shuffle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Bạc lá vi khuẩn (270)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Đạo ôn (251)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Rầy nâu (2786)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Đốm nâu (330)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Dảnh héo (215)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Ốc bươu vàng (122)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"/>
          <p:cNvGraphicFramePr/>
          <p:nvPr/>
        </p:nvGraphicFramePr>
        <p:xfrm>
          <a:off xmlns:a="http://schemas.openxmlformats.org/drawingml/2006/main" x="619125" y="55721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Đơn vị: %, mean F1 lớp qua ba seed. Mỗi cột mô hình dùng đúng cùng ảnh test.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248EA-BF21-4D37-A162-C19E851A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143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F1 theo lớp — năm lớp còn lại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Đơn vị: %. Mean 3 seed, làm tròn 1 chữ số; 100,0 có thể do làm tròn.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B0 = EfficientNet-B0; V3-L = MobileNetV3-Large; Shuffle = ShuffleNet V2 1.0×.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E9B6E-8FE9-4E18-9EED-CFD8DDF4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57200" y="1524000"/>
          <a:ext xmlns:a="http://schemas.openxmlformats.org/drawingml/2006/main" cx="109537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1371600"/>
                <a:gridCol w="1371600"/>
                <a:gridCol w="1371600"/>
                <a:gridCol w="1371600"/>
                <a:gridCol w="1371600"/>
                <a:gridCol w="1381125"/>
              </a:tblGrid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 (test n)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Eff-B0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MV3-L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RN18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DN121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MV2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Shuffle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cuốn lá (1764)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Bình thường (263)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đục thân (2973)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Tungro (163)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89,5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76,7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Cỏ dại (239)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82,1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"/>
          <p:cNvGraphicFramePr/>
          <p:nvPr/>
        </p:nvGraphicFramePr>
        <p:xfrm>
          <a:off xmlns:a="http://schemas.openxmlformats.org/drawingml/2006/main" x="619125" y="53816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Các lớp lớn gần bão hòa; Tungro và cỏ dại phân hóa mô hình rõ hơn.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A55DB-F0EB-485B-BFD3-B98FB93F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143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9">
            <a:extLst xmlns:a="http://schemas.openxmlformats.org/drawingml/2006/main">
              <a:ext uri="{FF2B5EF4-FFF2-40B4-BE49-F238E27FC236}">
                <a16:creationId xmlns:a16="http://schemas.microsoft.com/office/drawing/2014/main" id="{8CF66D40-498E-4AA9-9A44-E7B99DA8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Lớp khó nhất cho thấy khoảng cách giữa các backbone</a:t>
            </a:r>
          </a:p>
        </p:txBody>
      </p:sp>
      <p:sp>
        <p:nvSpPr>
          <p:cNvPr id="2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922FE490-3233-4692-BA70-3690BE3A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9">
            <a:extLst xmlns:a="http://schemas.openxmlformats.org/drawingml/2006/main">
              <a:ext uri="{FF2B5EF4-FFF2-40B4-BE49-F238E27FC236}">
                <a16:creationId xmlns:a16="http://schemas.microsoft.com/office/drawing/2014/main" id="{E0B54F9D-451E-4D39-93DC-A5F1D9FA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class-callout-title">
            <a:extLst xmlns:a="http://schemas.openxmlformats.org/drawingml/2006/main">
              <a:ext uri="{FF2B5EF4-FFF2-40B4-BE49-F238E27FC236}">
                <a16:creationId xmlns:a16="http://schemas.microsoft.com/office/drawing/2014/main" id="{E917EE6A-8DA4-4BAB-9D3D-D99D2273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71625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Đọc theo từng lớp</a:t>
            </a:r>
          </a:p>
        </p:txBody>
      </p:sp>
      <p:sp>
        <p:nvSpPr>
          <p:cNvPr id="6" name="class-callout">
            <a:extLst xmlns:a="http://schemas.openxmlformats.org/drawingml/2006/main">
              <a:ext uri="{FF2B5EF4-FFF2-40B4-BE49-F238E27FC236}">
                <a16:creationId xmlns:a16="http://schemas.microsoft.com/office/drawing/2014/main" id="{038B23F7-0713-464A-8DCE-7DC92611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57425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Sương mai: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B0 92,9% • V3 91,9%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Sọc lá vi khuẩn: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71,2%</a:t>
            </a:r>
          </a:p>
        </p:txBody>
      </p:sp>
      <p:sp>
        <p:nvSpPr>
          <p:cNvPr id="7" name="class-small">
            <a:extLst xmlns:a="http://schemas.openxmlformats.org/drawingml/2006/main">
              <a:ext uri="{FF2B5EF4-FFF2-40B4-BE49-F238E27FC236}">
                <a16:creationId xmlns:a16="http://schemas.microsoft.com/office/drawing/2014/main" id="{B940AFDE-1B3F-4F7F-ABA2-9345C1BE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2524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ass-small-text">
            <a:extLst xmlns:a="http://schemas.openxmlformats.org/drawingml/2006/main">
              <a:ext uri="{FF2B5EF4-FFF2-40B4-BE49-F238E27FC236}">
                <a16:creationId xmlns:a16="http://schemas.microsoft.com/office/drawing/2014/main" id="{6D07E430-C17A-4630-8299-A55AFF40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05300"/>
            <a:ext cx="2266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n: số ảnh của lớp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F1: mean 3 seed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Đủ 19 lớp: phụ lục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2C9A0-5308-4FFF-A0DF-C067288F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095375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952625"/>
                <a:gridCol w="1952625"/>
                <a:gridCol w="1952625"/>
                <a:gridCol w="1952625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Đạo ôn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Bình thường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Tungro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Cỏ dại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89,5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76,7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82,1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"/>
          <p:cNvGraphicFramePr/>
          <p:nvPr/>
        </p:nvGraphicFramePr>
        <p:xfrm>
          <a:off xmlns:a="http://schemas.openxmlformats.org/drawingml/2006/main" x="619125" y="53816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ShuffleNet suy giảm rõ ở Tungro (76,7%) và cỏ dại (82,1%); bảng đầy đủ ở slide 20–21.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6943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0">
            <a:extLst xmlns:a="http://schemas.openxmlformats.org/drawingml/2006/main">
              <a:ext uri="{FF2B5EF4-FFF2-40B4-BE49-F238E27FC236}">
                <a16:creationId xmlns:a16="http://schemas.microsoft.com/office/drawing/2014/main" id="{E10E2226-76B8-4DD1-8376-82F56B4E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Thứ hạng giữ nguyên khi bỏ tám lớp support thấp</a:t>
            </a:r>
          </a:p>
        </p:txBody>
      </p:sp>
      <p:sp>
        <p:nvSpPr>
          <p:cNvPr id="2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A95F6E64-9507-43C0-B33C-36B3B027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10">
            <a:extLst xmlns:a="http://schemas.openxmlformats.org/drawingml/2006/main">
              <a:ext uri="{FF2B5EF4-FFF2-40B4-BE49-F238E27FC236}">
                <a16:creationId xmlns:a16="http://schemas.microsoft.com/office/drawing/2014/main" id="{7F77577C-2527-4653-A96B-60128ABD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error-read-title">
            <a:extLst xmlns:a="http://schemas.openxmlformats.org/drawingml/2006/main">
              <a:ext uri="{FF2B5EF4-FFF2-40B4-BE49-F238E27FC236}">
                <a16:creationId xmlns:a16="http://schemas.microsoft.com/office/drawing/2014/main" id="{95142EA5-F43E-454F-B653-08333BBC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Cách đọc ví dụ</a:t>
            </a:r>
          </a:p>
        </p:txBody>
      </p:sp>
      <p:sp>
        <p:nvSpPr>
          <p:cNvPr id="6" name="error-read">
            <a:extLst xmlns:a="http://schemas.openxmlformats.org/drawingml/2006/main">
              <a:ext uri="{FF2B5EF4-FFF2-40B4-BE49-F238E27FC236}">
                <a16:creationId xmlns:a16="http://schemas.microsoft.com/office/drawing/2014/main" id="{BB020F84-6BB3-4E28-AC1E-053A007B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14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Leaf smut → bạc lá:</a:t>
            </a:r>
          </a:p>
          <a:p xmlns:a="http://schemas.openxmlformats.org/drawingml/2006/main">
            <a:pPr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 lượt nhầm / (21 ảnh × 3 seed) = 4,76%.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Cùng 21 ảnh được đánh giá bởi 3 mô hình đã train.</a:t>
            </a:r>
          </a:p>
        </p:txBody>
      </p:sp>
      <p:sp>
        <p:nvSpPr>
          <p:cNvPr id="7" name="error-example">
            <a:extLst xmlns:a="http://schemas.openxmlformats.org/drawingml/2006/main">
              <a:ext uri="{FF2B5EF4-FFF2-40B4-BE49-F238E27FC236}">
                <a16:creationId xmlns:a16="http://schemas.microsoft.com/office/drawing/2014/main" id="{1C73C4A9-987A-4C42-9B9F-BF38A8D6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rror-example-text">
            <a:extLst xmlns:a="http://schemas.openxmlformats.org/drawingml/2006/main">
              <a:ext uri="{FF2B5EF4-FFF2-40B4-BE49-F238E27FC236}">
                <a16:creationId xmlns:a16="http://schemas.microsoft.com/office/drawing/2014/main" id="{7E0AF6CA-A544-4883-ADAB-84B29094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958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Không coi 63 lượt dự đoán là 63 ảnh độc lập.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D383C-41FD-4A0D-A5AB-8B546E55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476500"/>
                <a:gridCol w="2667000"/>
                <a:gridCol w="238125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 19 lớp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Chuyển tiếp 11 lớp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Chênh lệch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97,764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97,994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+0,230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97,323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97,585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+0,262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96,878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97,234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+0,356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96,658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+0,505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96,184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96,227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+0,043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90,971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+0,553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"/>
          <p:cNvGraphicFramePr/>
          <p:nvPr/>
        </p:nvGraphicFramePr>
        <p:xfrm>
          <a:off xmlns:a="http://schemas.openxmlformats.org/drawingml/2006/main" x="619125" y="55721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Điểm tăng do đổi phạm vi true-label; checkpoint không đổi và dự đoán sang nhãn bị loại vẫn tính sai.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31166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Paired bootstrap: V3-Large so với năm mô hình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Đơn vị: điểm %. Δ dương nghiêng về V3. CI là percentile 95%, 2.000 lần resample theo ảnh.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2714625"/>
                <a:gridCol w="2714625"/>
                <a:gridCol w="2714625"/>
              </a:tblGrid>
              <a:tr h="6953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Δ F1: V3 − đối chiếu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42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123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2026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6953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-0,209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[-0,835; 0,412]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-0,636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[-1,220; -0,074]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-0,382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[-0,970; 0,189]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953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-0,136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[-0,741; 0,492]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-0,212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[-0,851; 0,418]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1,403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[0,737; 2,124]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0,555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[-0,083; 1,208]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0,664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[0,071; 1,332]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0,049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[-0,565; 0,676]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953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0,771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[0,099; 1,458]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2,438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[1,654; 3,227]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0,865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[0,189; 1,570]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4,272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[3,417; 5,152]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6,232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[5,249; 7,222]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7,681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[6,729; 8,723]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Hai mô hình dẫn đầu: B0 và V3-Large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Chênh lệch nhỏ về mean nhưng không đồng nhất qua từng seed.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97,994 ± 0,159%; hạng 1. Điểm từng seed: 97,875 / 98,175 / 97,933.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97,585 ± 0,070%; hạng 2, thấp hơn B0 0,409 điểm % theo mean.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Bootstrap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V3−B0: CI chứa 0 ở seed 42 và 2026; hoàn toàn âm ở seed 123. Không tuyên bố B0 vượt trội thống kê toàn cục.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B0 là mốc chất lượng; V3-Large vẫn đáng ưu tiên khi mục tiêu cuối là mobile.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 và DenseNet-121: hạng giữa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kiến trúc đạt chất lượng cao nhưng không có lợi thế rõ về quy mô.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97,234 ± 0,941%; SD lớn hơn DenseNet do seed 2026 giảm còn 96,148%.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97,163 ± 0,316%; ổn định hơn ResNet trong sensitivity analysis.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Quy mô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Đầu 11 lớp dự kiến: ResNet 11,182M; DenseNet 6,965M.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Chưa có paired bootstrap trực tiếp ResNet–DenseNet; thứ hạng 3–4 chỉ mang tính mô tả.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 và ShuffleNet: độ gọn đổi lấy chất lượng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baseline nhẹ giúp nhìn rõ đường biên triển khai.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96,227 ± 0,981%; V3-Large hơn 1,358 điểm % theo mean.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91,524 ± 1,771%; SD lớn nhất và giảm liên tục từ seed 42 đến 2026.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Triển khai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ShuffleNet nhỏ nhất 1,265M tham số dự kiến, nhưng chất lượng lớp Tungro và cỏ dại giảm mạnh.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Không chọn mô hình chỉ vì nhỏ nhất; cần ngưỡng chất lượng tối thiểu và benchmark mobile thật.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2">
            <a:extLst xmlns:a="http://schemas.openxmlformats.org/drawingml/2006/main">
              <a:ext uri="{FF2B5EF4-FFF2-40B4-BE49-F238E27FC236}">
                <a16:creationId xmlns:a16="http://schemas.microsoft.com/office/drawing/2014/main" id="{43B0008C-E08E-4F23-AB42-B7E9CA3D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Chất lượng chuyển tiếp và số tham số dự kiến</a:t>
            </a:r>
          </a:p>
        </p:txBody>
      </p:sp>
      <p:sp>
        <p:nvSpPr>
          <p:cNvPr id="2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AF43F4CA-8D37-478C-91B1-3467BDEA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12">
            <a:extLst xmlns:a="http://schemas.openxmlformats.org/drawingml/2006/main">
              <a:ext uri="{FF2B5EF4-FFF2-40B4-BE49-F238E27FC236}">
                <a16:creationId xmlns:a16="http://schemas.microsoft.com/office/drawing/2014/main" id="{1151569E-AD51-4E80-A10A-5873A758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resource-insight">
            <a:extLst xmlns:a="http://schemas.openxmlformats.org/drawingml/2006/main">
              <a:ext uri="{FF2B5EF4-FFF2-40B4-BE49-F238E27FC236}">
                <a16:creationId xmlns:a16="http://schemas.microsoft.com/office/drawing/2014/main" id="{0F6D3110-6DE2-459E-8881-F25FF0ED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29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ShuffleNet nhỏ nhất nhưng Macro-F1 thấp nhất.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Chưa đo độ trễ, RAM hoặc năng lượng trên điện thoại.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EF59E-C8E0-49ED-888C-61CF4657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09537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2571750"/>
                <a:gridCol w="2000250"/>
                <a:gridCol w="2762250"/>
              </a:tblGrid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 mean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Tham số 11 đầu ra*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97,994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0,159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4,022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97,585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0,070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4,216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97,234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0,941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11,182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0,316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6,965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96,227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0,981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2,238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1,771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1,265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"/>
          <p:cNvGraphicFramePr/>
          <p:nvPr/>
        </p:nvGraphicFramePr>
        <p:xfrm>
          <a:off xmlns:a="http://schemas.openxmlformats.org/drawingml/2006/main" x="619125" y="55721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*Tham số là phép tính cấu trúc; chưa có checkpoint, thời gian train hoặc latency chính thức của 11 lớp.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14A1C-85EC-48A1-BE52-12E0DCC6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150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</p:spTree>
    <p:extLst>
      <p:ext uri="{BB962C8B-B14F-4D97-AF65-F5344CB8AC3E}">
        <p14:creationId xmlns:p14="http://schemas.microsoft.com/office/powerpoint/2010/main" val="108245891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3">
            <a:extLst xmlns:a="http://schemas.openxmlformats.org/drawingml/2006/main">
              <a:ext uri="{FF2B5EF4-FFF2-40B4-BE49-F238E27FC236}">
                <a16:creationId xmlns:a16="http://schemas.microsoft.com/office/drawing/2014/main" id="{91B1FC95-FEC2-4E8A-8CCC-1C087915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Kiểm toán phép tính và provenance</a:t>
            </a:r>
          </a:p>
        </p:txBody>
      </p:sp>
      <p:sp>
        <p:nvSpPr>
          <p:cNvPr id="2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3EFD848A-6809-415A-ACBE-0773DB59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13">
            <a:extLst xmlns:a="http://schemas.openxmlformats.org/drawingml/2006/main">
              <a:ext uri="{FF2B5EF4-FFF2-40B4-BE49-F238E27FC236}">
                <a16:creationId xmlns:a16="http://schemas.microsoft.com/office/drawing/2014/main" id="{09273645-C816-449B-8BF9-B8EE5C47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" name="high-score">
            <a:extLst xmlns:a="http://schemas.openxmlformats.org/drawingml/2006/main">
              <a:ext uri="{FF2B5EF4-FFF2-40B4-BE49-F238E27FC236}">
                <a16:creationId xmlns:a16="http://schemas.microsoft.com/office/drawing/2014/main" id="{1E73B4F9-2DB7-4349-87C8-E22D4112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18 / 18 file</a:t>
            </a:r>
          </a:p>
        </p:txBody>
      </p:sp>
      <p:sp>
        <p:nvSpPr>
          <p:cNvPr id="5" name="high-score-label">
            <a:extLst xmlns:a="http://schemas.openxmlformats.org/drawingml/2006/main">
              <a:ext uri="{FF2B5EF4-FFF2-40B4-BE49-F238E27FC236}">
                <a16:creationId xmlns:a16="http://schemas.microsoft.com/office/drawing/2014/main" id="{5250DC14-68C7-4F3D-B786-7FD98D8F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3905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18 CSV × 9.376 hàng sau lọc; cùng danh sách ảnh.</a:t>
            </a:r>
          </a:p>
        </p:txBody>
      </p:sp>
      <p:sp>
        <p:nvSpPr>
          <p:cNvPr id="6" name="limit-rule">
            <a:extLst xmlns:a="http://schemas.openxmlformats.org/drawingml/2006/main">
              <a:ext uri="{FF2B5EF4-FFF2-40B4-BE49-F238E27FC236}">
                <a16:creationId xmlns:a16="http://schemas.microsoft.com/office/drawing/2014/main" id="{36087144-6432-4CA7-8BFE-95208601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8112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imit-num-0">
            <a:extLst xmlns:a="http://schemas.openxmlformats.org/drawingml/2006/main">
              <a:ext uri="{FF2B5EF4-FFF2-40B4-BE49-F238E27FC236}">
                <a16:creationId xmlns:a16="http://schemas.microsoft.com/office/drawing/2014/main" id="{A10774EB-94E4-444B-A0AF-24126A2F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28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limit-title-0">
            <a:extLst xmlns:a="http://schemas.openxmlformats.org/drawingml/2006/main">
              <a:ext uri="{FF2B5EF4-FFF2-40B4-BE49-F238E27FC236}">
                <a16:creationId xmlns:a16="http://schemas.microsoft.com/office/drawing/2014/main" id="{3FE1F188-6A11-4AAD-B545-FBD95BD1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Nguồn nhãn</a:t>
            </a:r>
          </a:p>
        </p:txBody>
      </p:sp>
      <p:sp>
        <p:nvSpPr>
          <p:cNvPr id="9" name="limit-body-0">
            <a:extLst xmlns:a="http://schemas.openxmlformats.org/drawingml/2006/main">
              <a:ext uri="{FF2B5EF4-FFF2-40B4-BE49-F238E27FC236}">
                <a16:creationId xmlns:a16="http://schemas.microsoft.com/office/drawing/2014/main" id="{DF347633-AC8E-4BB5-B0E4-9ABC4A34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true_label từ split V2; chỉ lọc theo danh sách 11 lớp.</a:t>
            </a:r>
          </a:p>
        </p:txBody>
      </p:sp>
      <p:sp>
        <p:nvSpPr>
          <p:cNvPr id="10" name="limit-num-1">
            <a:extLst xmlns:a="http://schemas.openxmlformats.org/drawingml/2006/main">
              <a:ext uri="{FF2B5EF4-FFF2-40B4-BE49-F238E27FC236}">
                <a16:creationId xmlns:a16="http://schemas.microsoft.com/office/drawing/2014/main" id="{5880ECD1-21EE-4972-AC18-21239A73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955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limit-title-1">
            <a:extLst xmlns:a="http://schemas.openxmlformats.org/drawingml/2006/main">
              <a:ext uri="{FF2B5EF4-FFF2-40B4-BE49-F238E27FC236}">
                <a16:creationId xmlns:a16="http://schemas.microsoft.com/office/drawing/2014/main" id="{160C83C0-B1D1-414B-8E15-BDEAF599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955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Nguồn dự đoán</a:t>
            </a:r>
          </a:p>
        </p:txBody>
      </p:sp>
      <p:sp>
        <p:nvSpPr>
          <p:cNvPr id="12" name="limit-body-1">
            <a:extLst xmlns:a="http://schemas.openxmlformats.org/drawingml/2006/main">
              <a:ext uri="{FF2B5EF4-FFF2-40B4-BE49-F238E27FC236}">
                <a16:creationId xmlns:a16="http://schemas.microsoft.com/office/drawing/2014/main" id="{AAA64AFD-7FA0-4F45-9275-62877AE0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955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predicted_label giữ nguyên từ classifier 19 đầu ra.</a:t>
            </a:r>
          </a:p>
        </p:txBody>
      </p:sp>
      <p:sp>
        <p:nvSpPr>
          <p:cNvPr id="13" name="limit-num-2">
            <a:extLst xmlns:a="http://schemas.openxmlformats.org/drawingml/2006/main">
              <a:ext uri="{FF2B5EF4-FFF2-40B4-BE49-F238E27FC236}">
                <a16:creationId xmlns:a16="http://schemas.microsoft.com/office/drawing/2014/main" id="{E5114A80-CA6F-4DBA-89E3-4FC61347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62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limit-title-2">
            <a:extLst xmlns:a="http://schemas.openxmlformats.org/drawingml/2006/main">
              <a:ext uri="{FF2B5EF4-FFF2-40B4-BE49-F238E27FC236}">
                <a16:creationId xmlns:a16="http://schemas.microsoft.com/office/drawing/2014/main" id="{9AF12744-88D0-48D1-A583-4C48806C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623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Phép tính</a:t>
            </a:r>
          </a:p>
        </p:txBody>
      </p:sp>
      <p:sp>
        <p:nvSpPr>
          <p:cNvPr id="15" name="limit-body-2">
            <a:extLst xmlns:a="http://schemas.openxmlformats.org/drawingml/2006/main">
              <a:ext uri="{FF2B5EF4-FFF2-40B4-BE49-F238E27FC236}">
                <a16:creationId xmlns:a16="http://schemas.microsoft.com/office/drawing/2014/main" id="{654393D0-6288-41F9-AA10-6262E6BA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Tái lập Accuracy, Macro-P/R/F1, per-class, mean, sample SD và bootstrap.</a:t>
            </a:r>
          </a:p>
        </p:txBody>
      </p:sp>
      <p:sp>
        <p:nvSpPr>
          <p:cNvPr id="16" name="limit-num-3">
            <a:extLst xmlns:a="http://schemas.openxmlformats.org/drawingml/2006/main">
              <a:ext uri="{FF2B5EF4-FFF2-40B4-BE49-F238E27FC236}">
                <a16:creationId xmlns:a16="http://schemas.microsoft.com/office/drawing/2014/main" id="{5A9A4FAE-7E4D-4EA3-B595-268314B1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291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limit-title-3">
            <a:extLst xmlns:a="http://schemas.openxmlformats.org/drawingml/2006/main">
              <a:ext uri="{FF2B5EF4-FFF2-40B4-BE49-F238E27FC236}">
                <a16:creationId xmlns:a16="http://schemas.microsoft.com/office/drawing/2014/main" id="{2BE5482D-DDA4-4AC8-AF0D-AB3E60FE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291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Tệp kết quả</a:t>
            </a:r>
          </a:p>
        </p:txBody>
      </p:sp>
      <p:sp>
        <p:nvSpPr>
          <p:cNvPr id="18" name="limit-body-3">
            <a:extLst xmlns:a="http://schemas.openxmlformats.org/drawingml/2006/main">
              <a:ext uri="{FF2B5EF4-FFF2-40B4-BE49-F238E27FC236}">
                <a16:creationId xmlns:a16="http://schemas.microsoft.com/office/drawing/2014/main" id="{9BC74C7A-17C1-4547-AF29-D31F8C01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291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recalculated_11class_metrics.json là nguồn số duy nhất cho Word, hình và PowerPoint.</a:t>
            </a:r>
          </a:p>
        </p:txBody>
      </p:sp>
      <p:sp>
        <p:nvSpPr>
          <p:cNvPr id="19" name="high-conclusion">
            <a:extLst xmlns:a="http://schemas.openxmlformats.org/drawingml/2006/main">
              <a:ext uri="{FF2B5EF4-FFF2-40B4-BE49-F238E27FC236}">
                <a16:creationId xmlns:a16="http://schemas.microsoft.com/office/drawing/2014/main" id="{19F101A9-9A9A-4D71-B840-DFD4C592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385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igh-conclusion-text">
            <a:extLst xmlns:a="http://schemas.openxmlformats.org/drawingml/2006/main">
              <a:ext uri="{FF2B5EF4-FFF2-40B4-BE49-F238E27FC236}">
                <a16:creationId xmlns:a16="http://schemas.microsoft.com/office/drawing/2014/main" id="{64DD71C4-6C58-496A-8351-A38E663E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3381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Không thay checkpoint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Không renormalize xác suất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Không xóa dữ liệu gốc</a:t>
            </a:r>
          </a:p>
        </p:txBody>
      </p:sp>
    </p:spTree>
    <p:extLst>
      <p:ext uri="{BB962C8B-B14F-4D97-AF65-F5344CB8AC3E}">
        <p14:creationId xmlns:p14="http://schemas.microsoft.com/office/powerpoint/2010/main" val="48332579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Giới hạn bắt buộc khi trình bày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Điểm cao không biến sensitivity analysis thành một thí nghiệm 11 lớp hoàn chỉnh.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Hậu kiểm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 lớp được chốt sau campaign 19 lớp; có nguy cơ quyết định thiết kế chịu ảnh hưởng bởi kết quả đã xem.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Classifier vẫn có 19 logit; số liệu không phản ánh chính xác việc huấn luyện lại đầu 11 lớp và class weights mới.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Tổng quát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Dữ liệu mất cân bằng; chưa có external test, group split theo ruộng/cây/phiên chụp hay mobile benchmark.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Chỉ sau khi khóa protocol và train đủ 18 run 11 lớp mới được cập nhật kết luận chính thức.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14">
            <a:extLst xmlns:a="http://schemas.openxmlformats.org/drawingml/2006/main">
              <a:ext uri="{FF2B5EF4-FFF2-40B4-BE49-F238E27FC236}">
                <a16:creationId xmlns:a16="http://schemas.microsoft.com/office/drawing/2014/main" id="{5FDB4365-AB47-4A4B-9673-7A7036BB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Kết luận sơ bộ và bước tiếp theo</a:t>
            </a:r>
          </a:p>
        </p:txBody>
      </p:sp>
      <p:sp>
        <p:nvSpPr>
          <p:cNvPr id="2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DD379C15-C89C-4FFC-9AFB-844BD68D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14">
            <a:extLst xmlns:a="http://schemas.openxmlformats.org/drawingml/2006/main">
              <a:ext uri="{FF2B5EF4-FFF2-40B4-BE49-F238E27FC236}">
                <a16:creationId xmlns:a16="http://schemas.microsoft.com/office/drawing/2014/main" id="{275C531F-FC6B-4598-8CE6-D44CE9AE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4" name="final-claim">
            <a:extLst xmlns:a="http://schemas.openxmlformats.org/drawingml/2006/main">
              <a:ext uri="{FF2B5EF4-FFF2-40B4-BE49-F238E27FC236}">
                <a16:creationId xmlns:a16="http://schemas.microsoft.com/office/drawing/2014/main" id="{1B671FD6-F5A9-41F0-A137-DAC2BC08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Thứ hạng ổn định; bằng chứng 11 lớp vẫn chưa hoàn tất.</a:t>
            </a:r>
          </a:p>
        </p:txBody>
      </p:sp>
      <p:sp>
        <p:nvSpPr>
          <p:cNvPr id="5" name="rec-label-0">
            <a:extLst xmlns:a="http://schemas.openxmlformats.org/drawingml/2006/main">
              <a:ext uri="{FF2B5EF4-FFF2-40B4-BE49-F238E27FC236}">
                <a16:creationId xmlns:a16="http://schemas.microsoft.com/office/drawing/2014/main" id="{5D9A0ACA-8BB3-46E9-88B3-8AC1CA3C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6" name="rec-body-0">
            <a:extLst xmlns:a="http://schemas.openxmlformats.org/drawingml/2006/main">
              <a:ext uri="{FF2B5EF4-FFF2-40B4-BE49-F238E27FC236}">
                <a16:creationId xmlns:a16="http://schemas.microsoft.com/office/drawing/2014/main" id="{D85B99F4-B4FD-40B7-B12B-7EE39E6E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833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B0 dẫn đầu 97,994% Macro-F1; V3-Large thứ hai 97,585%; ShuffleNet thấp nhất 91,524%.</a:t>
            </a:r>
          </a:p>
        </p:txBody>
      </p:sp>
      <p:sp>
        <p:nvSpPr>
          <p:cNvPr id="7" name="rec-rule-0">
            <a:extLst xmlns:a="http://schemas.openxmlformats.org/drawingml/2006/main">
              <a:ext uri="{FF2B5EF4-FFF2-40B4-BE49-F238E27FC236}">
                <a16:creationId xmlns:a16="http://schemas.microsoft.com/office/drawing/2014/main" id="{F6B77484-81C7-4BE2-8E3A-D1822B45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38500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-label-1">
            <a:extLst xmlns:a="http://schemas.openxmlformats.org/drawingml/2006/main">
              <a:ext uri="{FF2B5EF4-FFF2-40B4-BE49-F238E27FC236}">
                <a16:creationId xmlns:a16="http://schemas.microsoft.com/office/drawing/2014/main" id="{2EE58283-4101-4386-8A7C-3BE08599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Ý NGHĨA</a:t>
            </a:r>
          </a:p>
        </p:txBody>
      </p:sp>
      <p:sp>
        <p:nvSpPr>
          <p:cNvPr id="9" name="rec-body-1">
            <a:extLst xmlns:a="http://schemas.openxmlformats.org/drawingml/2006/main">
              <a:ext uri="{FF2B5EF4-FFF2-40B4-BE49-F238E27FC236}">
                <a16:creationId xmlns:a16="http://schemas.microsoft.com/office/drawing/2014/main" id="{C73C4BDE-562F-4D97-8548-77FB3FCF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76625"/>
            <a:ext cx="833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Loại tám true-label support thấp không làm đảo thứ hạng; kết luận backbone có độ bền mô tả trong sensitivity analysis.</a:t>
            </a:r>
          </a:p>
        </p:txBody>
      </p:sp>
      <p:sp>
        <p:nvSpPr>
          <p:cNvPr id="10" name="rec-rule-1">
            <a:extLst xmlns:a="http://schemas.openxmlformats.org/drawingml/2006/main">
              <a:ext uri="{FF2B5EF4-FFF2-40B4-BE49-F238E27FC236}">
                <a16:creationId xmlns:a16="http://schemas.microsoft.com/office/drawing/2014/main" id="{4BAA5F34-8230-44C2-8DE1-FD66627B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38625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-label-2">
            <a:extLst xmlns:a="http://schemas.openxmlformats.org/drawingml/2006/main">
              <a:ext uri="{FF2B5EF4-FFF2-40B4-BE49-F238E27FC236}">
                <a16:creationId xmlns:a16="http://schemas.microsoft.com/office/drawing/2014/main" id="{7F9CF0F5-5E75-43D7-9C5D-39167203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TIẾP THEO</a:t>
            </a:r>
          </a:p>
        </p:txBody>
      </p:sp>
      <p:sp>
        <p:nvSpPr>
          <p:cNvPr id="12" name="rec-body-2">
            <a:extLst xmlns:a="http://schemas.openxmlformats.org/drawingml/2006/main">
              <a:ext uri="{FF2B5EF4-FFF2-40B4-BE49-F238E27FC236}">
                <a16:creationId xmlns:a16="http://schemas.microsoft.com/office/drawing/2014/main" id="{217D1F94-BDD3-4A28-B5C7-7058B780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833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Khóa manifest 11 lớp → train lại 6 mô hình × 3 seed → mở final test → benchmark mobile cùng thiết bị/runtime.</a:t>
            </a:r>
          </a:p>
        </p:txBody>
      </p:sp>
      <p:sp>
        <p:nvSpPr>
          <p:cNvPr id="13" name="rec-rule-2">
            <a:extLst xmlns:a="http://schemas.openxmlformats.org/drawingml/2006/main">
              <a:ext uri="{FF2B5EF4-FFF2-40B4-BE49-F238E27FC236}">
                <a16:creationId xmlns:a16="http://schemas.microsoft.com/office/drawing/2014/main" id="{ABE0F5C2-7B12-4CB1-B7CF-B223EDA2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38750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inal-close">
            <a:extLst xmlns:a="http://schemas.openxmlformats.org/drawingml/2006/main">
              <a:ext uri="{FF2B5EF4-FFF2-40B4-BE49-F238E27FC236}">
                <a16:creationId xmlns:a16="http://schemas.microsoft.com/office/drawing/2014/main" id="{14B26AA6-943B-4958-A27F-9D3D1BAB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Không dùng số liệu chuyển tiếp làm kết quả cuối của bài báo 11 lớp.</a:t>
            </a:r>
          </a:p>
        </p:txBody>
      </p:sp>
    </p:spTree>
    <p:extLst>
      <p:ext uri="{BB962C8B-B14F-4D97-AF65-F5344CB8AC3E}">
        <p14:creationId xmlns:p14="http://schemas.microsoft.com/office/powerpoint/2010/main" val="2082982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2026-09-04T02:17:31.4610000Z</dcterms:created>
  <dcterms:modified xsi:type="dcterms:W3CDTF">2026-09-04T02:17:31.4610000Z</dcterms:modified>
</coreProperties>
</file>