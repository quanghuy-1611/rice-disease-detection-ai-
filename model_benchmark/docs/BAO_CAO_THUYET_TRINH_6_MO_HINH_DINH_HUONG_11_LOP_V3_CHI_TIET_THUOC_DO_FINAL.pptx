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Tên đề tài đã đổi theo phạm vi 11 nhóm. Phải nói rõ đây là phân tích chuyển tiếp: checkpoint vẫn có 19 đầu ra.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Phạm vi nhãn gồm bệnh, sinh vật gây hại, cỏ dại và trạng thái bình thường; không gọi chung là 11 bệnh.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 lớp được chọn theo support, không chọn theo F1. Quyết định này xảy ra sau campaign 19 lớp nên phải ghi là thiết kế chuyển tiếp.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lấy trực tiếp từ split_counts trong JSON tái tính.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 trình này bảo thủ hơn việc loại 8 logit rồi renormalize vì mọi dự đoán ngoài 11 lớp đều là lỗi.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dùng số tham số dự kiến làm bằng chứng về latency hoặc bộ nhớ mobile.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quy chênh lệch F1 cho một block riêng lẻ nếu chưa ablation.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so sánh FLOPs vì campaign chưa lưu FLOPs thống nhất.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gọi ShuffleNet nhanh nhất khi chưa benchmark cùng runtime.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Giữ hồ sơ thực nghiệm đúng với log; không suy diễn cấu hình máy từ lời kể.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 lấy từ train_backbone.py và final_evaluate_v2.py.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protocol đề xuất, chưa chạy.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tổng hợp vai trò của toàn bộ thước đo. Các slide 15–16 giải thích chi tiết metric và độ bất định; slide 20–24 trình bày kết quả từng lớp và bootstrap.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chính thức phải được khóa trước huấn luyện.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phương pháp chính thức:</a:t>
            </a:r>
          </a:p>
          <a:p>
            <a:r>
              <a:t>https://scikit-learn.org/stable/modules/generated/sklearn.metrics.accuracy_score.html</a:t>
            </a:r>
          </a:p>
          <a:p>
            <a:r>
              <a:t>https://scikit-learn.org/stable/modules/generated/sklearn.metrics.precision_score.html</a:t>
            </a:r>
          </a:p>
          <a:p>
            <a:r>
              <a:t>https://scikit-learn.org/stable/modules/generated/sklearn.metrics.recall_score.html</a:t>
            </a:r>
          </a:p>
          <a:p>
            <a:r>
              <a:t>https://scikit-learn.org/stable/modules/generated/sklearn.metrics.f1_score.html</a:t>
            </a:r>
          </a:p>
          <a:p>
            <a:r>
              <a:t>Giá trị được tái tính từ 18 file test_predictions.csv trên 9.376 ảnh.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 phương pháp:</a:t>
            </a:r>
          </a:p>
          <a:p>
            <a:r>
              <a:t>NIST Measures of Scale: https://www.itl.nist.gov/div898/handbook/eda/section3/eda356.htm</a:t>
            </a:r>
          </a:p>
          <a:p>
            <a:r>
              <a:t>Efron, B. 1979. Bootstrap Methods: Another Look at the Jackknife. DOI: https://doi.org/10.1214/aos/1176344552</a:t>
            </a:r>
          </a:p>
          <a:p>
            <a:r>
              <a:t>scikit-learn resample: https://scikit-learn.org/stable/modules/generated/sklearn.utils.resample.html</a:t>
            </a:r>
          </a:p>
          <a:p>
            <a:r>
              <a:t>Bootstrap giữ cặp dự đoán trên cùng 9.376 ảnh.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Bar chart dùng aggregate.macro_f1.mean trong JSON 11 lớp.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Mọi ô được đọc tự động từ aggregate trong JSON.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Các điểm là Macro-F1 từng seed sau lọc 11 true labels.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per_class lấy từ JSON.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suy luận lớp khó chỉ từ support; cần xem ảnh và confusion matrix.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Bốn lớp được chọn để minh họa; bảng đầy đủ ở slide 20–21.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Bảng đối chiếu aggregate 19 lớp cũ với sensitivity 11 lớp.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hiệu chỉnh đa so sánh; đây không phải CI của mean qua ba seed.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Lựa chọn deployment cần latency/RAM/năng lượng, chưa chỉ Macro-F1.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dùng tham số để suy latency.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Chưa có inference benchmark cho 11-output model.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tách chất lượng sensitivity khỏi tài nguyên dự kiến.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Có thể audit lại bằng script build_11class_transition_report.py.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Không chọn hoặc loại thêm lớp dựa vào F1 hiện tại.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Khi thuyết trình, nhắc câu cảnh báo trước khi đọc bảng kết quả.</a:t>
            </a:r>
          </a:p>
          <a:p>
            <a:endParaRPr/>
          </a:p>
          <a:p>
            <a:r>
              <a:t>[Sources]</a:t>
            </a:r>
          </a:p>
          <a:p>
            <a:r>
              <a:t>- D:/Phát hiện bệnh cây lúa/model_benchmark/docs/results_report_assets_11class/recalculated_11class_metrics.json</a:t>
            </a:r>
          </a:p>
          <a:p>
            <a:r>
              <a:t>- D:/Phát hiện bệnh cây lúa/model_benchmark/runs/final_test_v2</a:t>
            </a:r>
          </a:p>
          <a:p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eyebrow">
            <a:extLst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noGrp="1"/>
          </p:cNvSpPr>
          <p:nvPr/>
        </p:nvSpPr>
        <p:spPr>
          <a:xfrm>
            <a:off x="457200" y="4381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7620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01"/>
          </a:bodyPr>
          <a:lstStyle/>
          <a:p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sáu kiến trúc CNN trong nhận diện 11 nhóm bệnh, sinh vật gây hại và trạng thái cây lúa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tích chuyển tiếp từ campaign 19 lớp</a:t>
            </a:r>
          </a:p>
          <a:p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đầu ra chính thức chưa huấn luyện</a:t>
            </a: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ver-stat">
            <a:extLst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noGrp="1"/>
          </p:cNvSpPr>
          <p:nvPr/>
        </p:nvSpPr>
        <p:spPr>
          <a:xfrm>
            <a:off x="9239250" y="2143125"/>
            <a:ext cx="238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noGrp="1"/>
          </p:cNvSpPr>
          <p:nvPr/>
        </p:nvSpPr>
        <p:spPr>
          <a:xfrm>
            <a:off x="9239250" y="2905125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lần train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noGrp="1"/>
          </p:cNvSpPr>
          <p:nvPr/>
        </p:nvSpPr>
        <p:spPr>
          <a:xfrm>
            <a:off x="476250" y="5953125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nghiên cứu và phạm vi 11 nhóm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Mục tiêu hiện tại là kiểm tra độ bền của thứ hạng trước khi huấn luyện lại classifier 11 đầu ra.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Accuracy, Macro-Precision, Macro-Recall và Macro-F1 trên 9.376 ảnh thuộc 11 lớp đủ support.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backbone có ba checkpoint từ seed 42, 123 và 2026; báo cáo từng seed, mean và sample SD.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trung thực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Dự đoán rơi vào 8 nhãn bị loại vẫn tính sai; không renormalize xác suất và không gọi đây là mô hình 11 lớp đã train.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Đây là phân tích độ nhạy để thiết kế campaign mới, không phải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3">
            <a:extLst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Từ 65.516 ảnh đến phạm vi 11 lớp</a:t>
            </a:r>
          </a:p>
        </p:txBody>
      </p:sp>
      <p:sp>
        <p:nvSpPr>
          <p:cNvPr id="2" name="title-rule-3">
            <a:extLst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3">
            <a:extLst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3238500" cy="1952625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plit-num-0">
            <a:extLst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noGrp="1"/>
          </p:cNvSpPr>
          <p:nvPr/>
        </p:nvSpPr>
        <p:spPr>
          <a:xfrm>
            <a:off x="695325" y="185737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noGrp="1"/>
          </p:cNvSpPr>
          <p:nvPr/>
        </p:nvSpPr>
        <p:spPr>
          <a:xfrm>
            <a:off x="704850" y="25812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noGrp="1"/>
          </p:cNvSpPr>
          <p:nvPr/>
        </p:nvSpPr>
        <p:spPr>
          <a:xfrm>
            <a:off x="704850" y="2981325"/>
            <a:ext cx="280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Học từ ảnh</a:t>
            </a:r>
          </a:p>
        </p:txBody>
      </p:sp>
      <p:sp>
        <p:nvSpPr>
          <p:cNvPr id="8" name="split-1">
            <a:extLst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noGrp="1"/>
          </p:cNvSpPr>
          <p:nvPr/>
        </p:nvSpPr>
        <p:spPr>
          <a:xfrm>
            <a:off x="4171950" y="1524000"/>
            <a:ext cx="3238500" cy="1952625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plit-num-1">
            <a:extLst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noGrp="1"/>
          </p:cNvSpPr>
          <p:nvPr/>
        </p:nvSpPr>
        <p:spPr>
          <a:xfrm>
            <a:off x="4410075" y="185737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noGrp="1"/>
          </p:cNvSpPr>
          <p:nvPr/>
        </p:nvSpPr>
        <p:spPr>
          <a:xfrm>
            <a:off x="4419600" y="25812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noGrp="1"/>
          </p:cNvSpPr>
          <p:nvPr/>
        </p:nvSpPr>
        <p:spPr>
          <a:xfrm>
            <a:off x="4419600" y="2981325"/>
            <a:ext cx="280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checkpoint tốt nhất</a:t>
            </a:r>
          </a:p>
        </p:txBody>
      </p:sp>
      <p:sp>
        <p:nvSpPr>
          <p:cNvPr id="12" name="split-2">
            <a:extLst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noGrp="1"/>
          </p:cNvSpPr>
          <p:nvPr/>
        </p:nvSpPr>
        <p:spPr>
          <a:xfrm>
            <a:off x="7886700" y="1524000"/>
            <a:ext cx="3238500" cy="195262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plit-num-2">
            <a:extLst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noGrp="1"/>
          </p:cNvSpPr>
          <p:nvPr/>
        </p:nvSpPr>
        <p:spPr>
          <a:xfrm>
            <a:off x="8124825" y="185737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noGrp="1"/>
          </p:cNvSpPr>
          <p:nvPr/>
        </p:nvSpPr>
        <p:spPr>
          <a:xfrm>
            <a:off x="8134350" y="25812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noGrp="1"/>
          </p:cNvSpPr>
          <p:nvPr/>
        </p:nvSpPr>
        <p:spPr>
          <a:xfrm>
            <a:off x="8134350" y="2981325"/>
            <a:ext cx="280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cuối cùng</a:t>
            </a:r>
          </a:p>
        </p:txBody>
      </p:sp>
      <p:sp>
        <p:nvSpPr>
          <p:cNvPr id="16" name="data-notes">
            <a:extLst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Split V2 khóa: train 45.858 • validation 9.829 • test 9.829</a:t>
            </a:r>
          </a:p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Quy tắc hậu kiểm: giữ lớp có support test ≥ 100</a:t>
            </a:r>
          </a:p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11 lớp giữ lại: 9.376 ảnh test; 8 lớp tạm loại: 453 ảnh</a:t>
            </a:r>
          </a:p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Không xóa dữ liệu gốc, không sửa checkpoint hay CSV dự đoán</a:t>
            </a:r>
          </a:p>
        </p:txBody>
      </p:sp>
      <p:sp>
        <p:nvSpPr>
          <p:cNvPr id="17" name="data-caveat">
            <a:extLst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noGrp="1"/>
          </p:cNvSpPr>
          <p:nvPr/>
        </p:nvSpPr>
        <p:spPr>
          <a:xfrm>
            <a:off x="7524750" y="3952875"/>
            <a:ext cx="3762375" cy="1428750"/>
          </a:xfrm>
          <a:prstGeom prst="rect">
            <a:avLst/>
          </a:prstGeom>
          <a:solidFill>
            <a:srgbClr val="FFF4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ata-caveat-title">
            <a:extLst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noGrp="1"/>
          </p:cNvSpPr>
          <p:nvPr/>
        </p:nvSpPr>
        <p:spPr>
          <a:xfrm>
            <a:off x="7791450" y="42100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noGrp="1"/>
          </p:cNvSpPr>
          <p:nvPr/>
        </p:nvSpPr>
        <p:spPr>
          <a:xfrm>
            <a:off x="7791450" y="4619625"/>
            <a:ext cx="314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theo cây, ruộng hoặc phiên chụp. Đây là test nội bộ.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Mười một lớp được giữ theo ngưỡng support test ≥ 100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Tổng test: 9.376 ảnh. Hai lớp lớn nhất: sâu đục thân 2.973 và rầy nâu 2.786 ảnh.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nhỏ nhất còn giữ: ốc bươu vàng 122 ảnh; dữ liệu vẫn mất cân bằng.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257300"/>
          <a:ext cx="10953750" cy="4619628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1674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13001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18573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1540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1434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566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8232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1756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13875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19821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759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9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1114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1592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-5">
            <a:extLst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Luồng tái tính: giữ nguyên dự đoán 19 đầu ra</a:t>
            </a:r>
          </a:p>
        </p:txBody>
      </p:sp>
      <p:sp>
        <p:nvSpPr>
          <p:cNvPr id="2" name="title-rule-5">
            <a:extLst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5">
            <a:extLst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noGrp="1"/>
          </p:cNvSpPr>
          <p:nvPr/>
        </p:nvSpPr>
        <p:spPr>
          <a:xfrm>
            <a:off x="2238375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low-line-1">
            <a:extLst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noGrp="1"/>
          </p:cNvSpPr>
          <p:nvPr/>
        </p:nvSpPr>
        <p:spPr>
          <a:xfrm>
            <a:off x="4476750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line-2">
            <a:extLst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noGrp="1"/>
          </p:cNvSpPr>
          <p:nvPr/>
        </p:nvSpPr>
        <p:spPr>
          <a:xfrm>
            <a:off x="6715125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-line-3">
            <a:extLst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noGrp="1"/>
          </p:cNvSpPr>
          <p:nvPr/>
        </p:nvSpPr>
        <p:spPr>
          <a:xfrm>
            <a:off x="8953500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-node-0">
            <a:extLst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low-num-0">
            <a:extLst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LỌC NHÃN THẬT</a:t>
            </a:r>
          </a:p>
        </p:txBody>
      </p:sp>
      <p:sp>
        <p:nvSpPr>
          <p:cNvPr id="11" name="flow-body-0">
            <a:extLst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giữ hàng test có true_label thuộc 11 lớp.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noGrp="1"/>
          </p:cNvSpPr>
          <p:nvPr/>
        </p:nvSpPr>
        <p:spPr>
          <a:xfrm>
            <a:off x="2695575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low-num-1">
            <a:extLst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noGrp="1"/>
          </p:cNvSpPr>
          <p:nvPr/>
        </p:nvSpPr>
        <p:spPr>
          <a:xfrm>
            <a:off x="2867025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noGrp="1"/>
          </p:cNvSpPr>
          <p:nvPr/>
        </p:nvSpPr>
        <p:spPr>
          <a:xfrm>
            <a:off x="2867025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DỰ ĐOÁN</a:t>
            </a:r>
          </a:p>
        </p:txBody>
      </p:sp>
      <p:sp>
        <p:nvSpPr>
          <p:cNvPr id="15" name="flow-body-1">
            <a:extLst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noGrp="1"/>
          </p:cNvSpPr>
          <p:nvPr/>
        </p:nvSpPr>
        <p:spPr>
          <a:xfrm>
            <a:off x="2867025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12" lnSpcReduction="10000"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ép predicted_label vào 11 lớp; dự đoán sang lớp loại = sai.</a:t>
            </a:r>
          </a:p>
        </p:txBody>
      </p:sp>
      <p:sp>
        <p:nvSpPr>
          <p:cNvPr id="16" name="flow-node-2">
            <a:extLst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noGrp="1"/>
          </p:cNvSpPr>
          <p:nvPr/>
        </p:nvSpPr>
        <p:spPr>
          <a:xfrm>
            <a:off x="4933950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low-num-2">
            <a:extLst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noGrp="1"/>
          </p:cNvSpPr>
          <p:nvPr/>
        </p:nvSpPr>
        <p:spPr>
          <a:xfrm>
            <a:off x="5105400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noGrp="1"/>
          </p:cNvSpPr>
          <p:nvPr/>
        </p:nvSpPr>
        <p:spPr>
          <a:xfrm>
            <a:off x="5105400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LẠI</a:t>
            </a:r>
          </a:p>
        </p:txBody>
      </p:sp>
      <p:sp>
        <p:nvSpPr>
          <p:cNvPr id="19" name="flow-body-2">
            <a:extLst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noGrp="1"/>
          </p:cNvSpPr>
          <p:nvPr/>
        </p:nvSpPr>
        <p:spPr>
          <a:xfrm>
            <a:off x="5105400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Accuracy, Macro-P/R/F1 cho 11 nhãn.</a:t>
            </a:r>
          </a:p>
        </p:txBody>
      </p:sp>
      <p:sp>
        <p:nvSpPr>
          <p:cNvPr id="20" name="flow-node-3">
            <a:extLst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noGrp="1"/>
          </p:cNvSpPr>
          <p:nvPr/>
        </p:nvSpPr>
        <p:spPr>
          <a:xfrm>
            <a:off x="7172325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low-num-3">
            <a:extLst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noGrp="1"/>
          </p:cNvSpPr>
          <p:nvPr/>
        </p:nvSpPr>
        <p:spPr>
          <a:xfrm>
            <a:off x="7343775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noGrp="1"/>
          </p:cNvSpPr>
          <p:nvPr/>
        </p:nvSpPr>
        <p:spPr>
          <a:xfrm>
            <a:off x="7343775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GỘP 3 SEED</a:t>
            </a:r>
          </a:p>
        </p:txBody>
      </p:sp>
      <p:sp>
        <p:nvSpPr>
          <p:cNvPr id="23" name="flow-body-3">
            <a:extLst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noGrp="1"/>
          </p:cNvSpPr>
          <p:nvPr/>
        </p:nvSpPr>
        <p:spPr>
          <a:xfrm>
            <a:off x="7343775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39"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sample SD và paired bootstrap 2.000 mẫu.</a:t>
            </a:r>
          </a:p>
        </p:txBody>
      </p:sp>
      <p:sp>
        <p:nvSpPr>
          <p:cNvPr id="24" name="flow-node-4">
            <a:extLst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noGrp="1"/>
          </p:cNvSpPr>
          <p:nvPr/>
        </p:nvSpPr>
        <p:spPr>
          <a:xfrm>
            <a:off x="9410700" y="2095500"/>
            <a:ext cx="1809750" cy="1866900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low-num-4">
            <a:extLst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noGrp="1"/>
          </p:cNvSpPr>
          <p:nvPr/>
        </p:nvSpPr>
        <p:spPr>
          <a:xfrm>
            <a:off x="9582150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noGrp="1"/>
          </p:cNvSpPr>
          <p:nvPr/>
        </p:nvSpPr>
        <p:spPr>
          <a:xfrm>
            <a:off x="9582150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ĐỊNH HƯỚNG</a:t>
            </a:r>
          </a:p>
        </p:txBody>
      </p:sp>
      <p:sp>
        <p:nvSpPr>
          <p:cNvPr id="27" name="flow-body-4">
            <a:extLst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noGrp="1"/>
          </p:cNvSpPr>
          <p:nvPr/>
        </p:nvSpPr>
        <p:spPr>
          <a:xfrm>
            <a:off x="9582150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Chốt protocol để train lại classifier 11 đầu ra.</a:t>
            </a:r>
          </a:p>
        </p:txBody>
      </p:sp>
      <p:sp>
        <p:nvSpPr>
          <p:cNvPr id="28" name="protocol-config">
            <a:extLst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noGrp="1"/>
          </p:cNvSpPr>
          <p:nvPr/>
        </p:nvSpPr>
        <p:spPr>
          <a:xfrm>
            <a:off x="523875" y="453390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: 18 file test_predictions.csv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của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campaign V2 (6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hình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× 3 seed).</a:t>
            </a:r>
          </a:p>
          <a:p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sửa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checkpoint, run manifest, history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hoặc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file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dự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đoán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gốc</a:t>
            </a:r>
            <a:r>
              <a:rPr sz="1800" b="0" dirty="0">
                <a:solidFill>
                  <a:srgbClr val="0B17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9" name="protocol-rule">
            <a:extLst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noGrp="1"/>
          </p:cNvSpPr>
          <p:nvPr/>
        </p:nvSpPr>
        <p:spPr>
          <a:xfrm>
            <a:off x="2286000" y="5572125"/>
            <a:ext cx="7620000" cy="19050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protocol-lock">
            <a:extLst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noGrp="1"/>
          </p:cNvSpPr>
          <p:nvPr/>
        </p:nvSpPr>
        <p:spPr>
          <a:xfrm>
            <a:off x="1333500" y="5772150"/>
            <a:ext cx="971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endParaRPr sz="1650" b="1" dirty="0">
              <a:solidFill>
                <a:srgbClr val="2176A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Sáu backbone giữ nguyên; đầu 11 lớp mới chỉ là dự kiến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*Số tham số dự kiến = backbone hiện tại + classifier 11 đầu ra; chưa có checkpoint 11 lớp.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tự mô hình và pretrained recipe giữ nguyên để campaign mới so sánh công bằng.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381125"/>
          <a:ext cx="10953750" cy="4190998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Cấu trúc chính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đầu 11 lớp*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MBConv + SE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 + SE + h-swish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Residual basic blocks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 connectivity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Channel split + shuffle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MobileNetV3-Large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mạng hướng mobile nhưng V3-Large lớn hơn và có SE/hard-swish.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residual: mở rộng → depthwise → chiếu tuyến tính; đầu 11 lớp dự kiến 2,238 triệu tham số.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 kết hợp SE và hard-swish; đầu 11 lớp dự kiến 4,216 triệu tham số.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V2 là baseline nhẹ; V3-Large là ứng viên mobile chính. Chưa benchmark latency/pin trên cùng điện thoại.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Chất lượng chuyển tiếp V3 cao hơn V2, nhưng deployment vẫn phải đo trên thiết bị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cổ điển đối chiếu shortcut cộng và kết nối đặc trưng dày.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Residual shortcut hỗ trợ dòng gradient; đầu 11 lớp dự kiến 11,182 triệu tham số, lớn nhất nhóm.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Nối đặc trưng từ nhiều lớp trước; đầu 11 lớp dự kiến 6,965 triệu tham số.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liệu backbone nhiều tham số hoặc tái sử dụng đặc trưng có vượt các mạng mobile hay không.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Trong phân tích chuyển tiếp, quy mô tham số không quyết định thứ hạng Macro-F1.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và ShuffleNet V2 1.0×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cực của bài toán chất lượng–độ gọn.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MBConv + SE; đầu 11 lớp dự kiến 4,022 triệu tham số và hiện dẫn đầu Macro-F1 chuyển tiếp.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Channel split và channel shuffle; đầu 11 lớp dự kiến 1,265 triệu tham số, nhỏ nhất nhóm.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Mô hình nhỏ nhất có giữ được chất lượng đủ dùng không? Kết quả hiện tại cho thấy khoảng cách còn lớn.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Mạng gọn chỉ có ý nghĩa triển khai khi chất lượng, latency, RAM và năng lượng đều được đo.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Môi trường và bằng chứng tái lập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Tên GPU không được dùng làm biến giải thích kết quả trong bản 11 lớp.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lớp sau này phải ghi tự động GPU, driver, CUDA, VRAM và thời gian từng run.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381125"/>
          <a:ext cx="10953750" cy="4190998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tin có bằng chứng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Python 3.11.9 • PyTorch 2.2.1+cu121 • TorchVision 0.17.1+cu121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Nền tảng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Windows • CUDA; run manifest không lưu tên model GPU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42, 123, 2026; khóa Python / NumPy / Torch / CUDA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Chế độ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Deterministic algorithms; tắt cuDNN benchmark và TF32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Split/manifest khóa SHA-256; cùng danh sách ảnh cho mọi run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Không đổi tên GPU thành phần cứng không được log trong run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Tiền xử lý phải giữ nguyên khi train lại 11 lớp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Thay số đầu ra, không đổi pipeline để bảo đảm phép so sánh còn cùng điều kiện.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RGB → resize 224×224 bilinear, antialias → tensor [0,1] → ImageNet mean/std.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Lật ngang, xoay, dịch, scale và color jitter theo recipe V2; class weights chỉ tính từ train.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 / test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resize và chuẩn hóa; không TTA, không augmentation ngẫu nhiên và không shuffle test.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Nếu đổi augmentation hoặc resolution, phải coi là campaign khác và không trộn với bảng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Protocol train 11 lớp đề xuất: giữ nguyên ngân sách V2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best checkpoint theo validation Macro-F1; test chỉ mở sau khi đủ 18 run.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lại class weight trên 11 lớp train; khóa manifest mới và SHA-256 trước khi chạy.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381125"/>
          <a:ext cx="10953750" cy="4190998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Thiết lập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Fine-tune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đầu ra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Epoch tối đa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Optimizer / LR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10⁻³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10⁻⁵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Điều khiển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Khung tiêu chí so sánh sáu mô hình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tắc đọc: xếp hạng bằng Macro-F1 mean. Nếu điểm gần nhau, đọc thêm SD và bootstrap.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chọn mô hình triển khai chỉ từ Accuracy hoặc số tham số.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219200"/>
          <a:ext cx="10953750" cy="4534852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sử dụng trong kết luận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Xếp hạng chất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chính. Mỗi lớp có trọng số ngang nhau dù số ảnh khác nhau.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Kiểm tra độ đúng chung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 mean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sung. Không dùng riêng vì các lớp lớn có thể chi phối kết quả.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Giải thích kiểu sai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 và 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 phản ánh dự đoán nhầm vào lớp. Recall phản ánh ảnh thật bị bỏ sót.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ổn định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ba seed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nhỏ cho thấy metric ít dao động hơn khi huấn luyện lại.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Chất lượng từng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kèm support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Xác định lớp yếu và kiểm tra điểm tổng thể có che khuất lớp khó hay không.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chắc chắn của chênh lệch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So sánh chênh lệch Macro-F1 trên cùng ảnh. CI chứa 0 nghĩa là chưa tách biệt rõ.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35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triển khai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số, sau đó latency, RAM và năng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 chỉ phản ánh quy mô. Quyết định mobile cần phép đo trên cùng thiết bị.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-5">
            <a:extLst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Đánh giá 11 lớp sau khi train lại</a:t>
            </a:r>
          </a:p>
        </p:txBody>
      </p:sp>
      <p:sp>
        <p:nvSpPr>
          <p:cNvPr id="2" name="title-rule-5">
            <a:extLst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5">
            <a:extLst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low-line-0">
            <a:extLst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noGrp="1"/>
          </p:cNvSpPr>
          <p:nvPr/>
        </p:nvSpPr>
        <p:spPr>
          <a:xfrm>
            <a:off x="2238375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low-line-1">
            <a:extLst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noGrp="1"/>
          </p:cNvSpPr>
          <p:nvPr/>
        </p:nvSpPr>
        <p:spPr>
          <a:xfrm>
            <a:off x="4476750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line-2">
            <a:extLst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noGrp="1"/>
          </p:cNvSpPr>
          <p:nvPr/>
        </p:nvSpPr>
        <p:spPr>
          <a:xfrm>
            <a:off x="6715125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-line-3">
            <a:extLst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noGrp="1"/>
          </p:cNvSpPr>
          <p:nvPr/>
        </p:nvSpPr>
        <p:spPr>
          <a:xfrm>
            <a:off x="8953500" y="3009900"/>
            <a:ext cx="809625" cy="3810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-node-0">
            <a:extLst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low-num-0">
            <a:extLst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</a:t>
            </a:r>
          </a:p>
        </p:txBody>
      </p:sp>
      <p:sp>
        <p:nvSpPr>
          <p:cNvPr id="11" name="flow-body-0">
            <a:extLst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lớp; SHA-256; cố định split.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noGrp="1"/>
          </p:cNvSpPr>
          <p:nvPr/>
        </p:nvSpPr>
        <p:spPr>
          <a:xfrm>
            <a:off x="2695575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low-num-1">
            <a:extLst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noGrp="1"/>
          </p:cNvSpPr>
          <p:nvPr/>
        </p:nvSpPr>
        <p:spPr>
          <a:xfrm>
            <a:off x="2867025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noGrp="1"/>
          </p:cNvSpPr>
          <p:nvPr/>
        </p:nvSpPr>
        <p:spPr>
          <a:xfrm>
            <a:off x="2867025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 18 RUN</a:t>
            </a:r>
          </a:p>
        </p:txBody>
      </p:sp>
      <p:sp>
        <p:nvSpPr>
          <p:cNvPr id="15" name="flow-body-1">
            <a:extLst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noGrp="1"/>
          </p:cNvSpPr>
          <p:nvPr/>
        </p:nvSpPr>
        <p:spPr>
          <a:xfrm>
            <a:off x="2867025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 backbone × 3 seed; cùng recipe.</a:t>
            </a:r>
          </a:p>
        </p:txBody>
      </p:sp>
      <p:sp>
        <p:nvSpPr>
          <p:cNvPr id="16" name="flow-node-2">
            <a:extLst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noGrp="1"/>
          </p:cNvSpPr>
          <p:nvPr/>
        </p:nvSpPr>
        <p:spPr>
          <a:xfrm>
            <a:off x="4933950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low-num-2">
            <a:extLst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noGrp="1"/>
          </p:cNvSpPr>
          <p:nvPr/>
        </p:nvSpPr>
        <p:spPr>
          <a:xfrm>
            <a:off x="5105400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noGrp="1"/>
          </p:cNvSpPr>
          <p:nvPr/>
        </p:nvSpPr>
        <p:spPr>
          <a:xfrm>
            <a:off x="5105400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CHỌN BẰNG VAL</a:t>
            </a:r>
          </a:p>
        </p:txBody>
      </p:sp>
      <p:sp>
        <p:nvSpPr>
          <p:cNvPr id="19" name="flow-body-2">
            <a:extLst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noGrp="1"/>
          </p:cNvSpPr>
          <p:nvPr/>
        </p:nvSpPr>
        <p:spPr>
          <a:xfrm>
            <a:off x="5105400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Best validation Macro-F1, không nhìn test.</a:t>
            </a:r>
          </a:p>
        </p:txBody>
      </p:sp>
      <p:sp>
        <p:nvSpPr>
          <p:cNvPr id="20" name="flow-node-3">
            <a:extLst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noGrp="1"/>
          </p:cNvSpPr>
          <p:nvPr/>
        </p:nvSpPr>
        <p:spPr>
          <a:xfrm>
            <a:off x="7172325" y="2095500"/>
            <a:ext cx="1809750" cy="18669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low-num-3">
            <a:extLst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noGrp="1"/>
          </p:cNvSpPr>
          <p:nvPr/>
        </p:nvSpPr>
        <p:spPr>
          <a:xfrm>
            <a:off x="7343775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noGrp="1"/>
          </p:cNvSpPr>
          <p:nvPr/>
        </p:nvSpPr>
        <p:spPr>
          <a:xfrm>
            <a:off x="7343775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MỞ TEST 1 LẦN</a:t>
            </a:r>
          </a:p>
        </p:txBody>
      </p:sp>
      <p:sp>
        <p:nvSpPr>
          <p:cNvPr id="23" name="flow-body-3">
            <a:extLst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noGrp="1"/>
          </p:cNvSpPr>
          <p:nvPr/>
        </p:nvSpPr>
        <p:spPr>
          <a:xfrm>
            <a:off x="7343775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từng checkpoint trên 9.376 ảnh.</a:t>
            </a:r>
          </a:p>
        </p:txBody>
      </p:sp>
      <p:sp>
        <p:nvSpPr>
          <p:cNvPr id="24" name="flow-node-4">
            <a:extLst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noGrp="1"/>
          </p:cNvSpPr>
          <p:nvPr/>
        </p:nvSpPr>
        <p:spPr>
          <a:xfrm>
            <a:off x="9410700" y="2095500"/>
            <a:ext cx="1809750" cy="1866900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low-num-4">
            <a:extLst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noGrp="1"/>
          </p:cNvSpPr>
          <p:nvPr/>
        </p:nvSpPr>
        <p:spPr>
          <a:xfrm>
            <a:off x="9582150" y="22860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noGrp="1"/>
          </p:cNvSpPr>
          <p:nvPr/>
        </p:nvSpPr>
        <p:spPr>
          <a:xfrm>
            <a:off x="9582150" y="2809875"/>
            <a:ext cx="147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7" name="flow-body-4">
            <a:extLst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noGrp="1"/>
          </p:cNvSpPr>
          <p:nvPr/>
        </p:nvSpPr>
        <p:spPr>
          <a:xfrm>
            <a:off x="9582150" y="3209925"/>
            <a:ext cx="152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76"/>
          </a:bodyPr>
          <a:lstStyle/>
          <a:p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SD, từng lớp, bootstrap và mobile benchmark.</a:t>
            </a:r>
          </a:p>
        </p:txBody>
      </p:sp>
      <p:sp>
        <p:nvSpPr>
          <p:cNvPr id="28" name="protocol-config">
            <a:extLst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noGrp="1"/>
          </p:cNvSpPr>
          <p:nvPr/>
        </p:nvSpPr>
        <p:spPr>
          <a:xfrm>
            <a:off x="523875" y="453390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Campaign mới phải tạo thư mục output riêng, không ghi đè runs/final_test_v2.</a:t>
            </a:r>
          </a:p>
          <a:p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 con số chuyển tiếp hiện tại chỉ dùng làm mốc kiểm tra hợp lý.</a:t>
            </a:r>
          </a:p>
        </p:txBody>
      </p:sp>
      <p:sp>
        <p:nvSpPr>
          <p:cNvPr id="29" name="protocol-rule">
            <a:extLst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noGrp="1"/>
          </p:cNvSpPr>
          <p:nvPr/>
        </p:nvSpPr>
        <p:spPr>
          <a:xfrm>
            <a:off x="2286000" y="5572125"/>
            <a:ext cx="7620000" cy="19050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protocol-lock">
            <a:extLst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noGrp="1"/>
          </p:cNvSpPr>
          <p:nvPr/>
        </p:nvSpPr>
        <p:spPr>
          <a:xfrm>
            <a:off x="1333500" y="5772150"/>
            <a:ext cx="971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chọn lớp, siêu tham số hoặc mô hình sau khi xem test mới.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Cách tính và kết quả của các thước đo chất lượng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Thước đo được tính xác định từ nhãn thật và dự đoán; chúng không có một “% chính xác” riêng.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Nguồn: scikit-learn official docs — accuracy_score, precision_score, recall_score và f1_score.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238250"/>
          <a:ext cx="10953750" cy="44767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thức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mean sáu 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đọc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dự đoán đúng / 9.376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96,551% đến 99,335%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99,335%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đúng chung. Lớp lớn có thể chi phối.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FPc)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93,074% đến 98,288%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98,288% ± 0,195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gọi nhầm ảnh lớp khác vào lớp c.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11 giá trị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FNc)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90,312% đến 97,717%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97,717%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Thấp khi mô hình bỏ sót ảnh thật của lớp c.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2TPc / (2TPc + FPc + FNc)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Theo lớp và mô hình: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76,711% đến 100,000%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Đọc kèm support. Không dùng true negative.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Trung bình không trọng số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của 11 F1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91,524% đến 97,994%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B0: 97,994%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xếp hạng chính cho dữ liệu mất cân bằng.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-6">
            <a:extLst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tin cậy của SD và paired bootstrap</a:t>
            </a:r>
          </a:p>
        </p:txBody>
      </p:sp>
      <p:sp>
        <p:nvSpPr>
          <p:cNvPr id="2" name="title-rule-6">
            <a:extLst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6">
            <a:extLst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macro-formula">
            <a:extLst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56673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 lớp lớn chiếm 76,54%</a:t>
            </a:r>
          </a:p>
        </p:txBody>
      </p:sp>
      <p:sp>
        <p:nvSpPr>
          <p:cNvPr id="5" name="macro-desc">
            <a:extLst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noGrp="1"/>
          </p:cNvSpPr>
          <p:nvPr/>
        </p:nvSpPr>
        <p:spPr>
          <a:xfrm>
            <a:off x="476250" y="2476500"/>
            <a:ext cx="55245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Rầy nâu, sâu cuốn lá và sâu đục thân chiếm 7.523 / 9.829 ảnh.</a:t>
            </a:r>
          </a:p>
          <a:p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950" b="0">
              <a:solidFill>
                <a:srgbClr val="52616B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9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 cao vẫn có thể che khuất lỗi ở những lớp ít ảnh.</a:t>
            </a:r>
          </a:p>
        </p:txBody>
      </p:sp>
      <p:sp>
        <p:nvSpPr>
          <p:cNvPr id="6" name="metric-separator">
            <a:extLst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19050" cy="371475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etric-h-0">
            <a:extLst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noGrp="1"/>
          </p:cNvSpPr>
          <p:nvPr/>
        </p:nvSpPr>
        <p:spPr>
          <a:xfrm>
            <a:off x="6810375" y="152400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metric-b-0">
            <a:extLst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noGrp="1"/>
          </p:cNvSpPr>
          <p:nvPr/>
        </p:nvSpPr>
        <p:spPr>
          <a:xfrm>
            <a:off x="8953500" y="1524000"/>
            <a:ext cx="2428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ảnh có trọng số như nhau.</a:t>
            </a:r>
          </a:p>
        </p:txBody>
      </p:sp>
      <p:sp>
        <p:nvSpPr>
          <p:cNvPr id="9" name="metric-h-1">
            <a:extLst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noGrp="1"/>
          </p:cNvSpPr>
          <p:nvPr/>
        </p:nvSpPr>
        <p:spPr>
          <a:xfrm>
            <a:off x="6810375" y="247650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10" name="metric-b-1">
            <a:extLst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2428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lớp có trọng số như nhau.</a:t>
            </a:r>
          </a:p>
        </p:txBody>
      </p:sp>
      <p:sp>
        <p:nvSpPr>
          <p:cNvPr id="11" name="metric-h-2">
            <a:extLst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noGrp="1"/>
          </p:cNvSpPr>
          <p:nvPr/>
        </p:nvSpPr>
        <p:spPr>
          <a:xfrm>
            <a:off x="6810375" y="342900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SD qua seed</a:t>
            </a:r>
          </a:p>
        </p:txBody>
      </p:sp>
      <p:sp>
        <p:nvSpPr>
          <p:cNvPr id="12" name="metric-b-2">
            <a:extLst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noGrp="1"/>
          </p:cNvSpPr>
          <p:nvPr/>
        </p:nvSpPr>
        <p:spPr>
          <a:xfrm>
            <a:off x="8953500" y="3429000"/>
            <a:ext cx="2428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Mức dao động khi train lại.</a:t>
            </a:r>
          </a:p>
        </p:txBody>
      </p:sp>
      <p:sp>
        <p:nvSpPr>
          <p:cNvPr id="13" name="metric-h-3">
            <a:extLst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noGrp="1"/>
          </p:cNvSpPr>
          <p:nvPr/>
        </p:nvSpPr>
        <p:spPr>
          <a:xfrm>
            <a:off x="6810375" y="4381500"/>
            <a:ext cx="1952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CI bootstrap</a:t>
            </a:r>
          </a:p>
        </p:txBody>
      </p:sp>
      <p:sp>
        <p:nvSpPr>
          <p:cNvPr id="14" name="metric-b-3">
            <a:extLst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noGrp="1"/>
          </p:cNvSpPr>
          <p:nvPr/>
        </p:nvSpPr>
        <p:spPr>
          <a:xfrm>
            <a:off x="8953500" y="4381500"/>
            <a:ext cx="2428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Bất định do tập ảnh kiểm thử.</a:t>
            </a:r>
          </a:p>
        </p:txBody>
      </p:sp>
      <p:sp>
        <p:nvSpPr>
          <p:cNvPr id="15" name="metric-warning">
            <a:extLst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10810875" cy="666750"/>
          </a:xfrm>
          <a:prstGeom prst="rect">
            <a:avLst/>
          </a:prstGeom>
          <a:solidFill>
            <a:srgbClr val="FFF4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etric-warning-text">
            <a:extLst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Tiêu chí chính: Macro-F1. Accuracy bổ sung; SD và CI không thay thế nhau.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1839AF-6BEE-47AA-A2ED-10F358CAE2E0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9" name="Table 38"/>
          <p:cNvGraphicFramePr/>
          <p:nvPr/>
        </p:nvGraphicFramePr>
        <p:xfrm>
          <a:off x="457200" y="1352550"/>
          <a:ext cx="10953750" cy="356377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tính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hiện tại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Độ tin cậy và giới hạn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 = căn bậc hai của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Σ(xi - x̄)² / (n - 1), n = 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Macro-F1: 0,070 đến 1,771 điểm %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V3-L nhỏ nhất; Shuffle lớn nhất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Mô tả dao động của ba lần train. Mean ± SD không phải CI 95%.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Lấy mẫu có hoàn lại cùng chỉ số ảnh.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 = 2.000; percentile 2,5% đến 97,5%.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 so sánh V3 với năm mô hình × ba seed.</a:t>
                      </a:r>
                    </a:p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 CI chứa 0; 9 CI không chứa 0.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Phản ánh biến thiên do tập ảnh của checkpoint cố định. Chưa gộp biến thiên train và chưa hiệu chỉnh đa so sánh.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Cách diễn giải CI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Tính Δ Macro-F1 cho từng mẫu bootstrap.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chứa 0: chênh lệch chưa tách biệt rõ ở seed đó.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CI 95% không có nghĩa mô hình đúng 95% và không chứng minh quan hệ nhân quả.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329F17D7-4DAB-493F-A20F-443581B23364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Nguồn và mức độ tin cậy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E27D96-882C-4E9D-B178-CCE4D04A3DBB}"/>
              </a:ext>
            </a:extLst>
          </p:cNvPr>
          <p:cNvSpPr>
            <a:spLocks noGrp="1"/>
          </p:cNvSpPr>
          <p:nvPr/>
        </p:nvSpPr>
        <p:spPr>
          <a:xfrm>
            <a:off x="523875" y="5305425"/>
            <a:ext cx="1071562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NIST SEMATECH e-Handbook cung cấp công thức sample SD. Efron 1979 là bài bootstrap gốc đã bình duyệt trên The Annals of Statistics. scikit-learn resample xác nhận cơ chế lấy mẫu có hoàn lại.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7">
            <a:extLst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 Macro-F1 chuyển tiếp</a:t>
            </a:r>
          </a:p>
        </p:txBody>
      </p:sp>
      <p:sp>
        <p:nvSpPr>
          <p:cNvPr id="2" name="title-rule-7">
            <a:extLst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7">
            <a:extLst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winner-panel">
            <a:extLst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noGrp="1"/>
          </p:cNvSpPr>
          <p:nvPr/>
        </p:nvSpPr>
        <p:spPr>
          <a:xfrm>
            <a:off x="8191500" y="1571625"/>
            <a:ext cx="3048000" cy="1619250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winner-label">
            <a:extLst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noGrp="1"/>
          </p:cNvSpPr>
          <p:nvPr/>
        </p:nvSpPr>
        <p:spPr>
          <a:xfrm>
            <a:off x="8429625" y="180975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MEAN ± SD</a:t>
            </a:r>
          </a:p>
        </p:txBody>
      </p:sp>
      <p:sp>
        <p:nvSpPr>
          <p:cNvPr id="7" name="winner-value">
            <a:extLst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noGrp="1"/>
          </p:cNvSpPr>
          <p:nvPr/>
        </p:nvSpPr>
        <p:spPr>
          <a:xfrm>
            <a:off x="8429625" y="2181225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4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97,76%</a:t>
            </a:r>
          </a:p>
        </p:txBody>
      </p:sp>
      <p:sp>
        <p:nvSpPr>
          <p:cNvPr id="8" name="winner-name">
            <a:extLst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noGrp="1"/>
          </p:cNvSpPr>
          <p:nvPr/>
        </p:nvSpPr>
        <p:spPr>
          <a:xfrm>
            <a:off x="8429625" y="278130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855A"/>
                </a:solidFill>
                <a:latin typeface="Arial"/>
                <a:ea typeface="Arial"/>
                <a:cs typeface="Arial"/>
              </a:rPr>
              <a:t>SD = 0,064 điểm %</a:t>
            </a:r>
          </a:p>
        </p:txBody>
      </p:sp>
      <p:sp>
        <p:nvSpPr>
          <p:cNvPr id="9" name="overall-gap">
            <a:extLst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3143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V3-Large: 97,32%</a:t>
            </a:r>
          </a:p>
          <a:p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875" b="0">
              <a:solidFill>
                <a:srgbClr val="0B1720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Chênh lệch B0 − V3:</a:t>
            </a:r>
          </a:p>
          <a:p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+0,441 điểm %</a:t>
            </a:r>
          </a:p>
        </p:txBody>
      </p:sp>
      <p:sp>
        <p:nvSpPr>
          <p:cNvPr id="10" name="axis-note">
            <a:extLst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noGrp="1"/>
          </p:cNvSpPr>
          <p:nvPr/>
        </p:nvSpPr>
        <p:spPr>
          <a:xfrm>
            <a:off x="8191500" y="5238750"/>
            <a:ext cx="314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Thanh bắt đầu từ 0%.</a:t>
            </a:r>
          </a:p>
          <a:p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điểm test nội bộ, không phải độ chính xác thực địa.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6FA711-4BCF-4FF3-912C-2E3319FA31BB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4762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8AEEA-42DA-4DE3-AD27-0B0AE3B199E0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0953750" cy="609600"/>
          </a:xfrm>
          <a:prstGeom prst="rect">
            <a:avLst/>
          </a:prstGeom>
          <a:solidFill>
            <a:srgbClr val="EAF6F0"/>
          </a:solidFill>
          <a:ln w="9525">
            <a:solidFill>
              <a:srgbClr val="2F855A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0" name="Table 59"/>
          <p:cNvGraphicFramePr/>
          <p:nvPr/>
        </p:nvGraphicFramePr>
        <p:xfrm>
          <a:off x="666750" y="1362075"/>
          <a:ext cx="10572750" cy="381000"/>
        </p:xfrm>
        <a:graphic>
          <a:graphicData uri="http://schemas.openxmlformats.org/drawingml/2006/table">
            <a:tbl>
              <a:tblPr/>
              <a:tblGrid>
                <a:gridCol w="105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ý: checkpoint 19 đầu ra; đây chưa phải kết quả của classifier 11 đầu ra.</a:t>
                      </a:r>
                    </a:p>
                  </a:txBody>
                  <a:tcPr anchor="ctr"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4AC22B0-EE8B-475A-AADA-14920175788A}"/>
              </a:ext>
            </a:extLst>
          </p:cNvPr>
          <p:cNvSpPr>
            <a:spLocks noGrp="1"/>
          </p:cNvSpPr>
          <p:nvPr/>
        </p:nvSpPr>
        <p:spPr>
          <a:xfrm>
            <a:off x="333375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EA5E11-95AD-4B52-830B-6D71D5DC8CCE}"/>
              </a:ext>
            </a:extLst>
          </p:cNvPr>
          <p:cNvSpPr>
            <a:spLocks noGrp="1"/>
          </p:cNvSpPr>
          <p:nvPr/>
        </p:nvSpPr>
        <p:spPr>
          <a:xfrm>
            <a:off x="310515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395F3B7-8346-41BE-BB7D-7E020D8AF5F1}"/>
              </a:ext>
            </a:extLst>
          </p:cNvPr>
          <p:cNvSpPr>
            <a:spLocks noGrp="1"/>
          </p:cNvSpPr>
          <p:nvPr/>
        </p:nvSpPr>
        <p:spPr>
          <a:xfrm>
            <a:off x="444500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5A5173-CDCC-4A81-B3DD-E7BB0AE6242F}"/>
              </a:ext>
            </a:extLst>
          </p:cNvPr>
          <p:cNvSpPr>
            <a:spLocks noGrp="1"/>
          </p:cNvSpPr>
          <p:nvPr/>
        </p:nvSpPr>
        <p:spPr>
          <a:xfrm>
            <a:off x="421640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EE7ECE8-CE23-4887-8441-6F6491F951F2}"/>
              </a:ext>
            </a:extLst>
          </p:cNvPr>
          <p:cNvSpPr>
            <a:spLocks noGrp="1"/>
          </p:cNvSpPr>
          <p:nvPr/>
        </p:nvSpPr>
        <p:spPr>
          <a:xfrm>
            <a:off x="555625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6425C9-8525-4326-B497-ABE980A65871}"/>
              </a:ext>
            </a:extLst>
          </p:cNvPr>
          <p:cNvSpPr>
            <a:spLocks noGrp="1"/>
          </p:cNvSpPr>
          <p:nvPr/>
        </p:nvSpPr>
        <p:spPr>
          <a:xfrm>
            <a:off x="532765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6D596E11-92AA-4BDC-B5A4-A49514E4621A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F5E658-BCFA-4BA5-A6E9-60543357F09B}"/>
              </a:ext>
            </a:extLst>
          </p:cNvPr>
          <p:cNvSpPr>
            <a:spLocks noGrp="1"/>
          </p:cNvSpPr>
          <p:nvPr/>
        </p:nvSpPr>
        <p:spPr>
          <a:xfrm>
            <a:off x="643890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B96F15D2-B2F4-4F2E-A6EA-5DCC3DAE788F}"/>
              </a:ext>
            </a:extLst>
          </p:cNvPr>
          <p:cNvSpPr>
            <a:spLocks noGrp="1"/>
          </p:cNvSpPr>
          <p:nvPr/>
        </p:nvSpPr>
        <p:spPr>
          <a:xfrm>
            <a:off x="777875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D55E79-38CB-436E-A040-6437D987509D}"/>
              </a:ext>
            </a:extLst>
          </p:cNvPr>
          <p:cNvSpPr>
            <a:spLocks noGrp="1"/>
          </p:cNvSpPr>
          <p:nvPr/>
        </p:nvSpPr>
        <p:spPr>
          <a:xfrm>
            <a:off x="755015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94DEF26-1F8B-4241-A4CB-8B32ACB84149}"/>
              </a:ext>
            </a:extLst>
          </p:cNvPr>
          <p:cNvSpPr>
            <a:spLocks noGrp="1"/>
          </p:cNvSpPr>
          <p:nvPr/>
        </p:nvSpPr>
        <p:spPr>
          <a:xfrm>
            <a:off x="889000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5D1895-47E8-4471-BED2-D28581C4EFB2}"/>
              </a:ext>
            </a:extLst>
          </p:cNvPr>
          <p:cNvSpPr>
            <a:spLocks noGrp="1"/>
          </p:cNvSpPr>
          <p:nvPr/>
        </p:nvSpPr>
        <p:spPr>
          <a:xfrm>
            <a:off x="866140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4BDF169F-530E-4A43-93A3-897D875278BA}"/>
              </a:ext>
            </a:extLst>
          </p:cNvPr>
          <p:cNvSpPr>
            <a:spLocks noGrp="1"/>
          </p:cNvSpPr>
          <p:nvPr/>
        </p:nvSpPr>
        <p:spPr>
          <a:xfrm>
            <a:off x="10001250" y="2047875"/>
            <a:ext cx="0" cy="3000375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5CBDC0-5D99-404C-B7F3-9C9372DC0A6F}"/>
              </a:ext>
            </a:extLst>
          </p:cNvPr>
          <p:cNvSpPr>
            <a:spLocks noGrp="1"/>
          </p:cNvSpPr>
          <p:nvPr/>
        </p:nvSpPr>
        <p:spPr>
          <a:xfrm>
            <a:off x="9772650" y="50673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F93661-0D33-4544-B36D-0C158FE170AB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343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0DA782-0D4E-460F-A4DD-530F8DB5C103}"/>
              </a:ext>
            </a:extLst>
          </p:cNvPr>
          <p:cNvSpPr>
            <a:spLocks noGrp="1"/>
          </p:cNvSpPr>
          <p:nvPr/>
        </p:nvSpPr>
        <p:spPr>
          <a:xfrm>
            <a:off x="3333750" y="2152650"/>
            <a:ext cx="5553151" cy="328613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424CCA-F9B7-4796-B44C-0B16A74D8C00}"/>
              </a:ext>
            </a:extLst>
          </p:cNvPr>
          <p:cNvSpPr>
            <a:spLocks noGrp="1"/>
          </p:cNvSpPr>
          <p:nvPr/>
        </p:nvSpPr>
        <p:spPr>
          <a:xfrm>
            <a:off x="8963101" y="2095500"/>
            <a:ext cx="819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97,994%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A9A5FA-D648-4F11-83C9-471B3D10F074}"/>
              </a:ext>
            </a:extLst>
          </p:cNvPr>
          <p:cNvSpPr>
            <a:spLocks noGrp="1"/>
          </p:cNvSpPr>
          <p:nvPr/>
        </p:nvSpPr>
        <p:spPr>
          <a:xfrm>
            <a:off x="857250" y="2595563"/>
            <a:ext cx="2343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4B2791-3EA7-4941-B5F6-725FEC97A5B2}"/>
              </a:ext>
            </a:extLst>
          </p:cNvPr>
          <p:cNvSpPr>
            <a:spLocks noGrp="1"/>
          </p:cNvSpPr>
          <p:nvPr/>
        </p:nvSpPr>
        <p:spPr>
          <a:xfrm>
            <a:off x="3333750" y="2652713"/>
            <a:ext cx="5325904" cy="328613"/>
          </a:xfrm>
          <a:prstGeom prst="rect">
            <a:avLst/>
          </a:prstGeom>
          <a:solidFill>
            <a:srgbClr val="2176A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BC1795-5333-4F71-B870-BDA54D7F46CD}"/>
              </a:ext>
            </a:extLst>
          </p:cNvPr>
          <p:cNvSpPr>
            <a:spLocks noGrp="1"/>
          </p:cNvSpPr>
          <p:nvPr/>
        </p:nvSpPr>
        <p:spPr>
          <a:xfrm>
            <a:off x="8735854" y="2595563"/>
            <a:ext cx="819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97,585%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C101BB-56F3-4765-ADEE-0B58A42FB5EA}"/>
              </a:ext>
            </a:extLst>
          </p:cNvPr>
          <p:cNvSpPr>
            <a:spLocks noGrp="1"/>
          </p:cNvSpPr>
          <p:nvPr/>
        </p:nvSpPr>
        <p:spPr>
          <a:xfrm>
            <a:off x="857250" y="3095625"/>
            <a:ext cx="2343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AF0B87-CF3B-47CD-8D4B-669D704F2158}"/>
              </a:ext>
            </a:extLst>
          </p:cNvPr>
          <p:cNvSpPr>
            <a:spLocks noGrp="1"/>
          </p:cNvSpPr>
          <p:nvPr/>
        </p:nvSpPr>
        <p:spPr>
          <a:xfrm>
            <a:off x="3333750" y="3152775"/>
            <a:ext cx="5130380" cy="328613"/>
          </a:xfrm>
          <a:prstGeom prst="rect">
            <a:avLst/>
          </a:prstGeom>
          <a:solidFill>
            <a:srgbClr val="6D5BD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763E8B-D91D-48D0-B7CF-F422E4C38609}"/>
              </a:ext>
            </a:extLst>
          </p:cNvPr>
          <p:cNvSpPr>
            <a:spLocks noGrp="1"/>
          </p:cNvSpPr>
          <p:nvPr/>
        </p:nvSpPr>
        <p:spPr>
          <a:xfrm>
            <a:off x="8540330" y="3095625"/>
            <a:ext cx="819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97,234%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E535F7-C456-45AB-990D-ED5BF6E5E4E9}"/>
              </a:ext>
            </a:extLst>
          </p:cNvPr>
          <p:cNvSpPr>
            <a:spLocks noGrp="1"/>
          </p:cNvSpPr>
          <p:nvPr/>
        </p:nvSpPr>
        <p:spPr>
          <a:xfrm>
            <a:off x="857250" y="3595688"/>
            <a:ext cx="2343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F9F217-6996-43FB-B57B-145466CC17F7}"/>
              </a:ext>
            </a:extLst>
          </p:cNvPr>
          <p:cNvSpPr>
            <a:spLocks noGrp="1"/>
          </p:cNvSpPr>
          <p:nvPr/>
        </p:nvSpPr>
        <p:spPr>
          <a:xfrm>
            <a:off x="3333750" y="3652838"/>
            <a:ext cx="5090948" cy="328613"/>
          </a:xfrm>
          <a:prstGeom prst="rect">
            <a:avLst/>
          </a:prstGeom>
          <a:solidFill>
            <a:srgbClr val="008C9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59050B-19AA-4CE9-85C3-0CAFDAA3C0E1}"/>
              </a:ext>
            </a:extLst>
          </p:cNvPr>
          <p:cNvSpPr>
            <a:spLocks noGrp="1"/>
          </p:cNvSpPr>
          <p:nvPr/>
        </p:nvSpPr>
        <p:spPr>
          <a:xfrm>
            <a:off x="8500898" y="3595688"/>
            <a:ext cx="819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97,163%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5D9987-4445-4A9F-90D0-E6369609CF8E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343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6CDD94-E59C-4AC6-809A-8203ED4E5F24}"/>
              </a:ext>
            </a:extLst>
          </p:cNvPr>
          <p:cNvSpPr>
            <a:spLocks noGrp="1"/>
          </p:cNvSpPr>
          <p:nvPr/>
        </p:nvSpPr>
        <p:spPr>
          <a:xfrm>
            <a:off x="3333750" y="4152900"/>
            <a:ext cx="4571327" cy="328613"/>
          </a:xfrm>
          <a:prstGeom prst="rect">
            <a:avLst/>
          </a:prstGeom>
          <a:solidFill>
            <a:srgbClr val="F28E2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B885B13-16D1-4CFA-908B-02BA0927AC67}"/>
              </a:ext>
            </a:extLst>
          </p:cNvPr>
          <p:cNvSpPr>
            <a:spLocks noGrp="1"/>
          </p:cNvSpPr>
          <p:nvPr/>
        </p:nvSpPr>
        <p:spPr>
          <a:xfrm>
            <a:off x="7981277" y="4095750"/>
            <a:ext cx="819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96,227%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73DE2A-DEFA-4A82-B6C6-1797BEBC1099}"/>
              </a:ext>
            </a:extLst>
          </p:cNvPr>
          <p:cNvSpPr>
            <a:spLocks noGrp="1"/>
          </p:cNvSpPr>
          <p:nvPr/>
        </p:nvSpPr>
        <p:spPr>
          <a:xfrm>
            <a:off x="857250" y="4595813"/>
            <a:ext cx="2343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2EC982-07A8-4FE6-82F8-4F01FF2A4DA2}"/>
              </a:ext>
            </a:extLst>
          </p:cNvPr>
          <p:cNvSpPr>
            <a:spLocks noGrp="1"/>
          </p:cNvSpPr>
          <p:nvPr/>
        </p:nvSpPr>
        <p:spPr>
          <a:xfrm>
            <a:off x="3333750" y="4652963"/>
            <a:ext cx="1957958" cy="328613"/>
          </a:xfrm>
          <a:prstGeom prst="rect">
            <a:avLst/>
          </a:prstGeom>
          <a:solidFill>
            <a:srgbClr val="B542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41934A-DD0A-41E6-B9B6-6673CA76B34F}"/>
              </a:ext>
            </a:extLst>
          </p:cNvPr>
          <p:cNvSpPr>
            <a:spLocks noGrp="1"/>
          </p:cNvSpPr>
          <p:nvPr/>
        </p:nvSpPr>
        <p:spPr>
          <a:xfrm>
            <a:off x="5367908" y="4595813"/>
            <a:ext cx="819150" cy="4238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91,524%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8CD952-1AD0-4A32-B027-8713CB3A3A2B}"/>
              </a:ext>
            </a:extLst>
          </p:cNvPr>
          <p:cNvSpPr>
            <a:spLocks noGrp="1"/>
          </p:cNvSpPr>
          <p:nvPr/>
        </p:nvSpPr>
        <p:spPr>
          <a:xfrm>
            <a:off x="5286375" y="5295900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mean qua 3 seed (%)</a:t>
            </a:r>
          </a:p>
        </p:txBody>
      </p:sp>
    </p:spTree>
    <p:extLst>
      <p:ext uri="{BB962C8B-B14F-4D97-AF65-F5344CB8AC3E}">
        <p14:creationId xmlns:p14="http://schemas.microsoft.com/office/powerpoint/2010/main" val="815786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12">
            <a:extLst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tổng thể trên 9.376 ảnh của 11 lớp</a:t>
            </a:r>
          </a:p>
        </p:txBody>
      </p:sp>
      <p:sp>
        <p:nvSpPr>
          <p:cNvPr id="2" name="title-rule-12">
            <a:extLst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12">
            <a:extLst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source-insight">
            <a:extLst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B0 đứng đầu mean Macro-F1 97,994%; V3-Large đứng thứ hai 97,585%.</a:t>
            </a:r>
          </a:p>
          <a:p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hạng sáu mô hình không đổi so với phân tích 19 lớp.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381125"/>
          <a:ext cx="10953750" cy="419099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± SD (%)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Macro-R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99,335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98,288 ± 0,195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97,717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99,189 ± 0,046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97,985 ± 0,079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97,219 ± 0,110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 ± 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98,941 ± 0,386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97,576 ± 0,837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96,917 ± 1,031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 ± 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98,948 ± 0,137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97,630 ± 0,320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96,711 ± 0,349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 ± 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98,617 ± 0,374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96,790 ± 0,828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95,719 ± 1,110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 ± 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 ± 0,838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 ± 1,401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 ± 2,041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 ± 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58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8">
            <a:extLst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 Macro-F1 qua ba seed</a:t>
            </a:r>
          </a:p>
        </p:txBody>
      </p:sp>
      <p:sp>
        <p:nvSpPr>
          <p:cNvPr id="2" name="title-rule-8">
            <a:extLst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8">
            <a:extLst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table-head">
            <a:extLst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noGrp="1"/>
          </p:cNvSpPr>
          <p:nvPr/>
        </p:nvSpPr>
        <p:spPr>
          <a:xfrm>
            <a:off x="8810625" y="166687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SD nhỏ nhất</a:t>
            </a:r>
          </a:p>
        </p:txBody>
      </p:sp>
      <p:sp>
        <p:nvSpPr>
          <p:cNvPr id="6" name="stable-value">
            <a:extLst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noGrp="1"/>
          </p:cNvSpPr>
          <p:nvPr/>
        </p:nvSpPr>
        <p:spPr>
          <a:xfrm>
            <a:off x="8810625" y="21431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0,064 điểm %</a:t>
            </a:r>
          </a:p>
        </p:txBody>
      </p:sp>
      <p:sp>
        <p:nvSpPr>
          <p:cNvPr id="7" name="stable-body">
            <a:extLst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noGrp="1"/>
          </p:cNvSpPr>
          <p:nvPr/>
        </p:nvSpPr>
        <p:spPr>
          <a:xfrm>
            <a:off x="8810625" y="2752725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</a:t>
            </a:r>
          </a:p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Cao nhất cả 3 seed.</a:t>
            </a:r>
          </a:p>
        </p:txBody>
      </p:sp>
      <p:sp>
        <p:nvSpPr>
          <p:cNvPr id="8" name="unstable-head">
            <a:extLst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noGrp="1"/>
          </p:cNvSpPr>
          <p:nvPr/>
        </p:nvSpPr>
        <p:spPr>
          <a:xfrm>
            <a:off x="8810625" y="39052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SD lớn nhất</a:t>
            </a:r>
          </a:p>
        </p:txBody>
      </p:sp>
      <p:sp>
        <p:nvSpPr>
          <p:cNvPr id="9" name="unstable-value">
            <a:extLst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noGrp="1"/>
          </p:cNvSpPr>
          <p:nvPr/>
        </p:nvSpPr>
        <p:spPr>
          <a:xfrm>
            <a:off x="8810625" y="43815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1,691 điểm %</a:t>
            </a:r>
          </a:p>
        </p:txBody>
      </p:sp>
      <p:sp>
        <p:nvSpPr>
          <p:cNvPr id="10" name="unstable-body">
            <a:extLst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noGrp="1"/>
          </p:cNvSpPr>
          <p:nvPr/>
        </p:nvSpPr>
        <p:spPr>
          <a:xfrm>
            <a:off x="8810625" y="49911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</a:t>
            </a:r>
          </a:p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Dao động nhiều hơn.</a:t>
            </a:r>
          </a:p>
        </p:txBody>
      </p:sp>
      <p:graphicFrame>
        <p:nvGraphicFramePr>
          <p:cNvPr id="88" name="Table 87"/>
          <p:cNvGraphicFramePr/>
          <p:nvPr/>
        </p:nvGraphicFramePr>
        <p:xfrm>
          <a:off x="457200" y="1476375"/>
          <a:ext cx="7905750" cy="4095749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(%)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97,78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97,69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97,82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97,59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95,84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96,60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92,70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89,32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187E205-AFE7-4B7E-8A97-439DD769BFB5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20526F1-C2E4-427F-B14A-FE2D896C340E}"/>
              </a:ext>
            </a:extLst>
          </p:cNvPr>
          <p:cNvSpPr>
            <a:spLocks noGrp="1"/>
          </p:cNvSpPr>
          <p:nvPr/>
        </p:nvSpPr>
        <p:spPr>
          <a:xfrm>
            <a:off x="1619250" y="4714875"/>
            <a:ext cx="8858250" cy="0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1A1E16-F729-474A-AE85-4806F2061B35}"/>
              </a:ext>
            </a:extLst>
          </p:cNvPr>
          <p:cNvSpPr>
            <a:spLocks noGrp="1"/>
          </p:cNvSpPr>
          <p:nvPr/>
        </p:nvSpPr>
        <p:spPr>
          <a:xfrm>
            <a:off x="1162050" y="4600575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9F0AC08-2960-45AE-85F0-34DDD82CEBA3}"/>
              </a:ext>
            </a:extLst>
          </p:cNvPr>
          <p:cNvSpPr>
            <a:spLocks noGrp="1"/>
          </p:cNvSpPr>
          <p:nvPr/>
        </p:nvSpPr>
        <p:spPr>
          <a:xfrm>
            <a:off x="1619250" y="4143375"/>
            <a:ext cx="8858250" cy="0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97BB58-81E1-4CBD-AA99-23E02AA22A86}"/>
              </a:ext>
            </a:extLst>
          </p:cNvPr>
          <p:cNvSpPr>
            <a:spLocks noGrp="1"/>
          </p:cNvSpPr>
          <p:nvPr/>
        </p:nvSpPr>
        <p:spPr>
          <a:xfrm>
            <a:off x="1162050" y="4029075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1D1E21A9-F767-4DCA-9333-A93CF46948AF}"/>
              </a:ext>
            </a:extLst>
          </p:cNvPr>
          <p:cNvSpPr>
            <a:spLocks noGrp="1"/>
          </p:cNvSpPr>
          <p:nvPr/>
        </p:nvSpPr>
        <p:spPr>
          <a:xfrm>
            <a:off x="1619250" y="3571875"/>
            <a:ext cx="8858250" cy="0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8114D5-6B4F-44E9-AF36-7A2C8180F5AE}"/>
              </a:ext>
            </a:extLst>
          </p:cNvPr>
          <p:cNvSpPr>
            <a:spLocks noGrp="1"/>
          </p:cNvSpPr>
          <p:nvPr/>
        </p:nvSpPr>
        <p:spPr>
          <a:xfrm>
            <a:off x="1162050" y="3457575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78511C6-85EB-4BA2-8FBA-E59F8B9E3A53}"/>
              </a:ext>
            </a:extLst>
          </p:cNvPr>
          <p:cNvSpPr>
            <a:spLocks noGrp="1"/>
          </p:cNvSpPr>
          <p:nvPr/>
        </p:nvSpPr>
        <p:spPr>
          <a:xfrm>
            <a:off x="1619250" y="3000375"/>
            <a:ext cx="8858250" cy="0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EA91E1-F52B-43A0-A837-D444BD846C4C}"/>
              </a:ext>
            </a:extLst>
          </p:cNvPr>
          <p:cNvSpPr>
            <a:spLocks noGrp="1"/>
          </p:cNvSpPr>
          <p:nvPr/>
        </p:nvSpPr>
        <p:spPr>
          <a:xfrm>
            <a:off x="1162050" y="2886075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ECB4CD8A-4F7B-4276-A3C1-7D826F6574FF}"/>
              </a:ext>
            </a:extLst>
          </p:cNvPr>
          <p:cNvSpPr>
            <a:spLocks noGrp="1"/>
          </p:cNvSpPr>
          <p:nvPr/>
        </p:nvSpPr>
        <p:spPr>
          <a:xfrm>
            <a:off x="1619250" y="2428875"/>
            <a:ext cx="8858250" cy="0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E20C9D-C5CF-498C-9E86-5F5266D3A57D}"/>
              </a:ext>
            </a:extLst>
          </p:cNvPr>
          <p:cNvSpPr>
            <a:spLocks noGrp="1"/>
          </p:cNvSpPr>
          <p:nvPr/>
        </p:nvSpPr>
        <p:spPr>
          <a:xfrm>
            <a:off x="1162050" y="2314575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6671EDA-31DD-4BEB-B7A8-493A8E4EA342}"/>
              </a:ext>
            </a:extLst>
          </p:cNvPr>
          <p:cNvSpPr>
            <a:spLocks noGrp="1"/>
          </p:cNvSpPr>
          <p:nvPr/>
        </p:nvSpPr>
        <p:spPr>
          <a:xfrm>
            <a:off x="1619250" y="1857375"/>
            <a:ext cx="8858250" cy="0"/>
          </a:xfrm>
          <a:prstGeom prst="line">
            <a:avLst/>
          </a:prstGeom>
          <a:noFill/>
          <a:ln w="9525">
            <a:solidFill>
              <a:srgbClr val="DDE5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FB929F-4211-475D-9AC7-33584F99028D}"/>
              </a:ext>
            </a:extLst>
          </p:cNvPr>
          <p:cNvSpPr>
            <a:spLocks noGrp="1"/>
          </p:cNvSpPr>
          <p:nvPr/>
        </p:nvSpPr>
        <p:spPr>
          <a:xfrm>
            <a:off x="1162050" y="1743075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AE50E6-6AA4-4502-9FEE-A6351915C646}"/>
              </a:ext>
            </a:extLst>
          </p:cNvPr>
          <p:cNvSpPr>
            <a:spLocks noGrp="1"/>
          </p:cNvSpPr>
          <p:nvPr/>
        </p:nvSpPr>
        <p:spPr>
          <a:xfrm>
            <a:off x="1905000" y="47625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4E7DDA-4FF5-4E0D-A1AC-05B3E920F0B6}"/>
              </a:ext>
            </a:extLst>
          </p:cNvPr>
          <p:cNvSpPr>
            <a:spLocks noGrp="1"/>
          </p:cNvSpPr>
          <p:nvPr/>
        </p:nvSpPr>
        <p:spPr>
          <a:xfrm>
            <a:off x="5762625" y="47625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28A273-0A1B-420B-B7B5-8CA2DE458C33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9C7A2A-5F70-4A7E-8F0A-DE8CC2FE3063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1000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950"/>
          </a:bodyPr>
          <a:lstStyle/>
          <a:p>
            <a:pPr algn="ctr">
              <a:defRPr sz="112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(%)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F1E7CF50-F066-48E6-A97F-8147F58436BD}"/>
              </a:ext>
            </a:extLst>
          </p:cNvPr>
          <p:cNvSpPr>
            <a:spLocks noGrp="1"/>
          </p:cNvSpPr>
          <p:nvPr/>
        </p:nvSpPr>
        <p:spPr>
          <a:xfrm flipV="1">
            <a:off x="2190750" y="1807257"/>
            <a:ext cx="3857625" cy="85851"/>
          </a:xfrm>
          <a:prstGeom prst="line">
            <a:avLst/>
          </a:prstGeom>
          <a:noFill/>
          <a:ln w="23813">
            <a:solidFill>
              <a:srgbClr val="2F85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B3B79434-E750-43F0-AF86-EB85BC5012CA}"/>
              </a:ext>
            </a:extLst>
          </p:cNvPr>
          <p:cNvSpPr>
            <a:spLocks noGrp="1"/>
          </p:cNvSpPr>
          <p:nvPr/>
        </p:nvSpPr>
        <p:spPr>
          <a:xfrm>
            <a:off x="6048375" y="1807257"/>
            <a:ext cx="3857625" cy="69283"/>
          </a:xfrm>
          <a:prstGeom prst="line">
            <a:avLst/>
          </a:prstGeom>
          <a:noFill/>
          <a:ln w="23813">
            <a:solidFill>
              <a:srgbClr val="2F85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14669EF-2A9C-4AAB-9156-7AE752DFD0EF}"/>
              </a:ext>
            </a:extLst>
          </p:cNvPr>
          <p:cNvSpPr>
            <a:spLocks noGrp="1"/>
          </p:cNvSpPr>
          <p:nvPr/>
        </p:nvSpPr>
        <p:spPr>
          <a:xfrm>
            <a:off x="2143125" y="1845483"/>
            <a:ext cx="95250" cy="95250"/>
          </a:xfrm>
          <a:prstGeom prst="ellipse">
            <a:avLst/>
          </a:prstGeom>
          <a:solidFill>
            <a:srgbClr val="2F855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A1C236-A731-49E6-A318-A6F5BE0C9D4B}"/>
              </a:ext>
            </a:extLst>
          </p:cNvPr>
          <p:cNvSpPr>
            <a:spLocks noGrp="1"/>
          </p:cNvSpPr>
          <p:nvPr/>
        </p:nvSpPr>
        <p:spPr>
          <a:xfrm>
            <a:off x="6000750" y="1759632"/>
            <a:ext cx="95250" cy="95250"/>
          </a:xfrm>
          <a:prstGeom prst="ellipse">
            <a:avLst/>
          </a:prstGeom>
          <a:solidFill>
            <a:srgbClr val="2F855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D5969F-B865-4A4F-912F-86294C4C2DB7}"/>
              </a:ext>
            </a:extLst>
          </p:cNvPr>
          <p:cNvSpPr>
            <a:spLocks noGrp="1"/>
          </p:cNvSpPr>
          <p:nvPr/>
        </p:nvSpPr>
        <p:spPr>
          <a:xfrm>
            <a:off x="9858375" y="1828915"/>
            <a:ext cx="95250" cy="95250"/>
          </a:xfrm>
          <a:prstGeom prst="ellipse">
            <a:avLst/>
          </a:prstGeom>
          <a:solidFill>
            <a:srgbClr val="2F855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5C575A5A-F73E-48BE-B6F7-34DEE9C30343}"/>
              </a:ext>
            </a:extLst>
          </p:cNvPr>
          <p:cNvSpPr>
            <a:spLocks noGrp="1"/>
          </p:cNvSpPr>
          <p:nvPr/>
        </p:nvSpPr>
        <p:spPr>
          <a:xfrm>
            <a:off x="2190750" y="1952832"/>
            <a:ext cx="3857625" cy="36222"/>
          </a:xfrm>
          <a:prstGeom prst="line">
            <a:avLst/>
          </a:prstGeom>
          <a:noFill/>
          <a:ln w="23813">
            <a:solidFill>
              <a:srgbClr val="2176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8DF4838A-39FE-4DB5-9CD1-3277A9247634}"/>
              </a:ext>
            </a:extLst>
          </p:cNvPr>
          <p:cNvSpPr>
            <a:spLocks noGrp="1"/>
          </p:cNvSpPr>
          <p:nvPr/>
        </p:nvSpPr>
        <p:spPr>
          <a:xfrm flipV="1">
            <a:off x="6048375" y="1985630"/>
            <a:ext cx="3857625" cy="3423"/>
          </a:xfrm>
          <a:prstGeom prst="line">
            <a:avLst/>
          </a:prstGeom>
          <a:noFill/>
          <a:ln w="23813">
            <a:solidFill>
              <a:srgbClr val="2176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FB3738D-527D-4575-9516-1E2F867C3AA5}"/>
              </a:ext>
            </a:extLst>
          </p:cNvPr>
          <p:cNvSpPr>
            <a:spLocks noGrp="1"/>
          </p:cNvSpPr>
          <p:nvPr/>
        </p:nvSpPr>
        <p:spPr>
          <a:xfrm>
            <a:off x="2143125" y="1905207"/>
            <a:ext cx="95250" cy="95250"/>
          </a:xfrm>
          <a:prstGeom prst="ellipse">
            <a:avLst/>
          </a:prstGeom>
          <a:solidFill>
            <a:srgbClr val="2176AE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750CFFC-1698-4BE3-927A-4FC0636C5A3C}"/>
              </a:ext>
            </a:extLst>
          </p:cNvPr>
          <p:cNvSpPr>
            <a:spLocks noGrp="1"/>
          </p:cNvSpPr>
          <p:nvPr/>
        </p:nvSpPr>
        <p:spPr>
          <a:xfrm>
            <a:off x="6000750" y="1941429"/>
            <a:ext cx="95250" cy="95250"/>
          </a:xfrm>
          <a:prstGeom prst="ellipse">
            <a:avLst/>
          </a:prstGeom>
          <a:solidFill>
            <a:srgbClr val="2176AE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874AB4-BC6D-4138-AA39-D1AAB59776C5}"/>
              </a:ext>
            </a:extLst>
          </p:cNvPr>
          <p:cNvSpPr>
            <a:spLocks noGrp="1"/>
          </p:cNvSpPr>
          <p:nvPr/>
        </p:nvSpPr>
        <p:spPr>
          <a:xfrm>
            <a:off x="9858375" y="1938005"/>
            <a:ext cx="95250" cy="95250"/>
          </a:xfrm>
          <a:prstGeom prst="ellipse">
            <a:avLst/>
          </a:prstGeom>
          <a:solidFill>
            <a:srgbClr val="2176AE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7D261C21-4C85-456F-AB9D-9F2C5CD2B60A}"/>
              </a:ext>
            </a:extLst>
          </p:cNvPr>
          <p:cNvSpPr>
            <a:spLocks noGrp="1"/>
          </p:cNvSpPr>
          <p:nvPr/>
        </p:nvSpPr>
        <p:spPr>
          <a:xfrm>
            <a:off x="2190750" y="1914029"/>
            <a:ext cx="3857625" cy="14461"/>
          </a:xfrm>
          <a:prstGeom prst="line">
            <a:avLst/>
          </a:prstGeom>
          <a:noFill/>
          <a:ln w="23813">
            <a:solidFill>
              <a:srgbClr val="6D5B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BC3D9009-F45C-4EE1-9C4B-CBDC55A41ACB}"/>
              </a:ext>
            </a:extLst>
          </p:cNvPr>
          <p:cNvSpPr>
            <a:spLocks noGrp="1"/>
          </p:cNvSpPr>
          <p:nvPr/>
        </p:nvSpPr>
        <p:spPr>
          <a:xfrm>
            <a:off x="6048375" y="1928490"/>
            <a:ext cx="3857625" cy="458173"/>
          </a:xfrm>
          <a:prstGeom prst="line">
            <a:avLst/>
          </a:prstGeom>
          <a:noFill/>
          <a:ln w="23813">
            <a:solidFill>
              <a:srgbClr val="6D5B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3341C0-30BA-4A45-A997-0D587EC5EDA0}"/>
              </a:ext>
            </a:extLst>
          </p:cNvPr>
          <p:cNvSpPr>
            <a:spLocks noGrp="1"/>
          </p:cNvSpPr>
          <p:nvPr/>
        </p:nvSpPr>
        <p:spPr>
          <a:xfrm>
            <a:off x="2143125" y="1866404"/>
            <a:ext cx="95250" cy="95250"/>
          </a:xfrm>
          <a:prstGeom prst="ellipse">
            <a:avLst/>
          </a:prstGeom>
          <a:solidFill>
            <a:srgbClr val="6D5BD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0C98C4D-5F5C-4584-AAC6-7AE8FD998E92}"/>
              </a:ext>
            </a:extLst>
          </p:cNvPr>
          <p:cNvSpPr>
            <a:spLocks noGrp="1"/>
          </p:cNvSpPr>
          <p:nvPr/>
        </p:nvSpPr>
        <p:spPr>
          <a:xfrm>
            <a:off x="6000750" y="1880865"/>
            <a:ext cx="95250" cy="95250"/>
          </a:xfrm>
          <a:prstGeom prst="ellipse">
            <a:avLst/>
          </a:prstGeom>
          <a:solidFill>
            <a:srgbClr val="6D5BD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10DA290-9CD6-4E51-BD53-0A0FF6893782}"/>
              </a:ext>
            </a:extLst>
          </p:cNvPr>
          <p:cNvSpPr>
            <a:spLocks noGrp="1"/>
          </p:cNvSpPr>
          <p:nvPr/>
        </p:nvSpPr>
        <p:spPr>
          <a:xfrm>
            <a:off x="9858375" y="2339038"/>
            <a:ext cx="95250" cy="95250"/>
          </a:xfrm>
          <a:prstGeom prst="ellipse">
            <a:avLst/>
          </a:prstGeom>
          <a:solidFill>
            <a:srgbClr val="6D5BD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E58BFA91-945A-4CD1-BC93-1019FDAA6CAC}"/>
              </a:ext>
            </a:extLst>
          </p:cNvPr>
          <p:cNvSpPr>
            <a:spLocks noGrp="1"/>
          </p:cNvSpPr>
          <p:nvPr/>
        </p:nvSpPr>
        <p:spPr>
          <a:xfrm>
            <a:off x="2190750" y="2111506"/>
            <a:ext cx="3857625" cy="67246"/>
          </a:xfrm>
          <a:prstGeom prst="line">
            <a:avLst/>
          </a:prstGeom>
          <a:noFill/>
          <a:ln w="23813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F4F180FF-FD56-412C-AFAA-6CC7B8135713}"/>
              </a:ext>
            </a:extLst>
          </p:cNvPr>
          <p:cNvSpPr>
            <a:spLocks noGrp="1"/>
          </p:cNvSpPr>
          <p:nvPr/>
        </p:nvSpPr>
        <p:spPr>
          <a:xfrm flipV="1">
            <a:off x="6048375" y="1999761"/>
            <a:ext cx="3857625" cy="178992"/>
          </a:xfrm>
          <a:prstGeom prst="line">
            <a:avLst/>
          </a:prstGeom>
          <a:noFill/>
          <a:ln w="23813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ECDC346-6160-4651-9A75-1C57E0A9A49C}"/>
              </a:ext>
            </a:extLst>
          </p:cNvPr>
          <p:cNvSpPr>
            <a:spLocks noGrp="1"/>
          </p:cNvSpPr>
          <p:nvPr/>
        </p:nvSpPr>
        <p:spPr>
          <a:xfrm>
            <a:off x="2143125" y="2063881"/>
            <a:ext cx="95250" cy="95250"/>
          </a:xfrm>
          <a:prstGeom prst="ellipse">
            <a:avLst/>
          </a:prstGeom>
          <a:solidFill>
            <a:srgbClr val="008C95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76B0497-FF28-42A3-8F67-BF73C3D9413E}"/>
              </a:ext>
            </a:extLst>
          </p:cNvPr>
          <p:cNvSpPr>
            <a:spLocks noGrp="1"/>
          </p:cNvSpPr>
          <p:nvPr/>
        </p:nvSpPr>
        <p:spPr>
          <a:xfrm>
            <a:off x="6000750" y="2131128"/>
            <a:ext cx="95250" cy="95250"/>
          </a:xfrm>
          <a:prstGeom prst="ellipse">
            <a:avLst/>
          </a:prstGeom>
          <a:solidFill>
            <a:srgbClr val="008C95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CCEAF3D-E9B9-4432-976F-E90C098828EF}"/>
              </a:ext>
            </a:extLst>
          </p:cNvPr>
          <p:cNvSpPr>
            <a:spLocks noGrp="1"/>
          </p:cNvSpPr>
          <p:nvPr/>
        </p:nvSpPr>
        <p:spPr>
          <a:xfrm>
            <a:off x="9858375" y="1952136"/>
            <a:ext cx="95250" cy="95250"/>
          </a:xfrm>
          <a:prstGeom prst="ellipse">
            <a:avLst/>
          </a:prstGeom>
          <a:solidFill>
            <a:srgbClr val="008C95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67230B7F-FCD8-4FF0-9D50-360E893C330A}"/>
              </a:ext>
            </a:extLst>
          </p:cNvPr>
          <p:cNvSpPr>
            <a:spLocks noGrp="1"/>
          </p:cNvSpPr>
          <p:nvPr/>
        </p:nvSpPr>
        <p:spPr>
          <a:xfrm>
            <a:off x="2190750" y="2173085"/>
            <a:ext cx="3857625" cy="512692"/>
          </a:xfrm>
          <a:prstGeom prst="line">
            <a:avLst/>
          </a:prstGeom>
          <a:noFill/>
          <a:ln w="23813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4BFF7DA3-F116-44DF-9E19-D8C5DB580E92}"/>
              </a:ext>
            </a:extLst>
          </p:cNvPr>
          <p:cNvSpPr>
            <a:spLocks noGrp="1"/>
          </p:cNvSpPr>
          <p:nvPr/>
        </p:nvSpPr>
        <p:spPr>
          <a:xfrm flipV="1">
            <a:off x="6048375" y="2232858"/>
            <a:ext cx="3857625" cy="452919"/>
          </a:xfrm>
          <a:prstGeom prst="line">
            <a:avLst/>
          </a:prstGeom>
          <a:noFill/>
          <a:ln w="23813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D84BE4-96D1-4ED1-812E-D6B934AEE613}"/>
              </a:ext>
            </a:extLst>
          </p:cNvPr>
          <p:cNvSpPr>
            <a:spLocks noGrp="1"/>
          </p:cNvSpPr>
          <p:nvPr/>
        </p:nvSpPr>
        <p:spPr>
          <a:xfrm>
            <a:off x="2143125" y="2125460"/>
            <a:ext cx="95250" cy="95250"/>
          </a:xfrm>
          <a:prstGeom prst="ellipse">
            <a:avLst/>
          </a:prstGeom>
          <a:solidFill>
            <a:srgbClr val="F28E2B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1F8F130-A8AD-47E8-92E6-2ACCB6359525}"/>
              </a:ext>
            </a:extLst>
          </p:cNvPr>
          <p:cNvSpPr>
            <a:spLocks noGrp="1"/>
          </p:cNvSpPr>
          <p:nvPr/>
        </p:nvSpPr>
        <p:spPr>
          <a:xfrm>
            <a:off x="6000750" y="2638153"/>
            <a:ext cx="95250" cy="95250"/>
          </a:xfrm>
          <a:prstGeom prst="ellipse">
            <a:avLst/>
          </a:prstGeom>
          <a:solidFill>
            <a:srgbClr val="F28E2B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F6B2139-404C-4781-87F0-8ACE88BE3C10}"/>
              </a:ext>
            </a:extLst>
          </p:cNvPr>
          <p:cNvSpPr>
            <a:spLocks noGrp="1"/>
          </p:cNvSpPr>
          <p:nvPr/>
        </p:nvSpPr>
        <p:spPr>
          <a:xfrm>
            <a:off x="9858375" y="2185233"/>
            <a:ext cx="95250" cy="95250"/>
          </a:xfrm>
          <a:prstGeom prst="ellipse">
            <a:avLst/>
          </a:prstGeom>
          <a:solidFill>
            <a:srgbClr val="F28E2B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E019EEBB-EFB2-42D5-BA38-BA1C1F7246EA}"/>
              </a:ext>
            </a:extLst>
          </p:cNvPr>
          <p:cNvSpPr>
            <a:spLocks noGrp="1"/>
          </p:cNvSpPr>
          <p:nvPr/>
        </p:nvSpPr>
        <p:spPr>
          <a:xfrm>
            <a:off x="2190750" y="3173689"/>
            <a:ext cx="3857625" cy="596050"/>
          </a:xfrm>
          <a:prstGeom prst="line">
            <a:avLst/>
          </a:prstGeom>
          <a:noFill/>
          <a:ln w="23813">
            <a:solidFill>
              <a:srgbClr val="B542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A5A72F58-8A5F-45C9-9A13-8C8BB348E678}"/>
              </a:ext>
            </a:extLst>
          </p:cNvPr>
          <p:cNvSpPr>
            <a:spLocks noGrp="1"/>
          </p:cNvSpPr>
          <p:nvPr/>
        </p:nvSpPr>
        <p:spPr>
          <a:xfrm>
            <a:off x="6048375" y="3769739"/>
            <a:ext cx="3857625" cy="410608"/>
          </a:xfrm>
          <a:prstGeom prst="line">
            <a:avLst/>
          </a:prstGeom>
          <a:noFill/>
          <a:ln w="23813">
            <a:solidFill>
              <a:srgbClr val="B542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FD1E121-8534-41DF-A4A5-3605B39D3C20}"/>
              </a:ext>
            </a:extLst>
          </p:cNvPr>
          <p:cNvSpPr>
            <a:spLocks noGrp="1"/>
          </p:cNvSpPr>
          <p:nvPr/>
        </p:nvSpPr>
        <p:spPr>
          <a:xfrm>
            <a:off x="2143125" y="3126064"/>
            <a:ext cx="95250" cy="95250"/>
          </a:xfrm>
          <a:prstGeom prst="ellipse">
            <a:avLst/>
          </a:prstGeom>
          <a:solidFill>
            <a:srgbClr val="B5423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6895DEF-EA33-46D5-999F-8D7D00307652}"/>
              </a:ext>
            </a:extLst>
          </p:cNvPr>
          <p:cNvSpPr>
            <a:spLocks noGrp="1"/>
          </p:cNvSpPr>
          <p:nvPr/>
        </p:nvSpPr>
        <p:spPr>
          <a:xfrm>
            <a:off x="6000750" y="3722114"/>
            <a:ext cx="95250" cy="95250"/>
          </a:xfrm>
          <a:prstGeom prst="ellipse">
            <a:avLst/>
          </a:prstGeom>
          <a:solidFill>
            <a:srgbClr val="B5423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5A080C-B728-4AC0-8A1D-630C23B1B656}"/>
              </a:ext>
            </a:extLst>
          </p:cNvPr>
          <p:cNvSpPr>
            <a:spLocks noGrp="1"/>
          </p:cNvSpPr>
          <p:nvPr/>
        </p:nvSpPr>
        <p:spPr>
          <a:xfrm>
            <a:off x="9858375" y="4132722"/>
            <a:ext cx="95250" cy="95250"/>
          </a:xfrm>
          <a:prstGeom prst="ellipse">
            <a:avLst/>
          </a:prstGeom>
          <a:solidFill>
            <a:srgbClr val="B5423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612125CA-1418-4CFC-9283-329AE15E6C62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323850" cy="0"/>
          </a:xfrm>
          <a:prstGeom prst="line">
            <a:avLst/>
          </a:prstGeom>
          <a:noFill/>
          <a:ln w="28575">
            <a:solidFill>
              <a:srgbClr val="2F85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4801E62-E625-4B90-B3D4-4B781070C9F7}"/>
              </a:ext>
            </a:extLst>
          </p:cNvPr>
          <p:cNvSpPr>
            <a:spLocks noGrp="1"/>
          </p:cNvSpPr>
          <p:nvPr/>
        </p:nvSpPr>
        <p:spPr>
          <a:xfrm>
            <a:off x="1076325" y="5143500"/>
            <a:ext cx="95250" cy="95250"/>
          </a:xfrm>
          <a:prstGeom prst="ellipse">
            <a:avLst/>
          </a:prstGeom>
          <a:solidFill>
            <a:srgbClr val="2F855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7AD2F1E-CB19-4866-9567-4C5D98EB3A23}"/>
              </a:ext>
            </a:extLst>
          </p:cNvPr>
          <p:cNvSpPr>
            <a:spLocks noGrp="1"/>
          </p:cNvSpPr>
          <p:nvPr/>
        </p:nvSpPr>
        <p:spPr>
          <a:xfrm>
            <a:off x="1362075" y="50673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F71D652B-80D5-473E-A613-1039AE050366}"/>
              </a:ext>
            </a:extLst>
          </p:cNvPr>
          <p:cNvSpPr>
            <a:spLocks noGrp="1"/>
          </p:cNvSpPr>
          <p:nvPr/>
        </p:nvSpPr>
        <p:spPr>
          <a:xfrm>
            <a:off x="4667250" y="5191125"/>
            <a:ext cx="323850" cy="0"/>
          </a:xfrm>
          <a:prstGeom prst="line">
            <a:avLst/>
          </a:prstGeom>
          <a:noFill/>
          <a:ln w="28575">
            <a:solidFill>
              <a:srgbClr val="2176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565F584-BB1D-4140-B423-5ACB00824CD0}"/>
              </a:ext>
            </a:extLst>
          </p:cNvPr>
          <p:cNvSpPr>
            <a:spLocks noGrp="1"/>
          </p:cNvSpPr>
          <p:nvPr/>
        </p:nvSpPr>
        <p:spPr>
          <a:xfrm>
            <a:off x="4791075" y="5143500"/>
            <a:ext cx="95250" cy="95250"/>
          </a:xfrm>
          <a:prstGeom prst="ellipse">
            <a:avLst/>
          </a:prstGeom>
          <a:solidFill>
            <a:srgbClr val="2176AE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4C16638-E365-4E6F-9150-3806475EBA79}"/>
              </a:ext>
            </a:extLst>
          </p:cNvPr>
          <p:cNvSpPr>
            <a:spLocks noGrp="1"/>
          </p:cNvSpPr>
          <p:nvPr/>
        </p:nvSpPr>
        <p:spPr>
          <a:xfrm>
            <a:off x="5076825" y="50673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6951779C-F0C0-4BA1-9385-5F2C8EE33C1D}"/>
              </a:ext>
            </a:extLst>
          </p:cNvPr>
          <p:cNvSpPr>
            <a:spLocks noGrp="1"/>
          </p:cNvSpPr>
          <p:nvPr/>
        </p:nvSpPr>
        <p:spPr>
          <a:xfrm>
            <a:off x="8382000" y="5191125"/>
            <a:ext cx="323850" cy="0"/>
          </a:xfrm>
          <a:prstGeom prst="line">
            <a:avLst/>
          </a:prstGeom>
          <a:noFill/>
          <a:ln w="28575">
            <a:solidFill>
              <a:srgbClr val="6D5B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6B9032F-0667-497D-BA5C-66E3D2B25070}"/>
              </a:ext>
            </a:extLst>
          </p:cNvPr>
          <p:cNvSpPr>
            <a:spLocks noGrp="1"/>
          </p:cNvSpPr>
          <p:nvPr/>
        </p:nvSpPr>
        <p:spPr>
          <a:xfrm>
            <a:off x="8505825" y="5143500"/>
            <a:ext cx="95250" cy="95250"/>
          </a:xfrm>
          <a:prstGeom prst="ellipse">
            <a:avLst/>
          </a:prstGeom>
          <a:solidFill>
            <a:srgbClr val="6D5BD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9488FAB-8FBE-4ED9-ADBB-BA5A9AFD9CFD}"/>
              </a:ext>
            </a:extLst>
          </p:cNvPr>
          <p:cNvSpPr>
            <a:spLocks noGrp="1"/>
          </p:cNvSpPr>
          <p:nvPr/>
        </p:nvSpPr>
        <p:spPr>
          <a:xfrm>
            <a:off x="8791575" y="50673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69" name="Straight Connector 68">
            <a:extLst>
              <a:ext uri="{FF2B5EF4-FFF2-40B4-BE49-F238E27FC236}">
                <a16:creationId xmlns:a16="http://schemas.microsoft.com/office/drawing/2014/main" id="{1168D55E-9D52-4A69-B4FA-34BF4BC2B97B}"/>
              </a:ext>
            </a:extLst>
          </p:cNvPr>
          <p:cNvSpPr>
            <a:spLocks noGrp="1"/>
          </p:cNvSpPr>
          <p:nvPr/>
        </p:nvSpPr>
        <p:spPr>
          <a:xfrm>
            <a:off x="952500" y="5514975"/>
            <a:ext cx="323850" cy="0"/>
          </a:xfrm>
          <a:prstGeom prst="line">
            <a:avLst/>
          </a:prstGeom>
          <a:noFill/>
          <a:ln w="28575">
            <a:solidFill>
              <a:srgbClr val="008C9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4F2A9BD-6308-4B05-A781-819E313FC0A1}"/>
              </a:ext>
            </a:extLst>
          </p:cNvPr>
          <p:cNvSpPr>
            <a:spLocks noGrp="1"/>
          </p:cNvSpPr>
          <p:nvPr/>
        </p:nvSpPr>
        <p:spPr>
          <a:xfrm>
            <a:off x="1076325" y="5467350"/>
            <a:ext cx="95250" cy="95250"/>
          </a:xfrm>
          <a:prstGeom prst="ellipse">
            <a:avLst/>
          </a:prstGeom>
          <a:solidFill>
            <a:srgbClr val="008C95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3CA92-0F9B-4248-8EC5-751765BD25BA}"/>
              </a:ext>
            </a:extLst>
          </p:cNvPr>
          <p:cNvSpPr>
            <a:spLocks noGrp="1"/>
          </p:cNvSpPr>
          <p:nvPr/>
        </p:nvSpPr>
        <p:spPr>
          <a:xfrm>
            <a:off x="1362075" y="53911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72" name="Straight Connector 71">
            <a:extLst>
              <a:ext uri="{FF2B5EF4-FFF2-40B4-BE49-F238E27FC236}">
                <a16:creationId xmlns:a16="http://schemas.microsoft.com/office/drawing/2014/main" id="{EED6F030-B0B8-43AE-B23F-1E59106F735E}"/>
              </a:ext>
            </a:extLst>
          </p:cNvPr>
          <p:cNvSpPr>
            <a:spLocks noGrp="1"/>
          </p:cNvSpPr>
          <p:nvPr/>
        </p:nvSpPr>
        <p:spPr>
          <a:xfrm>
            <a:off x="4667250" y="5514975"/>
            <a:ext cx="323850" cy="0"/>
          </a:xfrm>
          <a:prstGeom prst="line">
            <a:avLst/>
          </a:prstGeom>
          <a:noFill/>
          <a:ln w="2857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3DA461E-1AA4-4971-80FD-9A9103D9DE67}"/>
              </a:ext>
            </a:extLst>
          </p:cNvPr>
          <p:cNvSpPr>
            <a:spLocks noGrp="1"/>
          </p:cNvSpPr>
          <p:nvPr/>
        </p:nvSpPr>
        <p:spPr>
          <a:xfrm>
            <a:off x="4791075" y="5467350"/>
            <a:ext cx="95250" cy="95250"/>
          </a:xfrm>
          <a:prstGeom prst="ellipse">
            <a:avLst/>
          </a:prstGeom>
          <a:solidFill>
            <a:srgbClr val="F28E2B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472C8DB-EDF1-4FA7-857E-1F79CDCCECA8}"/>
              </a:ext>
            </a:extLst>
          </p:cNvPr>
          <p:cNvSpPr>
            <a:spLocks noGrp="1"/>
          </p:cNvSpPr>
          <p:nvPr/>
        </p:nvSpPr>
        <p:spPr>
          <a:xfrm>
            <a:off x="5076825" y="53911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5" name="Straight Connector 74">
            <a:extLst>
              <a:ext uri="{FF2B5EF4-FFF2-40B4-BE49-F238E27FC236}">
                <a16:creationId xmlns:a16="http://schemas.microsoft.com/office/drawing/2014/main" id="{272502FF-4E6F-4B88-A721-FA55E3100E5E}"/>
              </a:ext>
            </a:extLst>
          </p:cNvPr>
          <p:cNvSpPr>
            <a:spLocks noGrp="1"/>
          </p:cNvSpPr>
          <p:nvPr/>
        </p:nvSpPr>
        <p:spPr>
          <a:xfrm>
            <a:off x="8382000" y="5514975"/>
            <a:ext cx="323850" cy="0"/>
          </a:xfrm>
          <a:prstGeom prst="line">
            <a:avLst/>
          </a:prstGeom>
          <a:noFill/>
          <a:ln w="28575">
            <a:solidFill>
              <a:srgbClr val="B542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85EBE1E-BEEA-4EAA-84A5-042186811CCA}"/>
              </a:ext>
            </a:extLst>
          </p:cNvPr>
          <p:cNvSpPr>
            <a:spLocks noGrp="1"/>
          </p:cNvSpPr>
          <p:nvPr/>
        </p:nvSpPr>
        <p:spPr>
          <a:xfrm>
            <a:off x="8505825" y="5467350"/>
            <a:ext cx="95250" cy="95250"/>
          </a:xfrm>
          <a:prstGeom prst="ellipse">
            <a:avLst/>
          </a:prstGeom>
          <a:solidFill>
            <a:srgbClr val="B5423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B3167E-9126-475E-AC8D-5274E7B58F38}"/>
              </a:ext>
            </a:extLst>
          </p:cNvPr>
          <p:cNvSpPr>
            <a:spLocks noGrp="1"/>
          </p:cNvSpPr>
          <p:nvPr/>
        </p:nvSpPr>
        <p:spPr>
          <a:xfrm>
            <a:off x="8791575" y="53911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522390C-C213-4A2A-A997-89E3BEF2069B}"/>
              </a:ext>
            </a:extLst>
          </p:cNvPr>
          <p:cNvSpPr>
            <a:spLocks noGrp="1"/>
          </p:cNvSpPr>
          <p:nvPr/>
        </p:nvSpPr>
        <p:spPr>
          <a:xfrm>
            <a:off x="4857750" y="57150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Training seed</a:t>
            </a:r>
          </a:p>
        </p:txBody>
      </p:sp>
    </p:spTree>
    <p:extLst>
      <p:ext uri="{BB962C8B-B14F-4D97-AF65-F5344CB8AC3E}">
        <p14:creationId xmlns:p14="http://schemas.microsoft.com/office/powerpoint/2010/main" val="888419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sáu lớp đầu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924550"/>
            <a:ext cx="1095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499E7-F3E1-46A3-985F-8E3B7BE35092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457200" y="1428750"/>
          <a:ext cx="10953750" cy="400050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 (270)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 (251)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 (2786)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 (330)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 (215)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 (122)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619125" y="5572125"/>
          <a:ext cx="10572750" cy="400050"/>
        </p:xfrm>
        <a:graphic>
          <a:graphicData uri="http://schemas.openxmlformats.org/drawingml/2006/table">
            <a:tbl>
              <a:tblPr/>
              <a:tblGrid>
                <a:gridCol w="105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Đơn vị: %, mean F1 lớp qua ba seed. Mỗi cột mô hình dùng đúng cùng ảnh test.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56248EA-BF21-4D37-A162-C19E851ACCD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14300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năm lớp còn lại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924550"/>
            <a:ext cx="1095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E9B6E-8FE9-4E18-9EED-CFD8DDF469B2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457200" y="1524000"/>
          <a:ext cx="10953750" cy="361950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 (1764)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 (263)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 (2973)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 (163)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 (239)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619125" y="5381625"/>
          <a:ext cx="10572750" cy="400050"/>
        </p:xfrm>
        <a:graphic>
          <a:graphicData uri="http://schemas.openxmlformats.org/drawingml/2006/table">
            <a:tbl>
              <a:tblPr/>
              <a:tblGrid>
                <a:gridCol w="105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Các lớp lớn gần bão hòa; Tungro và cỏ dại phân hóa mô hình rõ hơn.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26A55DB-F0EB-485B-BFD3-B98FB93F87D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14300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9">
            <a:extLst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Lớp khó nhất cho thấy khoảng cách giữa các backbone</a:t>
            </a:r>
          </a:p>
        </p:txBody>
      </p:sp>
      <p:sp>
        <p:nvSpPr>
          <p:cNvPr id="2" name="title-rule-9">
            <a:extLst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9">
            <a:extLst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class-callout-title">
            <a:extLst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noGrp="1"/>
          </p:cNvSpPr>
          <p:nvPr/>
        </p:nvSpPr>
        <p:spPr>
          <a:xfrm>
            <a:off x="9048750" y="1571625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Đọc theo từng lớp</a:t>
            </a:r>
          </a:p>
        </p:txBody>
      </p:sp>
      <p:sp>
        <p:nvSpPr>
          <p:cNvPr id="6" name="class-callout">
            <a:extLst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noGrp="1"/>
          </p:cNvSpPr>
          <p:nvPr/>
        </p:nvSpPr>
        <p:spPr>
          <a:xfrm>
            <a:off x="9048750" y="2257425"/>
            <a:ext cx="2381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Sương mai:</a:t>
            </a:r>
          </a:p>
          <a:p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92,9% • V3 91,9%</a:t>
            </a:r>
          </a:p>
          <a:p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endParaRPr sz="1800" b="0">
              <a:solidFill>
                <a:srgbClr val="0B1720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Sọc lá vi khuẩn:</a:t>
            </a:r>
          </a:p>
          <a:p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71,2%</a:t>
            </a:r>
          </a:p>
        </p:txBody>
      </p:sp>
      <p:sp>
        <p:nvSpPr>
          <p:cNvPr id="7" name="class-small">
            <a:extLst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noGrp="1"/>
          </p:cNvSpPr>
          <p:nvPr/>
        </p:nvSpPr>
        <p:spPr>
          <a:xfrm>
            <a:off x="8953500" y="4095750"/>
            <a:ext cx="2524125" cy="1238250"/>
          </a:xfrm>
          <a:prstGeom prst="rect">
            <a:avLst/>
          </a:prstGeom>
          <a:solidFill>
            <a:srgbClr val="FFF4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lass-small-text">
            <a:extLst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noGrp="1"/>
          </p:cNvSpPr>
          <p:nvPr/>
        </p:nvSpPr>
        <p:spPr>
          <a:xfrm>
            <a:off x="9124950" y="4305300"/>
            <a:ext cx="22669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n: số ảnh của lớp</a:t>
            </a:r>
          </a:p>
          <a:p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F1: mean 3 seed</a:t>
            </a:r>
          </a:p>
          <a:p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Đủ 19 lớp: phụ lục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22C9A0-5308-4FFF-A0DF-C067288FFC7A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Table 21"/>
          <p:cNvGraphicFramePr/>
          <p:nvPr/>
        </p:nvGraphicFramePr>
        <p:xfrm>
          <a:off x="457200" y="1476375"/>
          <a:ext cx="10953750" cy="36671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/>
          <p:nvPr/>
        </p:nvGraphicFramePr>
        <p:xfrm>
          <a:off x="619125" y="5381625"/>
          <a:ext cx="10572750" cy="400050"/>
        </p:xfrm>
        <a:graphic>
          <a:graphicData uri="http://schemas.openxmlformats.org/drawingml/2006/table">
            <a:tbl>
              <a:tblPr/>
              <a:tblGrid>
                <a:gridCol w="105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ShuffleNet suy giảm rõ ở Tungro (76,7%) và cỏ dại (82,1%); bảng đầy đủ ở slide 20–21.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4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0">
            <a:extLst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Thứ hạng giữ nguyên khi bỏ tám lớp support thấp</a:t>
            </a:r>
          </a:p>
        </p:txBody>
      </p:sp>
      <p:sp>
        <p:nvSpPr>
          <p:cNvPr id="2" name="title-rule-10">
            <a:extLst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10">
            <a:extLst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error-read-title">
            <a:extLst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noGrp="1"/>
          </p:cNvSpPr>
          <p:nvPr/>
        </p:nvSpPr>
        <p:spPr>
          <a:xfrm>
            <a:off x="8191500" y="157162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 ví dụ</a:t>
            </a:r>
          </a:p>
        </p:txBody>
      </p:sp>
      <p:sp>
        <p:nvSpPr>
          <p:cNvPr id="6" name="error-read">
            <a:extLst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31432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Leaf smut → bạc lá:</a:t>
            </a:r>
          </a:p>
          <a:p>
            <a:pPr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lượt nhầm / (21 ảnh × 3 seed) = 4,76%.</a:t>
            </a:r>
          </a:p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endParaRPr sz="1875" b="0">
              <a:solidFill>
                <a:srgbClr val="52616B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Cùng 21 ảnh được đánh giá bởi 3 mô hình đã train.</a:t>
            </a:r>
          </a:p>
        </p:txBody>
      </p:sp>
      <p:sp>
        <p:nvSpPr>
          <p:cNvPr id="7" name="error-example">
            <a:extLst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noGrp="1"/>
          </p:cNvSpPr>
          <p:nvPr/>
        </p:nvSpPr>
        <p:spPr>
          <a:xfrm>
            <a:off x="8096250" y="4238625"/>
            <a:ext cx="3143250" cy="114300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rror-example-text">
            <a:extLst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noGrp="1"/>
          </p:cNvSpPr>
          <p:nvPr/>
        </p:nvSpPr>
        <p:spPr>
          <a:xfrm>
            <a:off x="8334375" y="4495800"/>
            <a:ext cx="266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coi 63 lượt dự đoán là 63 ảnh độc lập.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D383C-41FD-4A0D-A5AB-8B546E55F85D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Table 21"/>
          <p:cNvGraphicFramePr/>
          <p:nvPr/>
        </p:nvGraphicFramePr>
        <p:xfrm>
          <a:off x="457200" y="1428750"/>
          <a:ext cx="10953750" cy="40005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19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Chuyển tiếp 11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Chênh lệch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+0,230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+0,262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96,878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+0,356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96,184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+0,043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+0,553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/>
          <p:nvPr/>
        </p:nvGraphicFramePr>
        <p:xfrm>
          <a:off x="619125" y="5572125"/>
          <a:ext cx="10572750" cy="400050"/>
        </p:xfrm>
        <a:graphic>
          <a:graphicData uri="http://schemas.openxmlformats.org/drawingml/2006/table">
            <a:tbl>
              <a:tblPr/>
              <a:tblGrid>
                <a:gridCol w="105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Điểm tăng do đổi phạm vi true-label; checkpoint không đổi và dự đoán sang nhãn bị loại vẫn tính sai.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11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4">
            <a:extLst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Paired bootstrap: V3-Large so với năm mô hình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4">
            <a:extLst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arch-note">
            <a:extLst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điểm %. Δ dương nghiêng về V3. CI là percentile 95%, 2.000 lần resample theo ảnh.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457200" y="1381125"/>
          <a:ext cx="10953750" cy="417195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F1: V3 − đối chiếu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-0,209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[-0,835; 0,412]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-0,636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[-1,220; -0,074]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-0,382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[-0,970; 0,189]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-0,136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[-0,741; 0,492]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-0,212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[-0,851; 0,418]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[0,737; 2,124]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0,555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[-0,083; 1,208]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[0,071; 1,332]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0,049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[-0,565; 0,676]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[0,099; 1,458]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2,438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[1,654; 3,227]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0,865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[0,189; 1,570]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[3,417; 5,152]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6,232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[5,249; 7,222]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7,681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[6,729; 8,723]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Hai mô hình dẫn đầu: B0 và V3-Large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Chênh lệch nhỏ về mean nhưng không đồng nhất qua từng seed.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97,994 ± 0,159%; hạng 1. Điểm từng seed: 97,875 / 98,175 / 97,933.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97,585 ± 0,070%; hạng 2, thấp hơn B0 0,409 điểm % theo mean.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V3−B0: CI chứa 0 ở seed 42 và 2026; hoàn toàn âm ở seed 123. Không tuyên bố B0 vượt trội thống kê toàn cục.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B0 là mốc chất lượng; V3-Large vẫn đáng ưu tiên khi mục tiêu cuối là mobile.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DenseNet-121: hạng giữa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kiến trúc đạt chất lượng cao nhưng không có lợi thế rõ về quy mô.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97,234 ± 0,941%; SD lớn hơn DenseNet do seed 2026 giảm còn 96,148%.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97,163 ± 0,316%; ổn định hơn ResNet trong sensitivity analysis.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Quy mô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Đầu 11 lớp dự kiến: ResNet 11,182M; DenseNet 6,965M.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Chưa có paired bootstrap trực tiếp ResNet–DenseNet; thứ hạng 3–4 chỉ mang tính mô tả.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ShuffleNet: độ gọn đổi lấy chất lượng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nhẹ giúp nhìn rõ đường biên triển khai.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96,227 ± 0,981%; V3-Large hơn 1,358 điểm % theo mean.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91,524 ± 1,771%; SD lớn nhất và giảm liên tục từ seed 42 đến 2026.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1,265M tham số dự kiến, nhưng chất lượng lớp Tungro và cỏ dại giảm mạnh.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Không chọn mô hình chỉ vì nhỏ nhất; cần ngưỡng chất lượng tối thiểu và benchmark mobile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12">
            <a:extLst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 chuyển tiếp và số tham số dự kiến</a:t>
            </a:r>
          </a:p>
        </p:txBody>
      </p:sp>
      <p:sp>
        <p:nvSpPr>
          <p:cNvPr id="2" name="title-rule-12">
            <a:extLst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12">
            <a:extLst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source-insight">
            <a:extLst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noGrp="1"/>
          </p:cNvSpPr>
          <p:nvPr/>
        </p:nvSpPr>
        <p:spPr>
          <a:xfrm>
            <a:off x="619125" y="58293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nhưng Macro-F1 thấp nhất.</a:t>
            </a:r>
          </a:p>
          <a:p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đo độ trễ, RAM hoặc năng lượng trên điện thoại.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7EF59E-C8E0-49ED-888C-61CF4657B2E3}"/>
              </a:ext>
            </a:extLst>
          </p:cNvPr>
          <p:cNvSpPr>
            <a:spLocks noGrp="1"/>
          </p:cNvSpPr>
          <p:nvPr/>
        </p:nvSpPr>
        <p:spPr>
          <a:xfrm>
            <a:off x="333375" y="1190625"/>
            <a:ext cx="11525250" cy="504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457200" y="1428750"/>
          <a:ext cx="10953750" cy="3905251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11 đầu ra*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619125" y="5572125"/>
          <a:ext cx="10572750" cy="400050"/>
        </p:xfrm>
        <a:graphic>
          <a:graphicData uri="http://schemas.openxmlformats.org/drawingml/2006/table">
            <a:tbl>
              <a:tblPr/>
              <a:tblGrid>
                <a:gridCol w="1057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*Tham số là phép tính cấu trúc; chưa có checkpoint, thời gian train hoặc latency chính thức của 11 lớp.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2314A1C-85EC-48A1-BE52-12E0DCC666DA}"/>
              </a:ext>
            </a:extLst>
          </p:cNvPr>
          <p:cNvSpPr>
            <a:spLocks noGrp="1"/>
          </p:cNvSpPr>
          <p:nvPr/>
        </p:nvSpPr>
        <p:spPr>
          <a:xfrm>
            <a:off x="2857500" y="6115050"/>
            <a:ext cx="809625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8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13">
            <a:extLst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toán phép tính và provenance</a:t>
            </a:r>
          </a:p>
        </p:txBody>
      </p:sp>
      <p:sp>
        <p:nvSpPr>
          <p:cNvPr id="2" name="title-rule-13">
            <a:extLst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13">
            <a:extLst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high-score">
            <a:extLst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18 / 18 file</a:t>
            </a:r>
          </a:p>
        </p:txBody>
      </p:sp>
      <p:sp>
        <p:nvSpPr>
          <p:cNvPr id="5" name="high-score-label">
            <a:extLst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noGrp="1"/>
          </p:cNvSpPr>
          <p:nvPr/>
        </p:nvSpPr>
        <p:spPr>
          <a:xfrm>
            <a:off x="495300" y="2400300"/>
            <a:ext cx="3905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 CSV × 9.376 hàng sau lọc; cùng danh sách ảnh.</a:t>
            </a:r>
          </a:p>
        </p:txBody>
      </p:sp>
      <p:sp>
        <p:nvSpPr>
          <p:cNvPr id="6" name="limit-rule">
            <a:extLst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noGrp="1"/>
          </p:cNvSpPr>
          <p:nvPr/>
        </p:nvSpPr>
        <p:spPr>
          <a:xfrm>
            <a:off x="4762500" y="1381125"/>
            <a:ext cx="19050" cy="4095750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imit-num-0">
            <a:extLst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noGrp="1"/>
          </p:cNvSpPr>
          <p:nvPr/>
        </p:nvSpPr>
        <p:spPr>
          <a:xfrm>
            <a:off x="5191125" y="14287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noGrp="1"/>
          </p:cNvSpPr>
          <p:nvPr/>
        </p:nvSpPr>
        <p:spPr>
          <a:xfrm>
            <a:off x="5857875" y="14287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nhãn</a:t>
            </a:r>
          </a:p>
        </p:txBody>
      </p:sp>
      <p:sp>
        <p:nvSpPr>
          <p:cNvPr id="9" name="limit-body-0">
            <a:extLst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noGrp="1"/>
          </p:cNvSpPr>
          <p:nvPr/>
        </p:nvSpPr>
        <p:spPr>
          <a:xfrm>
            <a:off x="8191500" y="14287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true_label từ split V2; chỉ lọc theo danh sách 11 lớp.</a:t>
            </a:r>
          </a:p>
        </p:txBody>
      </p:sp>
      <p:sp>
        <p:nvSpPr>
          <p:cNvPr id="10" name="limit-num-1">
            <a:extLst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noGrp="1"/>
          </p:cNvSpPr>
          <p:nvPr/>
        </p:nvSpPr>
        <p:spPr>
          <a:xfrm>
            <a:off x="5191125" y="24955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noGrp="1"/>
          </p:cNvSpPr>
          <p:nvPr/>
        </p:nvSpPr>
        <p:spPr>
          <a:xfrm>
            <a:off x="5857875" y="24955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dự đoán</a:t>
            </a:r>
          </a:p>
        </p:txBody>
      </p:sp>
      <p:sp>
        <p:nvSpPr>
          <p:cNvPr id="12" name="limit-body-1">
            <a:extLst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noGrp="1"/>
          </p:cNvSpPr>
          <p:nvPr/>
        </p:nvSpPr>
        <p:spPr>
          <a:xfrm>
            <a:off x="8191500" y="24955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predicted_label giữ nguyên từ classifier 19 đầu ra.</a:t>
            </a:r>
          </a:p>
        </p:txBody>
      </p:sp>
      <p:sp>
        <p:nvSpPr>
          <p:cNvPr id="13" name="limit-num-2">
            <a:extLst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noGrp="1"/>
          </p:cNvSpPr>
          <p:nvPr/>
        </p:nvSpPr>
        <p:spPr>
          <a:xfrm>
            <a:off x="5191125" y="35623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noGrp="1"/>
          </p:cNvSpPr>
          <p:nvPr/>
        </p:nvSpPr>
        <p:spPr>
          <a:xfrm>
            <a:off x="5857875" y="35623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Phép tính</a:t>
            </a:r>
          </a:p>
        </p:txBody>
      </p:sp>
      <p:sp>
        <p:nvSpPr>
          <p:cNvPr id="15" name="limit-body-2">
            <a:extLst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Accuracy, Macro-P/R/F1, per-class, mean, sample SD và bootstrap.</a:t>
            </a:r>
          </a:p>
        </p:txBody>
      </p:sp>
      <p:sp>
        <p:nvSpPr>
          <p:cNvPr id="16" name="limit-num-3">
            <a:extLst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noGrp="1"/>
          </p:cNvSpPr>
          <p:nvPr/>
        </p:nvSpPr>
        <p:spPr>
          <a:xfrm>
            <a:off x="5191125" y="46291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noGrp="1"/>
          </p:cNvSpPr>
          <p:nvPr/>
        </p:nvSpPr>
        <p:spPr>
          <a:xfrm>
            <a:off x="5857875" y="46291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Tệp kết quả</a:t>
            </a:r>
          </a:p>
        </p:txBody>
      </p:sp>
      <p:sp>
        <p:nvSpPr>
          <p:cNvPr id="18" name="limit-body-3">
            <a:extLst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noGrp="1"/>
          </p:cNvSpPr>
          <p:nvPr/>
        </p:nvSpPr>
        <p:spPr>
          <a:xfrm>
            <a:off x="8191500" y="4629150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recalculated_11class_metrics.json là nguồn số duy nhất cho Word, hình và PowerPoint.</a:t>
            </a:r>
          </a:p>
        </p:txBody>
      </p:sp>
      <p:sp>
        <p:nvSpPr>
          <p:cNvPr id="19" name="high-conclusion">
            <a:extLst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3857625" cy="1428750"/>
          </a:xfrm>
          <a:prstGeom prst="rect">
            <a:avLst/>
          </a:prstGeom>
          <a:solidFill>
            <a:srgbClr val="FFF4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high-conclusion-text">
            <a:extLst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33813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thay checkpoint</a:t>
            </a:r>
          </a:p>
          <a:p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renormalize xác suất</a:t>
            </a:r>
          </a:p>
          <a:p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xóa dữ liệu gốc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 bắt buộc khi trình bày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2">
            <a:extLst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question">
            <a:extLst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cao không biến sensitivity analysis thành một thí nghiệm 11 lớp hoàn chỉnh.</a:t>
            </a:r>
          </a:p>
        </p:txBody>
      </p:sp>
      <p:sp>
        <p:nvSpPr>
          <p:cNvPr id="5" name="q-num-0">
            <a:extLst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noGrp="1"/>
          </p:cNvSpPr>
          <p:nvPr/>
        </p:nvSpPr>
        <p:spPr>
          <a:xfrm>
            <a:off x="590550" y="21431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noGrp="1"/>
          </p:cNvSpPr>
          <p:nvPr/>
        </p:nvSpPr>
        <p:spPr>
          <a:xfrm>
            <a:off x="1428750" y="21050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Hậu kiểm</a:t>
            </a:r>
          </a:p>
        </p:txBody>
      </p:sp>
      <p:sp>
        <p:nvSpPr>
          <p:cNvPr id="7" name="q-body-0">
            <a:extLst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noGrp="1"/>
          </p:cNvSpPr>
          <p:nvPr/>
        </p:nvSpPr>
        <p:spPr>
          <a:xfrm>
            <a:off x="3905250" y="20669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được chốt sau campaign 19 lớp; có nguy cơ quyết định thiết kế chịu ảnh hưởng bởi kết quả đã xem.</a:t>
            </a:r>
          </a:p>
        </p:txBody>
      </p:sp>
      <p:sp>
        <p:nvSpPr>
          <p:cNvPr id="8" name="q-rule-0">
            <a:extLst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q-num-1">
            <a:extLst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1" name="q-body-1">
            <a:extLst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noGrp="1"/>
          </p:cNvSpPr>
          <p:nvPr/>
        </p:nvSpPr>
        <p:spPr>
          <a:xfrm>
            <a:off x="3905250" y="31718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Classifier vẫn có 19 logit; số liệu không phản ánh chính xác việc huấn luyện lại đầu 11 lớp và class weights mới.</a:t>
            </a:r>
          </a:p>
        </p:txBody>
      </p:sp>
      <p:sp>
        <p:nvSpPr>
          <p:cNvPr id="12" name="q-rule-1">
            <a:extLst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noGrp="1"/>
          </p:cNvSpPr>
          <p:nvPr/>
        </p:nvSpPr>
        <p:spPr>
          <a:xfrm>
            <a:off x="1428750" y="37719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q-num-2">
            <a:extLst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noGrp="1"/>
          </p:cNvSpPr>
          <p:nvPr/>
        </p:nvSpPr>
        <p:spPr>
          <a:xfrm>
            <a:off x="1428750" y="4314825"/>
            <a:ext cx="23812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quát</a:t>
            </a:r>
          </a:p>
        </p:txBody>
      </p:sp>
      <p:sp>
        <p:nvSpPr>
          <p:cNvPr id="15" name="q-body-2">
            <a:extLst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noGrp="1"/>
          </p:cNvSpPr>
          <p:nvPr/>
        </p:nvSpPr>
        <p:spPr>
          <a:xfrm>
            <a:off x="3905250" y="4276725"/>
            <a:ext cx="7048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Dữ liệu mất cân bằng; chưa có external test, group split theo ruộng/cây/phiên chụp hay mobile benchmark.</a:t>
            </a:r>
          </a:p>
        </p:txBody>
      </p:sp>
      <p:sp>
        <p:nvSpPr>
          <p:cNvPr id="16" name="q-rule-2">
            <a:extLst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9144000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swer">
            <a:extLst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0525125" cy="714375"/>
          </a:xfrm>
          <a:prstGeom prst="rect">
            <a:avLst/>
          </a:prstGeom>
          <a:solidFill>
            <a:srgbClr val="EAF6F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swer-text">
            <a:extLst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2870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Chỉ sau khi khóa protocol và train đủ 18 run 11 lớp mới được cập nhật kết luận chính thức.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14">
            <a:extLst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noGrp="1"/>
          </p:cNvSpPr>
          <p:nvPr/>
        </p:nvSpPr>
        <p:spPr>
          <a:xfrm>
            <a:off x="457200" y="3333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sơ bộ và bước tiếp theo</a:t>
            </a:r>
          </a:p>
        </p:txBody>
      </p:sp>
      <p:sp>
        <p:nvSpPr>
          <p:cNvPr id="2" name="title-rule-14">
            <a:extLst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0953750" cy="28575"/>
          </a:xfrm>
          <a:prstGeom prst="rect">
            <a:avLst/>
          </a:prstGeom>
          <a:solidFill>
            <a:srgbClr val="2176A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ber-14">
            <a:extLst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inal-claim">
            <a:extLst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Thứ hạng ổn định; bằng chứng 11 lớp vẫn chưa hoàn tất.</a:t>
            </a:r>
          </a:p>
        </p:txBody>
      </p:sp>
      <p:sp>
        <p:nvSpPr>
          <p:cNvPr id="5" name="rec-label-0">
            <a:extLst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noGrp="1"/>
          </p:cNvSpPr>
          <p:nvPr/>
        </p:nvSpPr>
        <p:spPr>
          <a:xfrm>
            <a:off x="523875" y="2571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6" name="rec-body-0">
            <a:extLst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noGrp="1"/>
          </p:cNvSpPr>
          <p:nvPr/>
        </p:nvSpPr>
        <p:spPr>
          <a:xfrm>
            <a:off x="2476500" y="2476500"/>
            <a:ext cx="8334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dẫn đầu 97,994% Macro-F1; V3-Large thứ hai 97,585%; ShuffleNet thấp nhất 91,524%.</a:t>
            </a:r>
          </a:p>
        </p:txBody>
      </p:sp>
      <p:sp>
        <p:nvSpPr>
          <p:cNvPr id="7" name="rec-rule-0">
            <a:extLst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noGrp="1"/>
          </p:cNvSpPr>
          <p:nvPr/>
        </p:nvSpPr>
        <p:spPr>
          <a:xfrm>
            <a:off x="2476500" y="3238500"/>
            <a:ext cx="8334375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-label-1">
            <a:extLst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noGrp="1"/>
          </p:cNvSpPr>
          <p:nvPr/>
        </p:nvSpPr>
        <p:spPr>
          <a:xfrm>
            <a:off x="523875" y="35718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9" name="rec-body-1">
            <a:extLst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noGrp="1"/>
          </p:cNvSpPr>
          <p:nvPr/>
        </p:nvSpPr>
        <p:spPr>
          <a:xfrm>
            <a:off x="2476500" y="3476625"/>
            <a:ext cx="8334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Loại tám true-label support thấp không làm đảo thứ hạng; kết luận backbone có độ bền mô tả trong sensitivity analysis.</a:t>
            </a:r>
          </a:p>
        </p:txBody>
      </p:sp>
      <p:sp>
        <p:nvSpPr>
          <p:cNvPr id="10" name="rec-rule-1">
            <a:extLst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noGrp="1"/>
          </p:cNvSpPr>
          <p:nvPr/>
        </p:nvSpPr>
        <p:spPr>
          <a:xfrm>
            <a:off x="2476500" y="4238625"/>
            <a:ext cx="8334375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-label-2">
            <a:extLst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noGrp="1"/>
          </p:cNvSpPr>
          <p:nvPr/>
        </p:nvSpPr>
        <p:spPr>
          <a:xfrm>
            <a:off x="523875" y="4572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12" name="rec-body-2">
            <a:extLst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noGrp="1"/>
          </p:cNvSpPr>
          <p:nvPr/>
        </p:nvSpPr>
        <p:spPr>
          <a:xfrm>
            <a:off x="2476500" y="4476750"/>
            <a:ext cx="8334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 11 lớp → train lại 6 mô hình × 3 seed → mở final test → benchmark mobile cùng thiết bị/runtime.</a:t>
            </a:r>
          </a:p>
        </p:txBody>
      </p:sp>
      <p:sp>
        <p:nvSpPr>
          <p:cNvPr id="13" name="rec-rule-2">
            <a:extLst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noGrp="1"/>
          </p:cNvSpPr>
          <p:nvPr/>
        </p:nvSpPr>
        <p:spPr>
          <a:xfrm>
            <a:off x="2476500" y="5238750"/>
            <a:ext cx="8334375" cy="9525"/>
          </a:xfrm>
          <a:prstGeom prst="rect">
            <a:avLst/>
          </a:prstGeom>
          <a:solidFill>
            <a:srgbClr val="B8C4C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inal-close">
            <a:extLst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dùng số liệu chuyển tiếp làm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6982</Words>
  <Application>Microsoft Office PowerPoint</Application>
  <DocSecurity>0</DocSecurity>
  <PresentationFormat>Widescreen</PresentationFormat>
  <Paragraphs>1023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huy dao</cp:lastModifiedBy>
  <cp:revision>1</cp:revision>
  <dcterms:created xsi:type="dcterms:W3CDTF">2026-09-04T02:17:31Z</dcterms:created>
  <dcterms:modified xsi:type="dcterms:W3CDTF">2026-09-04T05:59:23Z</dcterms:modified>
</cp:coreProperties>
</file>