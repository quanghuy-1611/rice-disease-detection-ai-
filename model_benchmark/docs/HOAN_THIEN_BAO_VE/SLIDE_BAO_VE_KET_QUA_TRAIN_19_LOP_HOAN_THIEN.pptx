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d6809ebede4324" /><Relationship Type="http://schemas.openxmlformats.org/officeDocument/2006/relationships/extended-properties" Target="/docProps/app.xml" Id="R834b546e7d664eb8" /><Relationship Type="http://schemas.openxmlformats.org/officeDocument/2006/relationships/officeDocument" Target="/ppt/presentation.xml" Id="Rc9375c5a917a46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df3d57a5a545ad"/>
  </p:sldMasterIdLst>
  <p:notesMasterIdLst>
    <p:notesMasterId xmlns:r="http://schemas.openxmlformats.org/officeDocument/2006/relationships" r:id="R29bfd4cff2b142e2"/>
  </p:notesMasterIdLst>
  <p:sldIdLst>
    <p:sldId xmlns:r="http://schemas.openxmlformats.org/officeDocument/2006/relationships" id="256" r:id="R72dc2bad2ed44ef7"/>
    <p:sldId xmlns:r="http://schemas.openxmlformats.org/officeDocument/2006/relationships" id="257" r:id="R8f8bdf8bbf0045bb"/>
    <p:sldId xmlns:r="http://schemas.openxmlformats.org/officeDocument/2006/relationships" id="258" r:id="Raec3dd8a22f64734"/>
    <p:sldId xmlns:r="http://schemas.openxmlformats.org/officeDocument/2006/relationships" id="259" r:id="R1ff80cdba0d340ae"/>
    <p:sldId xmlns:r="http://schemas.openxmlformats.org/officeDocument/2006/relationships" id="260" r:id="R982bd5bb5faa4220"/>
    <p:sldId xmlns:r="http://schemas.openxmlformats.org/officeDocument/2006/relationships" id="261" r:id="R16be3f56923c447a"/>
    <p:sldId xmlns:r="http://schemas.openxmlformats.org/officeDocument/2006/relationships" id="262" r:id="Rf104dd6c48904298"/>
    <p:sldId xmlns:r="http://schemas.openxmlformats.org/officeDocument/2006/relationships" id="263" r:id="R11554f4c02c84be7"/>
    <p:sldId xmlns:r="http://schemas.openxmlformats.org/officeDocument/2006/relationships" id="264" r:id="R3d8f6cfb033445f8"/>
    <p:sldId xmlns:r="http://schemas.openxmlformats.org/officeDocument/2006/relationships" id="265" r:id="R5d7b0b08518e41d9"/>
    <p:sldId xmlns:r="http://schemas.openxmlformats.org/officeDocument/2006/relationships" id="266" r:id="Rb68479c2f29044c5"/>
    <p:sldId xmlns:r="http://schemas.openxmlformats.org/officeDocument/2006/relationships" id="267" r:id="R185225721b1e446f"/>
    <p:sldId xmlns:r="http://schemas.openxmlformats.org/officeDocument/2006/relationships" id="268" r:id="Rf261db18bb2d4964"/>
    <p:sldId xmlns:r="http://schemas.openxmlformats.org/officeDocument/2006/relationships" id="269" r:id="R0740ae1d706d41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3aeba7151d4645" /><Relationship Type="http://schemas.openxmlformats.org/officeDocument/2006/relationships/slideMaster" Target="/ppt/slideMasters/slideMaster1.xml" Id="R31df3d57a5a545ad" /><Relationship Type="http://schemas.openxmlformats.org/officeDocument/2006/relationships/notesMaster" Target="/ppt/notesMasters/notesMaster1.xml" Id="R29bfd4cff2b142e2" /><Relationship Type="http://schemas.openxmlformats.org/officeDocument/2006/relationships/presProps" Target="/ppt/presProps.xml" Id="Ra0c60adb9861449f" /><Relationship Type="http://schemas.openxmlformats.org/officeDocument/2006/relationships/tableStyles" Target="/ppt/tableStyles.xml" Id="R9320c63134394b6d" /><Relationship Type="http://schemas.openxmlformats.org/officeDocument/2006/relationships/slide" Target="/ppt/slides/slide1.xml" Id="R72dc2bad2ed44ef7" /><Relationship Type="http://schemas.openxmlformats.org/officeDocument/2006/relationships/slide" Target="/ppt/slides/slide2.xml" Id="R8f8bdf8bbf0045bb" /><Relationship Type="http://schemas.openxmlformats.org/officeDocument/2006/relationships/slide" Target="/ppt/slides/slide3.xml" Id="Raec3dd8a22f64734" /><Relationship Type="http://schemas.openxmlformats.org/officeDocument/2006/relationships/slide" Target="/ppt/slides/slide4.xml" Id="R1ff80cdba0d340ae" /><Relationship Type="http://schemas.openxmlformats.org/officeDocument/2006/relationships/slide" Target="/ppt/slides/slide5.xml" Id="R982bd5bb5faa4220" /><Relationship Type="http://schemas.openxmlformats.org/officeDocument/2006/relationships/slide" Target="/ppt/slides/slide6.xml" Id="R16be3f56923c447a" /><Relationship Type="http://schemas.openxmlformats.org/officeDocument/2006/relationships/slide" Target="/ppt/slides/slide7.xml" Id="Rf104dd6c48904298" /><Relationship Type="http://schemas.openxmlformats.org/officeDocument/2006/relationships/slide" Target="/ppt/slides/slide8.xml" Id="R11554f4c02c84be7" /><Relationship Type="http://schemas.openxmlformats.org/officeDocument/2006/relationships/slide" Target="/ppt/slides/slide9.xml" Id="R3d8f6cfb033445f8" /><Relationship Type="http://schemas.openxmlformats.org/officeDocument/2006/relationships/slide" Target="/ppt/slides/slide10.xml" Id="R5d7b0b08518e41d9" /><Relationship Type="http://schemas.openxmlformats.org/officeDocument/2006/relationships/slide" Target="/ppt/slides/slide11.xml" Id="Rb68479c2f29044c5" /><Relationship Type="http://schemas.openxmlformats.org/officeDocument/2006/relationships/slide" Target="/ppt/slides/slide12.xml" Id="R185225721b1e446f" /><Relationship Type="http://schemas.openxmlformats.org/officeDocument/2006/relationships/slide" Target="/ppt/slides/slide13.xml" Id="Rf261db18bb2d4964" /><Relationship Type="http://schemas.openxmlformats.org/officeDocument/2006/relationships/slide" Target="/ppt/slides/slide14.xml" Id="R0740ae1d706d41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62bc75ea7447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d0807220004640" /><Relationship Type="http://schemas.openxmlformats.org/officeDocument/2006/relationships/notesMaster" Target="/ppt/notesMasters/notesMaster1.xml" Id="R448abdd33d1144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43fdaabaed48d5" /><Relationship Type="http://schemas.openxmlformats.org/officeDocument/2006/relationships/notesMaster" Target="/ppt/notesMasters/notesMaster1.xml" Id="Rc2c1ab7ffc1249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088ff7fd7f4081" /><Relationship Type="http://schemas.openxmlformats.org/officeDocument/2006/relationships/notesMaster" Target="/ppt/notesMasters/notesMaster1.xml" Id="R1bf09fa3f8ab45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f61112150c4b1d" /><Relationship Type="http://schemas.openxmlformats.org/officeDocument/2006/relationships/notesMaster" Target="/ppt/notesMasters/notesMaster1.xml" Id="R4790782593084c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deb97061904fc6" /><Relationship Type="http://schemas.openxmlformats.org/officeDocument/2006/relationships/notesMaster" Target="/ppt/notesMasters/notesMaster1.xml" Id="R0191f322dec94a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82f27dfa054189" /><Relationship Type="http://schemas.openxmlformats.org/officeDocument/2006/relationships/notesMaster" Target="/ppt/notesMasters/notesMaster1.xml" Id="R91d91c5380ff42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b6eca3dce04bec" /><Relationship Type="http://schemas.openxmlformats.org/officeDocument/2006/relationships/notesMaster" Target="/ppt/notesMasters/notesMaster1.xml" Id="R3ddc3cda7cd145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3c79b9db084b2e" /><Relationship Type="http://schemas.openxmlformats.org/officeDocument/2006/relationships/notesMaster" Target="/ppt/notesMasters/notesMaster1.xml" Id="R337756612e244e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1437ff4a544d15" /><Relationship Type="http://schemas.openxmlformats.org/officeDocument/2006/relationships/notesMaster" Target="/ppt/notesMasters/notesMaster1.xml" Id="Ra2c1c30c485e41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24cd62aaae485c" /><Relationship Type="http://schemas.openxmlformats.org/officeDocument/2006/relationships/notesMaster" Target="/ppt/notesMasters/notesMaster1.xml" Id="R62a74483f4964c4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73550b2db814abe" /><Relationship Type="http://schemas.openxmlformats.org/officeDocument/2006/relationships/notesMaster" Target="/ppt/notesMasters/notesMaster1.xml" Id="Re97fa00d8f0f46a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33be84a43564d04" /><Relationship Type="http://schemas.openxmlformats.org/officeDocument/2006/relationships/notesMaster" Target="/ppt/notesMasters/notesMaster1.xml" Id="Rada2a3ba753645f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cda02deb2e84f7d" /><Relationship Type="http://schemas.openxmlformats.org/officeDocument/2006/relationships/notesMaster" Target="/ppt/notesMasters/notesMaster1.xml" Id="R23138f786dea4f5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a4f6fa40ad44675" /><Relationship Type="http://schemas.openxmlformats.org/officeDocument/2006/relationships/notesMaster" Target="/ppt/notesMasters/notesMaster1.xml" Id="R6f1f7557421d4a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đầu bằng câu hỏi: mô hình nào vừa chính xác, vừa ổn định, vừa phù hợp định hướng mobile?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lúa/model_benchmark/docs/abc.docx</a:t>
            </a:r>
          </a:p>
          <a:p xmlns:a="http://schemas.openxmlformats.org/drawingml/2006/main">
            <a:r>
              <a:t>- D:/Phát hiện bệnh cây lúa/model_benchmark/runs/final_test_v2/final_comparison.json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Nêu kết luận sớm để thầy biết hướng đọc toàn bộ phần còn lại; các slide sau lần lượt chứng minh ba tiêu chí.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lúa/model_benchmark/docs/abc.docx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đây là so sánh backbone, không phải so sánh thuật toán phát hiện vật thể. Các trọng số ImageNet là checkpoint chính thức của TorchVision.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https://docs.pytorch.org/vision/0.17/models.html</a:t>
            </a:r>
          </a:p>
          <a:p xmlns:a="http://schemas.openxmlformats.org/drawingml/2006/main">
            <a:r>
              <a:t>- https://openaccess.thecvf.com/content_ICCV_2019/html/Howard_Searching_for_MobileNetV3_ICCV_2019_paper.html</a:t>
            </a:r>
          </a:p>
          <a:p xmlns:a="http://schemas.openxmlformats.org/drawingml/2006/main">
            <a:r>
              <a:t>- https://proceedings.mlr.press/v97/tan19a.html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Nhấn mạnh test được khóa, nhưng không gọi đây là external validation. Tỷ lệ 70/15/15 là theo ảnh.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lúa/research/data/splits/rice_cleaned_v4_exact_cross_label_conflicts_excluded_v1.metadata.json</a:t>
            </a:r>
          </a:p>
          <a:p xmlns:a="http://schemas.openxmlformats.org/drawingml/2006/main">
            <a:r>
              <a:t>- D:/Phát hiện bệnh cây lúa/research/data/splits/rice_cleaned_v4_exact_cross_label_conflicts_excluded_v1.csv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Đi từng bước từ trái sang phải. Điểm kiểm soát quan trọng nhất là test không được đọc trong train_backbone.py.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lúa/model_benchmark/src/train_backbone.py</a:t>
            </a:r>
          </a:p>
          <a:p xmlns:a="http://schemas.openxmlformats.org/drawingml/2006/main">
            <a:r>
              <a:t>- D:/Phát hiện bệnh cây lúa/model_benchmark/src/final_evaluate_v2.py</a:t>
            </a:r>
          </a:p>
          <a:p xmlns:a="http://schemas.openxmlformats.org/drawingml/2006/main">
            <a:r>
              <a:t>- https://www.jmlr.org/papers/v11/cawley10a.html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ngắn gọn: Accuracy dễ bị lớp lớn chi phối; Macro-F1 giúp nhìn đều các lớp. SD seed và CI bootstrap trả lời hai câu hỏi khác nhau.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https://scikit-learn.org/stable/modules/generated/sklearn.metrics.precision_recall_fscore_support.html</a:t>
            </a:r>
          </a:p>
          <a:p xmlns:a="http://schemas.openxmlformats.org/drawingml/2006/main">
            <a:r>
              <a:t>- https://doi.org/10.1214/ss/1177013815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Nêu mean qua ba seed. Không gọi khác biệt 0,441 điểm là lớn trước khi xem bất định và lớp cụ thể.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lúa/model_benchmark/runs/final_test_v2/final_comparison.json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Seed không phải thời gian; đường nối chỉ hỗ trợ mắt. Ba seed chỉ là ước lượng bước đầu của biến thiên huấn luyện.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lúa/model_benchmark/runs/final_test_v2/final_comparison.json</a:t>
            </a:r>
          </a:p>
          <a:p xmlns:a="http://schemas.openxmlformats.org/drawingml/2006/main">
            <a:r>
              <a:t>- https://aclanthology.org/D17-1035/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Hướng người nghe đọc cả F1 và support n. Hai lớp support rất thấp không đủ bằng chứng để khẳng định độ tổng quát.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lúa/model_benchmark/docs/_results_report_assets/fig_per_class_heatmap.png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Dùng slide này để chuyển từ điểm số sang hành vi lỗi. Không suy diễn nguyên nhân chỉ từ confusion.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lúa/model_benchmark/docs/_results_report_assets/fig_confusion_best_mobile.png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V3-Large vượt ShuffleNet rõ ở cả ba seed. So với EfficientNet-B0, chỉ seed 2026 có CI hoàn toàn âm; không tuyên bố ưu thế thống kê tổng thể sau 15 so sánh.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lúa/model_benchmark/docs/_results_report_assets/fig_paired_bootstrap.png</a:t>
            </a:r>
          </a:p>
          <a:p xmlns:a="http://schemas.openxmlformats.org/drawingml/2006/main">
            <a:r>
              <a:t>- https://doi.org/10.1214/ss/1177013815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gian train chịu ảnh hưởng tải máy và early stopping, nên không đồng nghĩa tốc độ suy luận. Cần benchmark cùng runtime trên cùng điện thoại.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lúa/model_benchmark/docs/abc.docx</a:t>
            </a:r>
          </a:p>
          <a:p xmlns:a="http://schemas.openxmlformats.org/drawingml/2006/main">
            <a:r>
              <a:t>- D:/Phát hiện bệnh cây lúa/model_benchmark/runs/training_v2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Chủ động nêu giới hạn để tránh overclaim. Kết quả đã được tính lại từ 18 file dự đoán, nhưng độ tổng quát cần một phép thử độc lập hơn.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lúa/research/data/splits/rice_cleaned_v4_exact_cross_label_conflicts_excluded_v1.metadata.json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https://doi.org/10.1016/j.patter.2023.100804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thúc bằng quyết định cần thầy góp ý: thiết kế tập xác minh độc lập. Không cần phủ nhận kết quả hiện tại; chỉ đặt đúng phạm vi bằng chứng.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lúa/model_benchmark/docs/BAO_CAO_PHAN_TICH_KET_QUA_SO_SANH_6_MO_HINH.docx</a:t>
            </a:r>
          </a:p>
          <a:p xmlns:a="http://schemas.openxmlformats.org/drawingml/2006/main">
            <a:r>
              <a:t>- D:/Phát hiện bệnh cây lúa/model_benchmark/runs/final_test_v2/final_comparison.json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7fb2f35ac447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7d188fd2a94ce3" /><Relationship Type="http://schemas.openxmlformats.org/officeDocument/2006/relationships/slideLayout" Target="/ppt/slideLayouts/slideLayout1.xml" Id="R45bc654870a64e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bc654870a64e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7ee36215c4b07" /><Relationship Type="http://schemas.openxmlformats.org/officeDocument/2006/relationships/notesSlide" Target="/ppt/notesSlides/notesSlide1.xml" Id="R1443fe28bed149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37ab8200f449f" /><Relationship Type="http://schemas.openxmlformats.org/officeDocument/2006/relationships/notesSlide" Target="/ppt/notesSlides/notesSlide2.xml" Id="Raf114caa18e542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cb106b25641b4" /><Relationship Type="http://schemas.openxmlformats.org/officeDocument/2006/relationships/notesSlide" Target="/ppt/notesSlides/notesSlide3.xml" Id="Rf6835a31b3b14f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a24b1f4024f45" /><Relationship Type="http://schemas.openxmlformats.org/officeDocument/2006/relationships/notesSlide" Target="/ppt/notesSlides/notesSlide4.xml" Id="Re7963bc67eee4b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794c1ded64d41" /><Relationship Type="http://schemas.openxmlformats.org/officeDocument/2006/relationships/notesSlide" Target="/ppt/notesSlides/notesSlide5.xml" Id="R243185f6b2164d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487719f2445db" /><Relationship Type="http://schemas.openxmlformats.org/officeDocument/2006/relationships/notesSlide" Target="/ppt/notesSlides/notesSlide6.xml" Id="Rc81543420e2448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eced7640342f7" /><Relationship Type="http://schemas.openxmlformats.org/officeDocument/2006/relationships/chart" Target="/ppt/slides/charts/chart1.xml" Id="R0df1e43a0af0464a" /><Relationship Type="http://schemas.openxmlformats.org/officeDocument/2006/relationships/notesSlide" Target="/ppt/notesSlides/notesSlide7.xml" Id="Rdf0a10da6f2b44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0b452e01124edf" /><Relationship Type="http://schemas.openxmlformats.org/officeDocument/2006/relationships/chart" Target="/ppt/slides/charts/chart2.xml" Id="Rfc5beb5aa2b64ab0" /><Relationship Type="http://schemas.openxmlformats.org/officeDocument/2006/relationships/notesSlide" Target="/ppt/notesSlides/notesSlide8.xml" Id="Rbc440200235d41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2bad31e314ddb" /><Relationship Type="http://schemas.openxmlformats.org/officeDocument/2006/relationships/image" Target="/ppt/media/image.png" Id="R35108fe637ed4947" /><Relationship Type="http://schemas.openxmlformats.org/officeDocument/2006/relationships/notesSlide" Target="/ppt/notesSlides/notesSlide9.xml" Id="Rbe989d2a09c34f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03f69cad1490b" /><Relationship Type="http://schemas.openxmlformats.org/officeDocument/2006/relationships/image" Target="/ppt/media/image2.png" Id="R00980b5724594af9" /><Relationship Type="http://schemas.openxmlformats.org/officeDocument/2006/relationships/notesSlide" Target="/ppt/notesSlides/notesSlide10.xml" Id="R53e837c5e67b41b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aed02e28241cd" /><Relationship Type="http://schemas.openxmlformats.org/officeDocument/2006/relationships/image" Target="/ppt/media/image3.png" Id="R1715251f11294f19" /><Relationship Type="http://schemas.openxmlformats.org/officeDocument/2006/relationships/notesSlide" Target="/ppt/notesSlides/notesSlide11.xml" Id="Redeee8fa634a42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9e904cc454365" /><Relationship Type="http://schemas.openxmlformats.org/officeDocument/2006/relationships/notesSlide" Target="/ppt/notesSlides/notesSlide12.xml" Id="R2a89e5727b474eb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09b4a990d4aed" /><Relationship Type="http://schemas.openxmlformats.org/officeDocument/2006/relationships/notesSlide" Target="/ppt/notesSlides/notesSlide13.xml" Id="R9d0b95242b084a5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76d126ce54b49" /><Relationship Type="http://schemas.openxmlformats.org/officeDocument/2006/relationships/notesSlide" Target="/ppt/notesSlides/notesSlide14.xml" Id="R5602351b94bc4b0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Mean Macro-F1 (%)</c:v>
          </c:tx>
          <c:spPr>
            <a:solidFill xmlns:a="http://schemas.openxmlformats.org/drawingml/2006/main">
              <a:srgbClr val="2176AE"/>
            </a:solidFill>
          </c:spPr>
          <c:cat>
            <c:strRef>
              <c:f>'Chart Data'!$A$2:$A$7</c:f>
              <c:strCache>
                <c:ptCount val="6"/>
                <c:pt idx="0">
                  <c:v>EfficientNet-B0</c:v>
                </c:pt>
                <c:pt idx="1">
                  <c:v>MobileNetV3-L</c:v>
                </c:pt>
                <c:pt idx="2">
                  <c:v>ResNet-18</c:v>
                </c:pt>
                <c:pt idx="3">
                  <c:v>DenseNet-121</c:v>
                </c:pt>
                <c:pt idx="4">
                  <c:v>MobileNetV2</c:v>
                </c:pt>
                <c:pt idx="5">
                  <c:v>ShuffleNet V2</c:v>
                </c:pt>
              </c:strCache>
            </c:strRef>
          </c:cat>
          <c:val>
            <c:numRef>
              <c:f>'Chart Data'!$B$2:$B$7</c:f>
              <c:numCache>
                <c:formatCode>0.000</c:formatCode>
                <c:ptCount val="6"/>
                <c:pt idx="0">
                  <c:v>97.764</c:v>
                </c:pt>
                <c:pt idx="1">
                  <c:v>97.323</c:v>
                </c:pt>
                <c:pt idx="2">
                  <c:v>96.878</c:v>
                </c:pt>
                <c:pt idx="3">
                  <c:v>96.658</c:v>
                </c:pt>
                <c:pt idx="4">
                  <c:v>96.184</c:v>
                </c:pt>
                <c:pt idx="5">
                  <c:v>90.971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0B172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3F5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16B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720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EfficientNet-B0</c:v>
          </c:tx>
          <c:spPr>
            <a:ln xmlns:a="http://schemas.openxmlformats.org/drawingml/2006/main" w="28575">
              <a:solidFill>
                <a:srgbClr val="2F855A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2F855A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42</c:v>
                </c:pt>
                <c:pt idx="1">
                  <c:v>123</c:v>
                </c:pt>
                <c:pt idx="2">
                  <c:v>2026</c:v>
                </c:pt>
              </c:numCache>
            </c:num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97.784</c:v>
                </c:pt>
                <c:pt idx="1">
                  <c:v>97.693</c:v>
                </c:pt>
                <c:pt idx="2">
                  <c:v>97.817</c:v>
                </c:pt>
              </c:numCache>
            </c:numRef>
          </c:val>
        </c:ser>
        <c:ser>
          <c:idx val="1"/>
          <c:order val="1"/>
          <c:tx>
            <c:v>MobileNetV3-L</c:v>
          </c:tx>
          <c:spPr>
            <a:ln xmlns:a="http://schemas.openxmlformats.org/drawingml/2006/main" w="28575">
              <a:solidFill>
                <a:srgbClr val="2176AE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2176AE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42</c:v>
                </c:pt>
                <c:pt idx="1">
                  <c:v>123</c:v>
                </c:pt>
                <c:pt idx="2">
                  <c:v>2026</c:v>
                </c:pt>
              </c:numCache>
            </c:num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97.545</c:v>
                </c:pt>
                <c:pt idx="1">
                  <c:v>97.363</c:v>
                </c:pt>
                <c:pt idx="2">
                  <c:v>97.062</c:v>
                </c:pt>
              </c:numCache>
            </c:numRef>
          </c:val>
        </c:ser>
        <c:ser>
          <c:idx val="2"/>
          <c:order val="2"/>
          <c:tx>
            <c:v>ResNet-18</c:v>
          </c:tx>
          <c:spPr>
            <a:ln xmlns:a="http://schemas.openxmlformats.org/drawingml/2006/main" w="28575">
              <a:solidFill>
                <a:srgbClr val="6755C5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6755C5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42</c:v>
                </c:pt>
                <c:pt idx="1">
                  <c:v>123</c:v>
                </c:pt>
                <c:pt idx="2">
                  <c:v>2026</c:v>
                </c:pt>
              </c:numCache>
            </c:num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97.592</c:v>
                </c:pt>
                <c:pt idx="1">
                  <c:v>97.206</c:v>
                </c:pt>
                <c:pt idx="2">
                  <c:v>95.835</c:v>
                </c:pt>
              </c:numCache>
            </c:numRef>
          </c:val>
        </c:ser>
        <c:ser>
          <c:idx val="3"/>
          <c:order val="3"/>
          <c:tx>
            <c:v>DenseNet-121</c:v>
          </c:tx>
          <c:spPr>
            <a:ln xmlns:a="http://schemas.openxmlformats.org/drawingml/2006/main" w="28575">
              <a:solidFill>
                <a:srgbClr val="168A91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168A91"/>
              </a:solidFill>
            </c:spPr>
          </c:marker>
          <c:cat>
            <c:numRef>
              <c:f>'Chart Data'!$G$2:$G$4</c:f>
              <c:numCache>
                <c:formatCode>General</c:formatCode>
                <c:ptCount val="3"/>
                <c:pt idx="0">
                  <c:v>42</c:v>
                </c:pt>
                <c:pt idx="1">
                  <c:v>123</c:v>
                </c:pt>
                <c:pt idx="2">
                  <c:v>2026</c:v>
                </c:pt>
              </c:numCache>
            </c:numRef>
          </c:cat>
          <c:val>
            <c:numRef>
              <c:f>'Chart Data'!$H$2:$H$4</c:f>
              <c:numCache>
                <c:formatCode>General</c:formatCode>
                <c:ptCount val="3"/>
                <c:pt idx="0">
                  <c:v>96.357</c:v>
                </c:pt>
                <c:pt idx="1">
                  <c:v>96.622</c:v>
                </c:pt>
                <c:pt idx="2">
                  <c:v>96.993</c:v>
                </c:pt>
              </c:numCache>
            </c:numRef>
          </c:val>
        </c:ser>
        <c:ser>
          <c:idx val="4"/>
          <c:order val="4"/>
          <c:tx>
            <c:v>MobileNetV2</c:v>
          </c:tx>
          <c:spPr>
            <a:ln xmlns:a="http://schemas.openxmlformats.org/drawingml/2006/main" w="28575">
              <a:solidFill>
                <a:srgbClr val="E07A2D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E07A2D"/>
              </a:solidFill>
            </c:spPr>
          </c:marker>
          <c:cat>
            <c:numRef>
              <c:f>'Chart Data'!$I$2:$I$4</c:f>
              <c:numCache>
                <c:formatCode>General</c:formatCode>
                <c:ptCount val="3"/>
                <c:pt idx="0">
                  <c:v>42</c:v>
                </c:pt>
                <c:pt idx="1">
                  <c:v>123</c:v>
                </c:pt>
                <c:pt idx="2">
                  <c:v>2026</c:v>
                </c:pt>
              </c:numCache>
            </c:numRef>
          </c:cat>
          <c:val>
            <c:numRef>
              <c:f>'Chart Data'!$J$2:$J$4</c:f>
              <c:numCache>
                <c:formatCode>General</c:formatCode>
                <c:ptCount val="3"/>
                <c:pt idx="0">
                  <c:v>96.829</c:v>
                </c:pt>
                <c:pt idx="1">
                  <c:v>95.128</c:v>
                </c:pt>
                <c:pt idx="2">
                  <c:v>96.596</c:v>
                </c:pt>
              </c:numCache>
            </c:numRef>
          </c:val>
        </c:ser>
        <c:ser>
          <c:idx val="5"/>
          <c:order val="5"/>
          <c:tx>
            <c:v>ShuffleNet V2</c:v>
          </c:tx>
          <c:spPr>
            <a:ln xmlns:a="http://schemas.openxmlformats.org/drawingml/2006/main" w="28575">
              <a:solidFill>
                <a:srgbClr val="B64B46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B64B46"/>
              </a:solidFill>
            </c:spPr>
          </c:marker>
          <c:cat>
            <c:numRef>
              <c:f>'Chart Data'!$K$2:$K$4</c:f>
              <c:numCache>
                <c:formatCode>General</c:formatCode>
                <c:ptCount val="3"/>
                <c:pt idx="0">
                  <c:v>42</c:v>
                </c:pt>
                <c:pt idx="1">
                  <c:v>123</c:v>
                </c:pt>
                <c:pt idx="2">
                  <c:v>2026</c:v>
                </c:pt>
              </c:numCache>
            </c:numRef>
          </c:cat>
          <c:val>
            <c:numRef>
              <c:f>'Chart Data'!$L$2:$L$4</c:f>
              <c:numCache>
                <c:formatCode>General</c:formatCode>
                <c:ptCount val="3"/>
                <c:pt idx="0">
                  <c:v>92.696</c:v>
                </c:pt>
                <c:pt idx="1">
                  <c:v>90.899</c:v>
                </c:pt>
                <c:pt idx="2">
                  <c:v>89.317</c:v>
                </c:pt>
              </c:numCache>
            </c:numRef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52616B"/>
                    </a:solidFill>
                  </a:rPr>
                  <a:t>Training seed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52616B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72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99"/>
          <c:min val="8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3F5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52616B"/>
                    </a:solidFill>
                  </a:rPr>
                  <a:t>Macro-F1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52616B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16B"/>
                </a:solidFill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0B172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55BF6EAE-5A1B-43E9-9DA1-E86E2F06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BÁO CÁO SƠ BỘ • RICEAI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88B9C1A-E172-4BE1-9A07-57C30A27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7620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So sánh 6 mô hình CNN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trên bài toán lúa 19 lớp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AE5E883-AE28-4E1C-AE67-63A4955A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195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Đánh giá có kiểm soát về chất lượng, độ ổn định và chi phí mô hình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2D90BF6C-5333-4546-BB09-9D9C8CDE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stat">
            <a:extLst xmlns:a="http://schemas.openxmlformats.org/drawingml/2006/main">
              <a:ext uri="{FF2B5EF4-FFF2-40B4-BE49-F238E27FC236}">
                <a16:creationId xmlns:a16="http://schemas.microsoft.com/office/drawing/2014/main" id="{363EF12E-3908-420B-9BA8-22CE1407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43125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6 × 3</a:t>
            </a:r>
          </a:p>
        </p:txBody>
      </p:sp>
      <p:sp>
        <p:nvSpPr>
          <p:cNvPr id="6" name="cover-stat-label">
            <a:extLst xmlns:a="http://schemas.openxmlformats.org/drawingml/2006/main">
              <a:ext uri="{FF2B5EF4-FFF2-40B4-BE49-F238E27FC236}">
                <a16:creationId xmlns:a16="http://schemas.microsoft.com/office/drawing/2014/main" id="{B869B542-8D56-48EA-8B1D-09BC07F6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051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mô hình × seed</a:t>
            </a:r>
          </a:p>
        </p:txBody>
      </p:sp>
      <p:sp>
        <p:nvSpPr>
          <p:cNvPr id="7" name="cover-date">
            <a:extLst xmlns:a="http://schemas.openxmlformats.org/drawingml/2006/main">
              <a:ext uri="{FF2B5EF4-FFF2-40B4-BE49-F238E27FC236}">
                <a16:creationId xmlns:a16="http://schemas.microsoft.com/office/drawing/2014/main" id="{E0A0B49F-CBDB-4B4C-AADC-59FFE4E9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531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Campaign V2 • Tập test khóa 9.829 ảnh</a:t>
            </a:r>
          </a:p>
        </p:txBody>
      </p:sp>
    </p:spTree>
    <p:extLst>
      <p:ext uri="{BB962C8B-B14F-4D97-AF65-F5344CB8AC3E}">
        <p14:creationId xmlns:p14="http://schemas.microsoft.com/office/powerpoint/2010/main" val="14198930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Câu hỏi không chỉ là “mô hình nào chính xác nhất?”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Trong cùng dữ liệu và protocol, kiến trúc nào tạo ra cân bằng tốt nhất giữa:</a:t>
            </a:r>
          </a:p>
        </p:txBody>
      </p:sp>
      <p:sp>
        <p:nvSpPr>
          <p:cNvPr id="5" name="q-num-0">
            <a:extLst xmlns:a="http://schemas.openxmlformats.org/drawingml/2006/main"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 xmlns:a="http://schemas.openxmlformats.org/drawingml/2006/main"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240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Chất lượng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4312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 và Accuracy trên test khóa</a:t>
            </a:r>
          </a:p>
        </p:txBody>
      </p:sp>
      <p:sp>
        <p:nvSpPr>
          <p:cNvPr id="8" name="q-rule-0">
            <a:extLst xmlns:a="http://schemas.openxmlformats.org/drawingml/2006/main"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-num-1">
            <a:extLst xmlns:a="http://schemas.openxmlformats.org/drawingml/2006/main"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 xmlns:a="http://schemas.openxmlformats.org/drawingml/2006/main"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289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Ổn định</a:t>
            </a:r>
          </a:p>
        </p:txBody>
      </p:sp>
      <p:sp>
        <p:nvSpPr>
          <p:cNvPr id="11" name="q-body-1">
            <a:extLst xmlns:a="http://schemas.openxmlformats.org/drawingml/2006/main"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4802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Biến thiên qua seed 42, 123, 2026</a:t>
            </a:r>
          </a:p>
        </p:txBody>
      </p:sp>
      <p:sp>
        <p:nvSpPr>
          <p:cNvPr id="12" name="q-rule-1">
            <a:extLst xmlns:a="http://schemas.openxmlformats.org/drawingml/2006/main"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q-num-2">
            <a:extLst xmlns:a="http://schemas.openxmlformats.org/drawingml/2006/main"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 xmlns:a="http://schemas.openxmlformats.org/drawingml/2006/main"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338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Hiệu quả</a:t>
            </a:r>
          </a:p>
        </p:txBody>
      </p:sp>
      <p:sp>
        <p:nvSpPr>
          <p:cNvPr id="15" name="q-body-2">
            <a:extLst xmlns:a="http://schemas.openxmlformats.org/drawingml/2006/main"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5292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Tham số, checkpoint và thời gian train</a:t>
            </a:r>
          </a:p>
        </p:txBody>
      </p:sp>
      <p:sp>
        <p:nvSpPr>
          <p:cNvPr id="16" name="q-rule-2">
            <a:extLst xmlns:a="http://schemas.openxmlformats.org/drawingml/2006/main"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nswer">
            <a:extLst xmlns:a="http://schemas.openxmlformats.org/drawingml/2006/main"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52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nswer-text">
            <a:extLst xmlns:a="http://schemas.openxmlformats.org/drawingml/2006/main"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004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3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Kết quả sơ bộ: EfficientNet-B0 dẫn đầu; MobileNetV3-Large là phương án mobile cạnh tranh nhất.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Sáu kiến trúc đại diện các hướng thiết kế khác nhau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10490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3857625"/>
                <a:gridCol w="1524000"/>
                <a:gridCol w="3333750"/>
              </a:tblGrid>
              <a:tr h="625929">
                <a:tc>
                  <a:txBody>
                    <a:bodyPr/>
                    <a:lstStyle/>
                    <a:p>
                      <a:r>
                        <a:t>Mô hình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Đặc trưng chính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Tham số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Vai trò</a:t>
                      </a:r>
                    </a:p>
                  </a:txBody>
                  <a:tcPr marL="91440" marR="91440" marT="45720" marB="45720"/>
                </a:tc>
              </a:tr>
              <a:tr h="625929">
                <a:tc>
                  <a:txBody>
                    <a:bodyPr/>
                    <a:lstStyle/>
                    <a:p>
                      <a:r>
                        <a:t>MobileNetV2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Inverted residual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2,248 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Baseline mobile</a:t>
                      </a:r>
                    </a:p>
                  </a:txBody>
                  <a:tcPr marL="91440" marR="91440" marT="45720" marB="45720"/>
                </a:tc>
              </a:tr>
              <a:tr h="625929">
                <a:tc>
                  <a:txBody>
                    <a:bodyPr/>
                    <a:lstStyle/>
                    <a:p>
                      <a:r>
                        <a:t>MobileNetV3-Large</a:t>
                      </a:r>
                    </a:p>
                  </a:txBody>
                  <a:tcPr marL="91440" marR="91440" marT="45720" marB="45720">
                    <a:solidFill>
                      <a:srgbClr val="E9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NAS, SE, h-swish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4,226 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Ứng viên mobile</a:t>
                      </a:r>
                    </a:p>
                  </a:txBody>
                  <a:tcPr marL="91440" marR="91440" marT="45720" marB="45720">
                    <a:solidFill>
                      <a:srgbClr val="E9F3FA"/>
                    </a:solidFill>
                  </a:tcPr>
                </a:tc>
              </a:tr>
              <a:tr h="625929">
                <a:tc>
                  <a:txBody>
                    <a:bodyPr/>
                    <a:lstStyle/>
                    <a:p>
                      <a:r>
                        <a:t>ResNet-18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Residual connection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11,186 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CNN chuẩn</a:t>
                      </a:r>
                    </a:p>
                  </a:txBody>
                  <a:tcPr marL="91440" marR="91440" marT="45720" marB="45720"/>
                </a:tc>
              </a:tr>
              <a:tr h="625929">
                <a:tc>
                  <a:txBody>
                    <a:bodyPr/>
                    <a:lstStyle/>
                    <a:p>
                      <a:r>
                        <a:t>EfficientNet-B0</a:t>
                      </a:r>
                    </a:p>
                  </a:txBody>
                  <a:tcPr marL="91440" marR="91440" marT="45720" marB="45720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Compound scaling, MBConv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4,032 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Hiệu quả chất lượng</a:t>
                      </a:r>
                    </a:p>
                  </a:txBody>
                  <a:tcPr marL="91440" marR="91440" marT="45720" marB="45720">
                    <a:solidFill>
                      <a:srgbClr val="EAF6F0"/>
                    </a:solidFill>
                  </a:tcPr>
                </a:tc>
              </a:tr>
              <a:tr h="625929">
                <a:tc>
                  <a:txBody>
                    <a:bodyPr/>
                    <a:lstStyle/>
                    <a:p>
                      <a:r>
                        <a:t>ShuffleNet V2 1.0×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Channel shuffle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1,273 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Nhẹ nhất</a:t>
                      </a:r>
                    </a:p>
                  </a:txBody>
                  <a:tcPr marL="91440" marR="91440" marT="45720" marB="45720"/>
                </a:tc>
              </a:tr>
              <a:tr h="625929">
                <a:tc>
                  <a:txBody>
                    <a:bodyPr/>
                    <a:lstStyle/>
                    <a:p>
                      <a:r>
                        <a:t>DenseNet-121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Dense connectivity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6,973 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Tái sử dụng đặc trưng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721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Tất cả thay classifier cho 19 lớp và được huấn luyện theo cùng protocol V2.</a:t>
            </a:r>
          </a:p>
        </p:txBody>
      </p:sp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3">
            <a:extLst xmlns:a="http://schemas.openxmlformats.org/drawingml/2006/main">
              <a:ext uri="{FF2B5EF4-FFF2-40B4-BE49-F238E27FC236}">
                <a16:creationId xmlns:a16="http://schemas.microsoft.com/office/drawing/2014/main" id="{555035D6-8F19-43AF-B330-CE8BF609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65.516 ảnh được khóa thành ba tập dùng chung</a:t>
            </a:r>
          </a:p>
        </p:txBody>
      </p:sp>
      <p:sp>
        <p:nvSpPr>
          <p:cNvPr id="2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AC9E859D-C866-4ADC-B505-E802B609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3">
            <a:extLst xmlns:a="http://schemas.openxmlformats.org/drawingml/2006/main">
              <a:ext uri="{FF2B5EF4-FFF2-40B4-BE49-F238E27FC236}">
                <a16:creationId xmlns:a16="http://schemas.microsoft.com/office/drawing/2014/main" id="{BE82A00E-6ED9-48B3-BE84-16DC734C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split-0">
            <a:extLst xmlns:a="http://schemas.openxmlformats.org/drawingml/2006/main">
              <a:ext uri="{FF2B5EF4-FFF2-40B4-BE49-F238E27FC236}">
                <a16:creationId xmlns:a16="http://schemas.microsoft.com/office/drawing/2014/main" id="{A24EDE7E-80F4-4E84-9EA4-8C8FFD44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plit-num-0">
            <a:extLst xmlns:a="http://schemas.openxmlformats.org/drawingml/2006/main">
              <a:ext uri="{FF2B5EF4-FFF2-40B4-BE49-F238E27FC236}">
                <a16:creationId xmlns:a16="http://schemas.microsoft.com/office/drawing/2014/main" id="{178A4369-AE8C-412E-B264-0F2B6303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5737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45.858</a:t>
            </a:r>
          </a:p>
        </p:txBody>
      </p:sp>
      <p:sp>
        <p:nvSpPr>
          <p:cNvPr id="6" name="split-name-0">
            <a:extLst xmlns:a="http://schemas.openxmlformats.org/drawingml/2006/main">
              <a:ext uri="{FF2B5EF4-FFF2-40B4-BE49-F238E27FC236}">
                <a16:creationId xmlns:a16="http://schemas.microsoft.com/office/drawing/2014/main" id="{D7117894-4999-45DF-BC16-A3975A4C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812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7" name="split-pct-0">
            <a:extLst xmlns:a="http://schemas.openxmlformats.org/drawingml/2006/main">
              <a:ext uri="{FF2B5EF4-FFF2-40B4-BE49-F238E27FC236}">
                <a16:creationId xmlns:a16="http://schemas.microsoft.com/office/drawing/2014/main" id="{0D2DB7B7-5A39-49DD-8170-3A3F8897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70%</a:t>
            </a:r>
          </a:p>
        </p:txBody>
      </p:sp>
      <p:sp>
        <p:nvSpPr>
          <p:cNvPr id="8" name="split-1">
            <a:extLst xmlns:a="http://schemas.openxmlformats.org/drawingml/2006/main">
              <a:ext uri="{FF2B5EF4-FFF2-40B4-BE49-F238E27FC236}">
                <a16:creationId xmlns:a16="http://schemas.microsoft.com/office/drawing/2014/main" id="{BD6FD7A2-6B75-4645-A9B2-1BB450E3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24000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plit-num-1">
            <a:extLst xmlns:a="http://schemas.openxmlformats.org/drawingml/2006/main">
              <a:ext uri="{FF2B5EF4-FFF2-40B4-BE49-F238E27FC236}">
                <a16:creationId xmlns:a16="http://schemas.microsoft.com/office/drawing/2014/main" id="{C99F28A5-C9C2-484D-B5FC-01292FCA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85737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9.829</a:t>
            </a:r>
          </a:p>
        </p:txBody>
      </p:sp>
      <p:sp>
        <p:nvSpPr>
          <p:cNvPr id="10" name="split-name-1">
            <a:extLst xmlns:a="http://schemas.openxmlformats.org/drawingml/2006/main">
              <a:ext uri="{FF2B5EF4-FFF2-40B4-BE49-F238E27FC236}">
                <a16:creationId xmlns:a16="http://schemas.microsoft.com/office/drawing/2014/main" id="{49BB4F87-A31A-4DBB-A3DE-D2C18D27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812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1" name="split-pct-1">
            <a:extLst xmlns:a="http://schemas.openxmlformats.org/drawingml/2006/main">
              <a:ext uri="{FF2B5EF4-FFF2-40B4-BE49-F238E27FC236}">
                <a16:creationId xmlns:a16="http://schemas.microsoft.com/office/drawing/2014/main" id="{BC79830A-FA89-4D77-9705-730CAC4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81325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12" name="split-2">
            <a:extLst xmlns:a="http://schemas.openxmlformats.org/drawingml/2006/main">
              <a:ext uri="{FF2B5EF4-FFF2-40B4-BE49-F238E27FC236}">
                <a16:creationId xmlns:a16="http://schemas.microsoft.com/office/drawing/2014/main" id="{3EE194D7-0154-42E5-B058-3A2C0F9C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24000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plit-num-2">
            <a:extLst xmlns:a="http://schemas.openxmlformats.org/drawingml/2006/main">
              <a:ext uri="{FF2B5EF4-FFF2-40B4-BE49-F238E27FC236}">
                <a16:creationId xmlns:a16="http://schemas.microsoft.com/office/drawing/2014/main" id="{445678F7-E8C7-4FB1-B73A-FDB62860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85737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9.829</a:t>
            </a:r>
          </a:p>
        </p:txBody>
      </p:sp>
      <p:sp>
        <p:nvSpPr>
          <p:cNvPr id="14" name="split-name-2">
            <a:extLst xmlns:a="http://schemas.openxmlformats.org/drawingml/2006/main">
              <a:ext uri="{FF2B5EF4-FFF2-40B4-BE49-F238E27FC236}">
                <a16:creationId xmlns:a16="http://schemas.microsoft.com/office/drawing/2014/main" id="{6B341295-5A40-4AA5-89A8-C5DF2962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812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15" name="split-pct-2">
            <a:extLst xmlns:a="http://schemas.openxmlformats.org/drawingml/2006/main">
              <a:ext uri="{FF2B5EF4-FFF2-40B4-BE49-F238E27FC236}">
                <a16:creationId xmlns:a16="http://schemas.microsoft.com/office/drawing/2014/main" id="{754799DF-0144-4B96-B80F-FDFA1D4F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81325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16" name="data-notes">
            <a:extLst xmlns:a="http://schemas.openxmlformats.org/drawingml/2006/main">
              <a:ext uri="{FF2B5EF4-FFF2-40B4-BE49-F238E27FC236}">
                <a16:creationId xmlns:a16="http://schemas.microsoft.com/office/drawing/2014/main" id="{855B28A4-9D28-452F-82A2-5807C26B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52875"/>
            <a:ext cx="647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• 19 lớp: bệnh, sinh vật gây hại, cỏ dại và trạng thái bình thường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• Chia phân tầng theo nhãn ở cấp ảnh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• Cùng manifest cho toàn bộ 18 lần huấn luyện</a:t>
            </a:r>
          </a:p>
        </p:txBody>
      </p:sp>
      <p:sp>
        <p:nvSpPr>
          <p:cNvPr id="17" name="data-caveat">
            <a:extLst xmlns:a="http://schemas.openxmlformats.org/drawingml/2006/main">
              <a:ext uri="{FF2B5EF4-FFF2-40B4-BE49-F238E27FC236}">
                <a16:creationId xmlns:a16="http://schemas.microsoft.com/office/drawing/2014/main" id="{241A7699-B643-4D1A-B80F-4079F65C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52875"/>
            <a:ext cx="37623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ata-caveat-title">
            <a:extLst xmlns:a="http://schemas.openxmlformats.org/drawingml/2006/main">
              <a:ext uri="{FF2B5EF4-FFF2-40B4-BE49-F238E27FC236}">
                <a16:creationId xmlns:a16="http://schemas.microsoft.com/office/drawing/2014/main" id="{95F4477B-B71B-4659-88A8-A6B31F0D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10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07A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07A2D"/>
                </a:solidFill>
                <a:latin typeface="Arial"/>
                <a:ea typeface="Arial"/>
                <a:cs typeface="Arial"/>
              </a:rPr>
              <a:t>Giới hạn quan trọng</a:t>
            </a:r>
          </a:p>
        </p:txBody>
      </p:sp>
      <p:sp>
        <p:nvSpPr>
          <p:cNvPr id="19" name="data-caveat-body">
            <a:extLst xmlns:a="http://schemas.openxmlformats.org/drawingml/2006/main">
              <a:ext uri="{FF2B5EF4-FFF2-40B4-BE49-F238E27FC236}">
                <a16:creationId xmlns:a16="http://schemas.microsoft.com/office/drawing/2014/main" id="{0D3795B5-3CE6-4690-8D76-73900092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6196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Chưa group theo cây, ruộng hoặc phiên chụp; chưa phải phép thử độc lập ngoài thực địa.</a:t>
            </a:r>
          </a:p>
        </p:txBody>
      </p:sp>
    </p:spTree>
    <p:extLst>
      <p:ext uri="{BB962C8B-B14F-4D97-AF65-F5344CB8AC3E}">
        <p14:creationId xmlns:p14="http://schemas.microsoft.com/office/powerpoint/2010/main" val="3858066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-5">
            <a:extLst xmlns:a="http://schemas.openxmlformats.org/drawingml/2006/main">
              <a:ext uri="{FF2B5EF4-FFF2-40B4-BE49-F238E27FC236}">
                <a16:creationId xmlns:a16="http://schemas.microsoft.com/office/drawing/2014/main" id="{826D2D10-15D5-452D-B731-5EBF6E7A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Protocol tách rõ huấn luyện, chọn checkpoint và test cuối</a:t>
            </a:r>
          </a:p>
        </p:txBody>
      </p:sp>
      <p:sp>
        <p:nvSpPr>
          <p:cNvPr id="2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095EAF37-935E-4FB6-9C76-4FA2BAF9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5">
            <a:extLst xmlns:a="http://schemas.openxmlformats.org/drawingml/2006/main">
              <a:ext uri="{FF2B5EF4-FFF2-40B4-BE49-F238E27FC236}">
                <a16:creationId xmlns:a16="http://schemas.microsoft.com/office/drawing/2014/main" id="{524D11A2-9F59-4EE5-BBD3-E439F06C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flow-line-0">
            <a:extLst xmlns:a="http://schemas.openxmlformats.org/drawingml/2006/main">
              <a:ext uri="{FF2B5EF4-FFF2-40B4-BE49-F238E27FC236}">
                <a16:creationId xmlns:a16="http://schemas.microsoft.com/office/drawing/2014/main" id="{197F315F-B670-4E8E-985B-B7D695D3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09900"/>
            <a:ext cx="80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low-line-1">
            <a:extLst xmlns:a="http://schemas.openxmlformats.org/drawingml/2006/main">
              <a:ext uri="{FF2B5EF4-FFF2-40B4-BE49-F238E27FC236}">
                <a16:creationId xmlns:a16="http://schemas.microsoft.com/office/drawing/2014/main" id="{9955E7A9-4ABE-4C71-8EF7-7CFFC467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9900"/>
            <a:ext cx="80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low-line-2">
            <a:extLst xmlns:a="http://schemas.openxmlformats.org/drawingml/2006/main">
              <a:ext uri="{FF2B5EF4-FFF2-40B4-BE49-F238E27FC236}">
                <a16:creationId xmlns:a16="http://schemas.microsoft.com/office/drawing/2014/main" id="{850E141A-735C-4773-9423-A37A3F03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09900"/>
            <a:ext cx="80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low-line-3">
            <a:extLst xmlns:a="http://schemas.openxmlformats.org/drawingml/2006/main">
              <a:ext uri="{FF2B5EF4-FFF2-40B4-BE49-F238E27FC236}">
                <a16:creationId xmlns:a16="http://schemas.microsoft.com/office/drawing/2014/main" id="{7E862339-4B30-45C6-9078-DFA0A718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09900"/>
            <a:ext cx="80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low-node-0">
            <a:extLst xmlns:a="http://schemas.openxmlformats.org/drawingml/2006/main">
              <a:ext uri="{FF2B5EF4-FFF2-40B4-BE49-F238E27FC236}">
                <a16:creationId xmlns:a16="http://schemas.microsoft.com/office/drawing/2014/main" id="{E8451528-C4BB-434E-9812-B76DF08B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low-num-0">
            <a:extLst xmlns:a="http://schemas.openxmlformats.org/drawingml/2006/main">
              <a:ext uri="{FF2B5EF4-FFF2-40B4-BE49-F238E27FC236}">
                <a16:creationId xmlns:a16="http://schemas.microsoft.com/office/drawing/2014/main" id="{9C30586C-E89B-491C-B61A-70ED2077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6912F287-618A-4139-A66E-CC513133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KHÓA ĐẦU VÀO</a:t>
            </a:r>
          </a:p>
        </p:txBody>
      </p:sp>
      <p:sp>
        <p:nvSpPr>
          <p:cNvPr id="11" name="flow-body-0">
            <a:extLst xmlns:a="http://schemas.openxmlformats.org/drawingml/2006/main">
              <a:ext uri="{FF2B5EF4-FFF2-40B4-BE49-F238E27FC236}">
                <a16:creationId xmlns:a16="http://schemas.microsoft.com/office/drawing/2014/main" id="{C7A906C4-ABB5-434D-B9BD-154A4B67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147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Manifest, nhãn, cấu hình</a:t>
            </a:r>
          </a:p>
        </p:txBody>
      </p:sp>
      <p:sp>
        <p:nvSpPr>
          <p:cNvPr id="12" name="flow-node-1">
            <a:extLst xmlns:a="http://schemas.openxmlformats.org/drawingml/2006/main">
              <a:ext uri="{FF2B5EF4-FFF2-40B4-BE49-F238E27FC236}">
                <a16:creationId xmlns:a16="http://schemas.microsoft.com/office/drawing/2014/main" id="{E2092F7E-8E8E-4FE5-AD6D-5B8F853C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low-num-1">
            <a:extLst xmlns:a="http://schemas.openxmlformats.org/drawingml/2006/main">
              <a:ext uri="{FF2B5EF4-FFF2-40B4-BE49-F238E27FC236}">
                <a16:creationId xmlns:a16="http://schemas.microsoft.com/office/drawing/2014/main" id="{43D33EC6-CD2E-4EDE-9442-B91E6805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500E1CE1-7DE6-4DC5-863A-5B3DA66E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HUẤN LUYỆN</a:t>
            </a:r>
          </a:p>
        </p:txBody>
      </p:sp>
      <p:sp>
        <p:nvSpPr>
          <p:cNvPr id="15" name="flow-body-1">
            <a:extLst xmlns:a="http://schemas.openxmlformats.org/drawingml/2006/main">
              <a:ext uri="{FF2B5EF4-FFF2-40B4-BE49-F238E27FC236}">
                <a16:creationId xmlns:a16="http://schemas.microsoft.com/office/drawing/2014/main" id="{A5397EFE-07CC-4C3C-B1B1-8A49EEBA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257550"/>
            <a:ext cx="147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6 model × 3 seed</a:t>
            </a:r>
          </a:p>
        </p:txBody>
      </p:sp>
      <p:sp>
        <p:nvSpPr>
          <p:cNvPr id="16" name="flow-node-2">
            <a:extLst xmlns:a="http://schemas.openxmlformats.org/drawingml/2006/main">
              <a:ext uri="{FF2B5EF4-FFF2-40B4-BE49-F238E27FC236}">
                <a16:creationId xmlns:a16="http://schemas.microsoft.com/office/drawing/2014/main" id="{F2A7B1F3-D503-4BFE-A28E-DB9F1362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low-num-2">
            <a:extLst xmlns:a="http://schemas.openxmlformats.org/drawingml/2006/main">
              <a:ext uri="{FF2B5EF4-FFF2-40B4-BE49-F238E27FC236}">
                <a16:creationId xmlns:a16="http://schemas.microsoft.com/office/drawing/2014/main" id="{CBBB98E1-4640-43AD-BB6C-11FFAE22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4A899F44-C1DE-4FC8-AA74-3C0CF3A6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CHỌN MODEL</a:t>
            </a:r>
          </a:p>
        </p:txBody>
      </p:sp>
      <p:sp>
        <p:nvSpPr>
          <p:cNvPr id="19" name="flow-body-2">
            <a:extLst xmlns:a="http://schemas.openxmlformats.org/drawingml/2006/main">
              <a:ext uri="{FF2B5EF4-FFF2-40B4-BE49-F238E27FC236}">
                <a16:creationId xmlns:a16="http://schemas.microsoft.com/office/drawing/2014/main" id="{A7A68D0E-8FFE-46AC-BF05-E0EA45E6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57550"/>
            <a:ext cx="147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Validation Macro-F1</a:t>
            </a:r>
          </a:p>
        </p:txBody>
      </p:sp>
      <p:sp>
        <p:nvSpPr>
          <p:cNvPr id="20" name="flow-node-3">
            <a:extLst xmlns:a="http://schemas.openxmlformats.org/drawingml/2006/main">
              <a:ext uri="{FF2B5EF4-FFF2-40B4-BE49-F238E27FC236}">
                <a16:creationId xmlns:a16="http://schemas.microsoft.com/office/drawing/2014/main" id="{D6D607B9-3475-41F0-8D41-C5FD9664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low-num-3">
            <a:extLst xmlns:a="http://schemas.openxmlformats.org/drawingml/2006/main">
              <a:ext uri="{FF2B5EF4-FFF2-40B4-BE49-F238E27FC236}">
                <a16:creationId xmlns:a16="http://schemas.microsoft.com/office/drawing/2014/main" id="{675031EE-2B60-4BC7-B621-4A4E1393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78AF04A5-BE93-4402-B212-75FB4EAB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MỞ TEST</a:t>
            </a:r>
          </a:p>
        </p:txBody>
      </p:sp>
      <p:sp>
        <p:nvSpPr>
          <p:cNvPr id="23" name="flow-body-3">
            <a:extLst xmlns:a="http://schemas.openxmlformats.org/drawingml/2006/main">
              <a:ext uri="{FF2B5EF4-FFF2-40B4-BE49-F238E27FC236}">
                <a16:creationId xmlns:a16="http://schemas.microsoft.com/office/drawing/2014/main" id="{8F73A9D0-19E3-4398-8BC7-11F26BAD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257550"/>
            <a:ext cx="147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Một quy trình riêng</a:t>
            </a:r>
          </a:p>
        </p:txBody>
      </p:sp>
      <p:sp>
        <p:nvSpPr>
          <p:cNvPr id="24" name="flow-node-4">
            <a:extLst xmlns:a="http://schemas.openxmlformats.org/drawingml/2006/main">
              <a:ext uri="{FF2B5EF4-FFF2-40B4-BE49-F238E27FC236}">
                <a16:creationId xmlns:a16="http://schemas.microsoft.com/office/drawing/2014/main" id="{03774E36-FED8-42F1-A131-8EE4857C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low-num-4">
            <a:extLst xmlns:a="http://schemas.openxmlformats.org/drawingml/2006/main">
              <a:ext uri="{FF2B5EF4-FFF2-40B4-BE49-F238E27FC236}">
                <a16:creationId xmlns:a16="http://schemas.microsoft.com/office/drawing/2014/main" id="{E219C0E6-8470-42D2-87C3-2DF72FC8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F3C4AE49-A0C5-4269-88D8-47A60EFE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TỔNG HỢP</a:t>
            </a:r>
          </a:p>
        </p:txBody>
      </p:sp>
      <p:sp>
        <p:nvSpPr>
          <p:cNvPr id="27" name="flow-body-4">
            <a:extLst xmlns:a="http://schemas.openxmlformats.org/drawingml/2006/main">
              <a:ext uri="{FF2B5EF4-FFF2-40B4-BE49-F238E27FC236}">
                <a16:creationId xmlns:a16="http://schemas.microsoft.com/office/drawing/2014/main" id="{49176CD5-1EFF-4267-B888-4F99A2C1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57550"/>
            <a:ext cx="147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Mean, SD, CI, lỗi</a:t>
            </a:r>
          </a:p>
        </p:txBody>
      </p:sp>
      <p:sp>
        <p:nvSpPr>
          <p:cNvPr id="28" name="protocol-config">
            <a:extLst xmlns:a="http://schemas.openxmlformats.org/drawingml/2006/main">
              <a:ext uri="{FF2B5EF4-FFF2-40B4-BE49-F238E27FC236}">
                <a16:creationId xmlns:a16="http://schemas.microsoft.com/office/drawing/2014/main" id="{704DADBD-8717-44B3-9670-A4C2C098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67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RGB 224×224 • batch 32 • Adam • class-balanced loss • head ≤15 epoch • fine-tune ≤30 epoch • early stopping patience 5</a:t>
            </a:r>
          </a:p>
        </p:txBody>
      </p:sp>
      <p:sp>
        <p:nvSpPr>
          <p:cNvPr id="29" name="protocol-rule">
            <a:extLst xmlns:a="http://schemas.openxmlformats.org/drawingml/2006/main">
              <a:ext uri="{FF2B5EF4-FFF2-40B4-BE49-F238E27FC236}">
                <a16:creationId xmlns:a16="http://schemas.microsoft.com/office/drawing/2014/main" id="{8E156611-7A19-42D2-AA64-9D43A123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72125"/>
            <a:ext cx="762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rotocol-lock">
            <a:extLst xmlns:a="http://schemas.openxmlformats.org/drawingml/2006/main">
              <a:ext uri="{FF2B5EF4-FFF2-40B4-BE49-F238E27FC236}">
                <a16:creationId xmlns:a16="http://schemas.microsoft.com/office/drawing/2014/main" id="{69B59003-1EEC-4F08-846A-B7DEC729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721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Test không tham gia chọn checkpoint hoặc tinh chỉnh siêu tham số.</a:t>
            </a:r>
          </a:p>
        </p:txBody>
      </p:sp>
    </p:spTree>
    <p:extLst>
      <p:ext uri="{BB962C8B-B14F-4D97-AF65-F5344CB8AC3E}">
        <p14:creationId xmlns:p14="http://schemas.microsoft.com/office/powerpoint/2010/main" val="11386662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6">
            <a:extLst xmlns:a="http://schemas.openxmlformats.org/drawingml/2006/main">
              <a:ext uri="{FF2B5EF4-FFF2-40B4-BE49-F238E27FC236}">
                <a16:creationId xmlns:a16="http://schemas.microsoft.com/office/drawing/2014/main" id="{96E14A23-0A52-4EF1-9AD1-56051477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Macro-F1 là tiêu chí chính vì dữ liệu mất cân bằng</a:t>
            </a:r>
          </a:p>
        </p:txBody>
      </p:sp>
      <p:sp>
        <p:nvSpPr>
          <p:cNvPr id="2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303E3599-F1EE-4269-BEA2-219C0A51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6">
            <a:extLst xmlns:a="http://schemas.openxmlformats.org/drawingml/2006/main">
              <a:ext uri="{FF2B5EF4-FFF2-40B4-BE49-F238E27FC236}">
                <a16:creationId xmlns:a16="http://schemas.microsoft.com/office/drawing/2014/main" id="{C26CE9D2-F4A4-42BE-B121-C8E729A1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macro-formula">
            <a:extLst xmlns:a="http://schemas.openxmlformats.org/drawingml/2006/main">
              <a:ext uri="{FF2B5EF4-FFF2-40B4-BE49-F238E27FC236}">
                <a16:creationId xmlns:a16="http://schemas.microsoft.com/office/drawing/2014/main" id="{F3888F8C-0B11-4FF3-815C-C8ADAA9B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Macro-F1 = (1/C) × Σ F1c</a:t>
            </a:r>
          </a:p>
        </p:txBody>
      </p:sp>
      <p:sp>
        <p:nvSpPr>
          <p:cNvPr id="5" name="macro-desc">
            <a:extLst xmlns:a="http://schemas.openxmlformats.org/drawingml/2006/main">
              <a:ext uri="{FF2B5EF4-FFF2-40B4-BE49-F238E27FC236}">
                <a16:creationId xmlns:a16="http://schemas.microsoft.com/office/drawing/2014/main" id="{6DAEDAC0-E61C-468A-9B78-908B6706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76500"/>
            <a:ext cx="552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Tính F1 riêng cho từng lớp rồi lấy trung bình đều — mỗi lớp có tiếng nói ngang nhau.</a:t>
            </a:r>
          </a:p>
        </p:txBody>
      </p:sp>
      <p:sp>
        <p:nvSpPr>
          <p:cNvPr id="6" name="metric-separator">
            <a:extLst xmlns:a="http://schemas.openxmlformats.org/drawingml/2006/main">
              <a:ext uri="{FF2B5EF4-FFF2-40B4-BE49-F238E27FC236}">
                <a16:creationId xmlns:a16="http://schemas.microsoft.com/office/drawing/2014/main" id="{C4DDB1E3-1010-4318-8ABC-83051683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h-0">
            <a:extLst xmlns:a="http://schemas.openxmlformats.org/drawingml/2006/main">
              <a:ext uri="{FF2B5EF4-FFF2-40B4-BE49-F238E27FC236}">
                <a16:creationId xmlns:a16="http://schemas.microsoft.com/office/drawing/2014/main" id="{5F451F6D-B4E2-48FC-87C2-52DB0D92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240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8" name="metric-b-0">
            <a:extLst xmlns:a="http://schemas.openxmlformats.org/drawingml/2006/main">
              <a:ext uri="{FF2B5EF4-FFF2-40B4-BE49-F238E27FC236}">
                <a16:creationId xmlns:a16="http://schemas.microsoft.com/office/drawing/2014/main" id="{3D6E8497-CCFF-4576-AC23-9DE00F48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2400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Tỷ lệ dự đoán đúng tổng thể</a:t>
            </a:r>
          </a:p>
        </p:txBody>
      </p:sp>
      <p:sp>
        <p:nvSpPr>
          <p:cNvPr id="9" name="metric-h-1">
            <a:extLst xmlns:a="http://schemas.openxmlformats.org/drawingml/2006/main">
              <a:ext uri="{FF2B5EF4-FFF2-40B4-BE49-F238E27FC236}">
                <a16:creationId xmlns:a16="http://schemas.microsoft.com/office/drawing/2014/main" id="{93DCD0E7-CC31-4DCC-A325-1D3DDB94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76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Macro-P</a:t>
            </a:r>
          </a:p>
        </p:txBody>
      </p:sp>
      <p:sp>
        <p:nvSpPr>
          <p:cNvPr id="10" name="metric-b-1">
            <a:extLst xmlns:a="http://schemas.openxmlformats.org/drawingml/2006/main">
              <a:ext uri="{FF2B5EF4-FFF2-40B4-BE49-F238E27FC236}">
                <a16:creationId xmlns:a16="http://schemas.microsoft.com/office/drawing/2014/main" id="{2AE959E7-2A09-46E7-949B-91DEDFC3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7650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Mức chính xác khi mô hình gọi tên lớp</a:t>
            </a:r>
          </a:p>
        </p:txBody>
      </p:sp>
      <p:sp>
        <p:nvSpPr>
          <p:cNvPr id="11" name="metric-h-2">
            <a:extLst xmlns:a="http://schemas.openxmlformats.org/drawingml/2006/main">
              <a:ext uri="{FF2B5EF4-FFF2-40B4-BE49-F238E27FC236}">
                <a16:creationId xmlns:a16="http://schemas.microsoft.com/office/drawing/2014/main" id="{71A16988-B3D3-47D2-9D48-8D21C7BA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290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Macro-R</a:t>
            </a:r>
          </a:p>
        </p:txBody>
      </p:sp>
      <p:sp>
        <p:nvSpPr>
          <p:cNvPr id="12" name="metric-b-2">
            <a:extLst xmlns:a="http://schemas.openxmlformats.org/drawingml/2006/main">
              <a:ext uri="{FF2B5EF4-FFF2-40B4-BE49-F238E27FC236}">
                <a16:creationId xmlns:a16="http://schemas.microsoft.com/office/drawing/2014/main" id="{660E03A3-2B0F-49B4-A81D-3EE4AC86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2900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Khả năng thu hồi mẫu của từng lớp</a:t>
            </a:r>
          </a:p>
        </p:txBody>
      </p:sp>
      <p:sp>
        <p:nvSpPr>
          <p:cNvPr id="13" name="metric-h-3">
            <a:extLst xmlns:a="http://schemas.openxmlformats.org/drawingml/2006/main">
              <a:ext uri="{FF2B5EF4-FFF2-40B4-BE49-F238E27FC236}">
                <a16:creationId xmlns:a16="http://schemas.microsoft.com/office/drawing/2014/main" id="{33563656-2291-485E-9CBB-E5954816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81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Sample SD</a:t>
            </a:r>
          </a:p>
        </p:txBody>
      </p:sp>
      <p:sp>
        <p:nvSpPr>
          <p:cNvPr id="14" name="metric-b-3">
            <a:extLst xmlns:a="http://schemas.openxmlformats.org/drawingml/2006/main">
              <a:ext uri="{FF2B5EF4-FFF2-40B4-BE49-F238E27FC236}">
                <a16:creationId xmlns:a16="http://schemas.microsoft.com/office/drawing/2014/main" id="{DE82B339-4412-48CD-B78E-B82A3D92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8150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Độ dao động giữa ba seed</a:t>
            </a:r>
          </a:p>
        </p:txBody>
      </p:sp>
      <p:sp>
        <p:nvSpPr>
          <p:cNvPr id="15" name="metric-warning">
            <a:extLst xmlns:a="http://schemas.openxmlformats.org/drawingml/2006/main">
              <a:ext uri="{FF2B5EF4-FFF2-40B4-BE49-F238E27FC236}">
                <a16:creationId xmlns:a16="http://schemas.microsoft.com/office/drawing/2014/main" id="{3AFEDA18-8AEE-4858-80D9-7FCDA083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0810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ric-warning-text">
            <a:extLst xmlns:a="http://schemas.openxmlformats.org/drawingml/2006/main">
              <a:ext uri="{FF2B5EF4-FFF2-40B4-BE49-F238E27FC236}">
                <a16:creationId xmlns:a16="http://schemas.microsoft.com/office/drawing/2014/main" id="{E60BA53E-7D9B-44C5-80BA-10B47B02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07A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07A2D"/>
                </a:solidFill>
                <a:latin typeface="Arial"/>
                <a:ea typeface="Arial"/>
                <a:cs typeface="Arial"/>
              </a:rPr>
              <a:t>Không dùng Accuracy một mình và không trộn SD qua seed với CI bootstrap trên ảnh test.</a:t>
            </a:r>
          </a:p>
        </p:txBody>
      </p:sp>
    </p:spTree>
    <p:extLst>
      <p:ext uri="{BB962C8B-B14F-4D97-AF65-F5344CB8AC3E}">
        <p14:creationId xmlns:p14="http://schemas.microsoft.com/office/powerpoint/2010/main" val="6631504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7">
            <a:extLst xmlns:a="http://schemas.openxmlformats.org/drawingml/2006/main">
              <a:ext uri="{FF2B5EF4-FFF2-40B4-BE49-F238E27FC236}">
                <a16:creationId xmlns:a16="http://schemas.microsoft.com/office/drawing/2014/main" id="{2F68A621-E262-45DC-996E-1F9213AE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EfficientNet-B0 dẫn đầu; V3-Large bám sát</a:t>
            </a:r>
          </a:p>
        </p:txBody>
      </p:sp>
      <p:sp>
        <p:nvSpPr>
          <p:cNvPr id="2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1D371C98-60FA-435C-8EE4-4383C67A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7">
            <a:extLst xmlns:a="http://schemas.openxmlformats.org/drawingml/2006/main">
              <a:ext uri="{FF2B5EF4-FFF2-40B4-BE49-F238E27FC236}">
                <a16:creationId xmlns:a16="http://schemas.microsoft.com/office/drawing/2014/main" id="{9E4222E4-E1F1-498F-B414-ADC2D088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7334250" cy="4572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df1e43a0af0464a"/>
          </a:graphicData>
        </a:graphic>
      </p:graphicFrame>
      <p:sp>
        <p:nvSpPr>
          <p:cNvPr id="5" name="winner-panel">
            <a:extLst xmlns:a="http://schemas.openxmlformats.org/drawingml/2006/main">
              <a:ext uri="{FF2B5EF4-FFF2-40B4-BE49-F238E27FC236}">
                <a16:creationId xmlns:a16="http://schemas.microsoft.com/office/drawing/2014/main" id="{91AFFC93-0C8D-4DAD-B964-3853599B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71625"/>
            <a:ext cx="3048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inner-label">
            <a:extLst xmlns:a="http://schemas.openxmlformats.org/drawingml/2006/main">
              <a:ext uri="{FF2B5EF4-FFF2-40B4-BE49-F238E27FC236}">
                <a16:creationId xmlns:a16="http://schemas.microsoft.com/office/drawing/2014/main" id="{C4730370-8013-4352-9FF4-FD256F3D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DẪN ĐẦU</a:t>
            </a:r>
          </a:p>
        </p:txBody>
      </p:sp>
      <p:sp>
        <p:nvSpPr>
          <p:cNvPr id="7" name="winner-value">
            <a:extLst xmlns:a="http://schemas.openxmlformats.org/drawingml/2006/main">
              <a:ext uri="{FF2B5EF4-FFF2-40B4-BE49-F238E27FC236}">
                <a16:creationId xmlns:a16="http://schemas.microsoft.com/office/drawing/2014/main" id="{86DCCA80-BD1C-490A-9A5C-FBEB3906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717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97,764%</a:t>
            </a:r>
          </a:p>
        </p:txBody>
      </p:sp>
      <p:sp>
        <p:nvSpPr>
          <p:cNvPr id="8" name="winner-name">
            <a:extLst xmlns:a="http://schemas.openxmlformats.org/drawingml/2006/main">
              <a:ext uri="{FF2B5EF4-FFF2-40B4-BE49-F238E27FC236}">
                <a16:creationId xmlns:a16="http://schemas.microsoft.com/office/drawing/2014/main" id="{3E0C195A-9CCB-4ED7-9E05-BCAD0475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62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EfficientNet-B0</a:t>
            </a:r>
          </a:p>
        </p:txBody>
      </p:sp>
      <p:sp>
        <p:nvSpPr>
          <p:cNvPr id="9" name="overall-gap">
            <a:extLst xmlns:a="http://schemas.openxmlformats.org/drawingml/2006/main">
              <a:ext uri="{FF2B5EF4-FFF2-40B4-BE49-F238E27FC236}">
                <a16:creationId xmlns:a16="http://schemas.microsoft.com/office/drawing/2014/main" id="{7A6F7D83-9ED0-4F41-BB30-F98E7E04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304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V3-Large thấp hơn 0,441 điểm %, nhưng vẫn đứng thứ hai và có định hướng thiết kế cho mobile.</a:t>
            </a:r>
          </a:p>
        </p:txBody>
      </p:sp>
      <p:sp>
        <p:nvSpPr>
          <p:cNvPr id="10" name="axis-note">
            <a:extLst xmlns:a="http://schemas.openxmlformats.org/drawingml/2006/main">
              <a:ext uri="{FF2B5EF4-FFF2-40B4-BE49-F238E27FC236}">
                <a16:creationId xmlns:a16="http://schemas.microsoft.com/office/drawing/2014/main" id="{4BBBFF0D-168E-46A6-89D7-F92D0E21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435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07A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07A2D"/>
                </a:solidFill>
                <a:latin typeface="Arial"/>
                <a:ea typeface="Arial"/>
                <a:cs typeface="Arial"/>
              </a:rPr>
              <a:t>Trục hiển thị từ 85% để thấy khác biệt; không đọc chiều dài thanh như tỷ lệ tuyệt đối.</a:t>
            </a:r>
          </a:p>
        </p:txBody>
      </p:sp>
    </p:spTree>
    <p:extLst>
      <p:ext uri="{BB962C8B-B14F-4D97-AF65-F5344CB8AC3E}">
        <p14:creationId xmlns:p14="http://schemas.microsoft.com/office/powerpoint/2010/main" val="8157861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8">
            <a:extLst xmlns:a="http://schemas.openxmlformats.org/drawingml/2006/main">
              <a:ext uri="{FF2B5EF4-FFF2-40B4-BE49-F238E27FC236}">
                <a16:creationId xmlns:a16="http://schemas.microsoft.com/office/drawing/2014/main" id="{1C597C3A-AA3D-48C1-88A3-B3FA6D03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Xếp hạng tổng thể đi kèm khác biệt rõ về độ ổn định</a:t>
            </a:r>
          </a:p>
        </p:txBody>
      </p:sp>
      <p:sp>
        <p:nvSpPr>
          <p:cNvPr id="2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3735F3D6-BCD0-4EBC-97DE-D3418EED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8">
            <a:extLst xmlns:a="http://schemas.openxmlformats.org/drawingml/2006/main">
              <a:ext uri="{FF2B5EF4-FFF2-40B4-BE49-F238E27FC236}">
                <a16:creationId xmlns:a16="http://schemas.microsoft.com/office/drawing/2014/main" id="{6AC4793F-CB2D-4903-B7DD-D4C4FC75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8001000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5beb5aa2b64ab0"/>
          </a:graphicData>
        </a:graphic>
      </p:graphicFrame>
      <p:sp>
        <p:nvSpPr>
          <p:cNvPr id="5" name="stable-head">
            <a:extLst xmlns:a="http://schemas.openxmlformats.org/drawingml/2006/main">
              <a:ext uri="{FF2B5EF4-FFF2-40B4-BE49-F238E27FC236}">
                <a16:creationId xmlns:a16="http://schemas.microsoft.com/office/drawing/2014/main" id="{8A349C82-EDE3-4D9E-92A7-55717BCF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668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Ổn định nhất</a:t>
            </a:r>
          </a:p>
        </p:txBody>
      </p:sp>
      <p:sp>
        <p:nvSpPr>
          <p:cNvPr id="6" name="stable-value">
            <a:extLst xmlns:a="http://schemas.openxmlformats.org/drawingml/2006/main">
              <a:ext uri="{FF2B5EF4-FFF2-40B4-BE49-F238E27FC236}">
                <a16:creationId xmlns:a16="http://schemas.microsoft.com/office/drawing/2014/main" id="{4F9F4B29-FBB4-4D1C-9799-AE8257D3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64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SD 0,064</a:t>
            </a:r>
          </a:p>
        </p:txBody>
      </p:sp>
      <p:sp>
        <p:nvSpPr>
          <p:cNvPr id="7" name="stable-body">
            <a:extLst xmlns:a="http://schemas.openxmlformats.org/drawingml/2006/main">
              <a:ext uri="{FF2B5EF4-FFF2-40B4-BE49-F238E27FC236}">
                <a16:creationId xmlns:a16="http://schemas.microsoft.com/office/drawing/2014/main" id="{42F607AF-21D1-4BE5-89A8-EFEED79C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86050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EfficientNet-B0 đứng đầu ở cả ba seed.</a:t>
            </a:r>
          </a:p>
        </p:txBody>
      </p:sp>
      <p:sp>
        <p:nvSpPr>
          <p:cNvPr id="8" name="unstable-head">
            <a:extLst xmlns:a="http://schemas.openxmlformats.org/drawingml/2006/main">
              <a:ext uri="{FF2B5EF4-FFF2-40B4-BE49-F238E27FC236}">
                <a16:creationId xmlns:a16="http://schemas.microsoft.com/office/drawing/2014/main" id="{163DA5F6-DDF9-4CCD-990C-1208751C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00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64B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64B46"/>
                </a:solidFill>
                <a:latin typeface="Arial"/>
                <a:ea typeface="Arial"/>
                <a:cs typeface="Arial"/>
              </a:rPr>
              <a:t>Biến thiên lớn nhất</a:t>
            </a:r>
          </a:p>
        </p:txBody>
      </p:sp>
      <p:sp>
        <p:nvSpPr>
          <p:cNvPr id="9" name="unstable-value">
            <a:extLst xmlns:a="http://schemas.openxmlformats.org/drawingml/2006/main">
              <a:ext uri="{FF2B5EF4-FFF2-40B4-BE49-F238E27FC236}">
                <a16:creationId xmlns:a16="http://schemas.microsoft.com/office/drawing/2014/main" id="{4FFB0D62-D52A-4E84-9C11-26592623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19575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SD 1,691</a:t>
            </a:r>
          </a:p>
        </p:txBody>
      </p:sp>
      <p:sp>
        <p:nvSpPr>
          <p:cNvPr id="10" name="unstable-body">
            <a:extLst xmlns:a="http://schemas.openxmlformats.org/drawingml/2006/main">
              <a:ext uri="{FF2B5EF4-FFF2-40B4-BE49-F238E27FC236}">
                <a16:creationId xmlns:a16="http://schemas.microsoft.com/office/drawing/2014/main" id="{377148ED-4FEE-4FB8-8064-9E1324B0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2190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ShuffleNet V2 giảm liên tục trong ba lần chạy.</a:t>
            </a:r>
          </a:p>
        </p:txBody>
      </p:sp>
    </p:spTree>
    <p:extLst>
      <p:ext uri="{BB962C8B-B14F-4D97-AF65-F5344CB8AC3E}">
        <p14:creationId xmlns:p14="http://schemas.microsoft.com/office/powerpoint/2010/main" val="8884193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9">
            <a:extLst xmlns:a="http://schemas.openxmlformats.org/drawingml/2006/main">
              <a:ext uri="{FF2B5EF4-FFF2-40B4-BE49-F238E27FC236}">
                <a16:creationId xmlns:a16="http://schemas.microsoft.com/office/drawing/2014/main" id="{8CF66D40-498E-4AA9-9A44-E7B99DA8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Chất lượng cao không đồng đều giữa 19 lớp</a:t>
            </a:r>
          </a:p>
        </p:txBody>
      </p:sp>
      <p:sp>
        <p:nvSpPr>
          <p:cNvPr id="2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922FE490-3233-4692-BA70-3690BE3A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9">
            <a:extLst xmlns:a="http://schemas.openxmlformats.org/drawingml/2006/main">
              <a:ext uri="{FF2B5EF4-FFF2-40B4-BE49-F238E27FC236}">
                <a16:creationId xmlns:a16="http://schemas.microsoft.com/office/drawing/2014/main" id="{E0B54F9D-451E-4D39-93DC-A5F1D9FA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108fe637ed4947"/>
          <a:stretch xmlns:a="http://schemas.openxmlformats.org/drawingml/2006/main"/>
        </p:blipFill>
        <p:spPr>
          <a:xfrm xmlns:a="http://schemas.openxmlformats.org/drawingml/2006/main">
            <a:off x="2186925" y="1190625"/>
            <a:ext cx="4865399" cy="5095875"/>
          </a:xfrm>
          <a:prstGeom xmlns:a="http://schemas.openxmlformats.org/drawingml/2006/main" prst="rect">
            <a:avLst/>
          </a:prstGeom>
        </p:spPr>
      </p:pic>
      <p:sp>
        <p:nvSpPr>
          <p:cNvPr id="5" name="class-callout-title">
            <a:extLst xmlns:a="http://schemas.openxmlformats.org/drawingml/2006/main">
              <a:ext uri="{FF2B5EF4-FFF2-40B4-BE49-F238E27FC236}">
                <a16:creationId xmlns:a16="http://schemas.microsoft.com/office/drawing/2014/main" id="{E917EE6A-8DA4-4BAB-9D3D-D99D2273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61925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07A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07A2D"/>
                </a:solidFill>
                <a:latin typeface="Arial"/>
                <a:ea typeface="Arial"/>
                <a:cs typeface="Arial"/>
              </a:rPr>
              <a:t>Lớp khó nổi bật</a:t>
            </a:r>
          </a:p>
        </p:txBody>
      </p:sp>
      <p:sp>
        <p:nvSpPr>
          <p:cNvPr id="6" name="class-callout">
            <a:extLst xmlns:a="http://schemas.openxmlformats.org/drawingml/2006/main">
              <a:ext uri="{FF2B5EF4-FFF2-40B4-BE49-F238E27FC236}">
                <a16:creationId xmlns:a16="http://schemas.microsoft.com/office/drawing/2014/main" id="{038B23F7-0713-464A-8DCE-7DC92611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76450"/>
            <a:ext cx="2286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• Sương mai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• Tungro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• Đạo ôn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• Cỏ dại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• Sọc lá vi khuẩn</a:t>
            </a:r>
          </a:p>
        </p:txBody>
      </p:sp>
      <p:sp>
        <p:nvSpPr>
          <p:cNvPr id="7" name="class-small">
            <a:extLst xmlns:a="http://schemas.openxmlformats.org/drawingml/2006/main">
              <a:ext uri="{FF2B5EF4-FFF2-40B4-BE49-F238E27FC236}">
                <a16:creationId xmlns:a16="http://schemas.microsoft.com/office/drawing/2014/main" id="{B940AFDE-1B3F-4F7F-ABA2-9345C1BE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25241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lass-small-text">
            <a:extLst xmlns:a="http://schemas.openxmlformats.org/drawingml/2006/main">
              <a:ext uri="{FF2B5EF4-FFF2-40B4-BE49-F238E27FC236}">
                <a16:creationId xmlns:a16="http://schemas.microsoft.com/office/drawing/2014/main" id="{6D07E430-C17A-4630-8299-A55AFF40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3624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07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07A2D"/>
                </a:solidFill>
                <a:latin typeface="Arial"/>
                <a:ea typeface="Arial"/>
                <a:cs typeface="Arial"/>
              </a:rPr>
              <a:t>F1 = 100% ở lớp n rất nhỏ không đồng nghĩa hoàn hảo ngoài thực địa.</a:t>
            </a:r>
          </a:p>
        </p:txBody>
      </p:sp>
    </p:spTree>
    <p:extLst>
      <p:ext uri="{BB962C8B-B14F-4D97-AF65-F5344CB8AC3E}">
        <p14:creationId xmlns:p14="http://schemas.microsoft.com/office/powerpoint/2010/main" val="3076943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10">
            <a:extLst xmlns:a="http://schemas.openxmlformats.org/drawingml/2006/main">
              <a:ext uri="{FF2B5EF4-FFF2-40B4-BE49-F238E27FC236}">
                <a16:creationId xmlns:a16="http://schemas.microsoft.com/office/drawing/2014/main" id="{E10E2226-76B8-4DD1-8376-82F56B4E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Lỗi quan sát tập trung vào một số cặp lớp</a:t>
            </a:r>
          </a:p>
        </p:txBody>
      </p:sp>
      <p:sp>
        <p:nvSpPr>
          <p:cNvPr id="2" name="title-rule-10">
            <a:extLst xmlns:a="http://schemas.openxmlformats.org/drawingml/2006/main">
              <a:ext uri="{FF2B5EF4-FFF2-40B4-BE49-F238E27FC236}">
                <a16:creationId xmlns:a16="http://schemas.microsoft.com/office/drawing/2014/main" id="{A95F6E64-9507-43C0-B33C-36B3B027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10">
            <a:extLst xmlns:a="http://schemas.openxmlformats.org/drawingml/2006/main">
              <a:ext uri="{FF2B5EF4-FFF2-40B4-BE49-F238E27FC236}">
                <a16:creationId xmlns:a16="http://schemas.microsoft.com/office/drawing/2014/main" id="{7F77577C-2527-4653-A96B-60128ABD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80b5724594af9"/>
          <a:stretch xmlns:a="http://schemas.openxmlformats.org/drawingml/2006/main"/>
        </p:blipFill>
        <p:spPr>
          <a:xfrm xmlns:a="http://schemas.openxmlformats.org/drawingml/2006/main">
            <a:off x="1472881" y="1190625"/>
            <a:ext cx="5340989" cy="5048250"/>
          </a:xfrm>
          <a:prstGeom xmlns:a="http://schemas.openxmlformats.org/drawingml/2006/main" prst="rect">
            <a:avLst/>
          </a:prstGeom>
        </p:spPr>
      </p:pic>
      <p:sp>
        <p:nvSpPr>
          <p:cNvPr id="5" name="error-read-title">
            <a:extLst xmlns:a="http://schemas.openxmlformats.org/drawingml/2006/main">
              <a:ext uri="{FF2B5EF4-FFF2-40B4-BE49-F238E27FC236}">
                <a16:creationId xmlns:a16="http://schemas.microsoft.com/office/drawing/2014/main" id="{95142EA5-F43E-454F-B653-08333BBC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716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Cách đọc</a:t>
            </a:r>
          </a:p>
        </p:txBody>
      </p:sp>
      <p:sp>
        <p:nvSpPr>
          <p:cNvPr id="6" name="error-read">
            <a:extLst xmlns:a="http://schemas.openxmlformats.org/drawingml/2006/main">
              <a:ext uri="{FF2B5EF4-FFF2-40B4-BE49-F238E27FC236}">
                <a16:creationId xmlns:a16="http://schemas.microsoft.com/office/drawing/2014/main" id="{BB020F84-6BB3-4E28-AC1E-053A007B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47875"/>
            <a:ext cx="300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Tỷ lệ được tính trên số ảnh thuộc lớp thật, sau đó lấy mean qua ba seed.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Đây là lỗi quan sát, chưa chứng minh nguyên nhân sinh học hoặc lỗi gán nhãn.</a:t>
            </a:r>
          </a:p>
        </p:txBody>
      </p:sp>
      <p:sp>
        <p:nvSpPr>
          <p:cNvPr id="7" name="error-example">
            <a:extLst xmlns:a="http://schemas.openxmlformats.org/drawingml/2006/main">
              <a:ext uri="{FF2B5EF4-FFF2-40B4-BE49-F238E27FC236}">
                <a16:creationId xmlns:a16="http://schemas.microsoft.com/office/drawing/2014/main" id="{1C73C4A9-987A-4C42-9B9F-BF38A8D6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38625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rror-example-text">
            <a:extLst xmlns:a="http://schemas.openxmlformats.org/drawingml/2006/main">
              <a:ext uri="{FF2B5EF4-FFF2-40B4-BE49-F238E27FC236}">
                <a16:creationId xmlns:a16="http://schemas.microsoft.com/office/drawing/2014/main" id="{7E0AF6CA-A544-4883-ADAB-84B29094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95800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Ví dụ Eff-B0: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Leaf smut → bạc lá: 4,76%</a:t>
            </a:r>
          </a:p>
        </p:txBody>
      </p:sp>
    </p:spTree>
    <p:extLst>
      <p:ext uri="{BB962C8B-B14F-4D97-AF65-F5344CB8AC3E}">
        <p14:creationId xmlns:p14="http://schemas.microsoft.com/office/powerpoint/2010/main" val="10233116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11">
            <a:extLst xmlns:a="http://schemas.openxmlformats.org/drawingml/2006/main">
              <a:ext uri="{FF2B5EF4-FFF2-40B4-BE49-F238E27FC236}">
                <a16:creationId xmlns:a16="http://schemas.microsoft.com/office/drawing/2014/main" id="{62EAD529-1F4E-4D16-80BA-E873B069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Bootstrap cho thấy ưu thế phụ thuộc mô hình và seed</a:t>
            </a:r>
          </a:p>
        </p:txBody>
      </p:sp>
      <p:sp>
        <p:nvSpPr>
          <p:cNvPr id="2" name="title-rule-11">
            <a:extLst xmlns:a="http://schemas.openxmlformats.org/drawingml/2006/main">
              <a:ext uri="{FF2B5EF4-FFF2-40B4-BE49-F238E27FC236}">
                <a16:creationId xmlns:a16="http://schemas.microsoft.com/office/drawing/2014/main" id="{351FED68-BB2B-4832-AA44-85210A7C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11">
            <a:extLst xmlns:a="http://schemas.openxmlformats.org/drawingml/2006/main">
              <a:ext uri="{FF2B5EF4-FFF2-40B4-BE49-F238E27FC236}">
                <a16:creationId xmlns:a16="http://schemas.microsoft.com/office/drawing/2014/main" id="{57E5CAA2-2CF0-472F-A53C-FAFA3341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15251f11294f19"/>
          <a:stretch xmlns:a="http://schemas.openxmlformats.org/drawingml/2006/main"/>
        </p:blipFill>
        <p:spPr>
          <a:xfrm xmlns:a="http://schemas.openxmlformats.org/drawingml/2006/main">
            <a:off x="1124942" y="1238250"/>
            <a:ext cx="651311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boot-rule-title">
            <a:extLst xmlns:a="http://schemas.openxmlformats.org/drawingml/2006/main">
              <a:ext uri="{FF2B5EF4-FFF2-40B4-BE49-F238E27FC236}">
                <a16:creationId xmlns:a16="http://schemas.microsoft.com/office/drawing/2014/main" id="{6AEDF917-4683-4BEC-ABB0-04D375F4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5716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Quy tắc diễn giải</a:t>
            </a:r>
          </a:p>
        </p:txBody>
      </p:sp>
      <p:sp>
        <p:nvSpPr>
          <p:cNvPr id="6" name="boot-rule">
            <a:extLst xmlns:a="http://schemas.openxmlformats.org/drawingml/2006/main">
              <a:ext uri="{FF2B5EF4-FFF2-40B4-BE49-F238E27FC236}">
                <a16:creationId xmlns:a16="http://schemas.microsoft.com/office/drawing/2014/main" id="{5A94C65E-A4E7-43DC-8A2A-D79637A1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76450"/>
            <a:ext cx="2571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CI hoàn toàn bên phải 0: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ủng hộ V3-Large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CI hoàn toàn bên trái 0: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ủng hộ mô hình đối chiếu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CI cắt 0: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chưa tách biệt rõ</a:t>
            </a:r>
          </a:p>
        </p:txBody>
      </p:sp>
      <p:sp>
        <p:nvSpPr>
          <p:cNvPr id="7" name="boot-caution">
            <a:extLst xmlns:a="http://schemas.openxmlformats.org/drawingml/2006/main">
              <a:ext uri="{FF2B5EF4-FFF2-40B4-BE49-F238E27FC236}">
                <a16:creationId xmlns:a16="http://schemas.microsoft.com/office/drawing/2014/main" id="{CAB3A6AC-64F4-460C-964C-1A842A1D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62500"/>
            <a:ext cx="2714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ot-caution-text">
            <a:extLst xmlns:a="http://schemas.openxmlformats.org/drawingml/2006/main">
              <a:ext uri="{FF2B5EF4-FFF2-40B4-BE49-F238E27FC236}">
                <a16:creationId xmlns:a16="http://schemas.microsoft.com/office/drawing/2014/main" id="{AAAD9A08-C4A6-47C7-A0BD-098D52A4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01015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86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07A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07A2D"/>
                </a:solidFill>
                <a:latin typeface="Arial"/>
                <a:ea typeface="Arial"/>
                <a:cs typeface="Arial"/>
              </a:rPr>
              <a:t>CI này phản ánh lấy mẫu ảnh test, không phải độ dao động qua seed.</a:t>
            </a:r>
          </a:p>
        </p:txBody>
      </p:sp>
    </p:spTree>
    <p:extLst>
      <p:ext uri="{BB962C8B-B14F-4D97-AF65-F5344CB8AC3E}">
        <p14:creationId xmlns:p14="http://schemas.microsoft.com/office/powerpoint/2010/main" val="18381605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12">
            <a:extLst xmlns:a="http://schemas.openxmlformats.org/drawingml/2006/main">
              <a:ext uri="{FF2B5EF4-FFF2-40B4-BE49-F238E27FC236}">
                <a16:creationId xmlns:a16="http://schemas.microsoft.com/office/drawing/2014/main" id="{43B0008C-E08E-4F23-AB42-B7E9CA3D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Hiệu quả không chỉ là số tham số</a:t>
            </a:r>
          </a:p>
        </p:txBody>
      </p:sp>
      <p:sp>
        <p:nvSpPr>
          <p:cNvPr id="2" name="title-rule-12">
            <a:extLst xmlns:a="http://schemas.openxmlformats.org/drawingml/2006/main">
              <a:ext uri="{FF2B5EF4-FFF2-40B4-BE49-F238E27FC236}">
                <a16:creationId xmlns:a16="http://schemas.microsoft.com/office/drawing/2014/main" id="{AF43F4CA-8D37-478C-91B1-3467BDEA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12">
            <a:extLst xmlns:a="http://schemas.openxmlformats.org/drawingml/2006/main">
              <a:ext uri="{FF2B5EF4-FFF2-40B4-BE49-F238E27FC236}">
                <a16:creationId xmlns:a16="http://schemas.microsoft.com/office/drawing/2014/main" id="{1151569E-AD51-4E80-A10A-5873A758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10490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1714500"/>
                <a:gridCol w="2238375"/>
                <a:gridCol w="2190750"/>
                <a:gridCol w="2428875"/>
              </a:tblGrid>
              <a:tr h="571500">
                <a:tc>
                  <a:txBody>
                    <a:bodyPr/>
                    <a:lstStyle/>
                    <a:p>
                      <a:r>
                        <a:t>Mô hình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Tham số (M)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Checkpoint (MiB)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Train/run (giờ)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Macro-F1 (%)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EfficientNet-B0</a:t>
                      </a:r>
                    </a:p>
                  </a:txBody>
                  <a:tcPr marL="91440" marR="91440" marT="45720" marB="45720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4,032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15,666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3,293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97,764</a:t>
                      </a:r>
                    </a:p>
                  </a:txBody>
                  <a:tcPr marL="91440" marR="91440" marT="45720" marB="45720">
                    <a:solidFill>
                      <a:srgbClr val="EAF6F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MobileNetV3-L</a:t>
                      </a:r>
                    </a:p>
                  </a:txBody>
                  <a:tcPr marL="91440" marR="91440" marT="45720" marB="45720">
                    <a:solidFill>
                      <a:srgbClr val="E9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4,226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16,320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2,281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97,323</a:t>
                      </a:r>
                    </a:p>
                  </a:txBody>
                  <a:tcPr marL="91440" marR="91440" marT="45720" marB="45720">
                    <a:solidFill>
                      <a:srgbClr val="E9F3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ResNet-18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11,186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42,749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2,463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96,878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DenseNet-121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6,973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27,179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4,730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96,658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MobileNetV2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2,248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8,811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3,317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96,184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ShuffleNet V2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1,273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5,023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1,921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90,971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resource-insight">
            <a:extLst xmlns:a="http://schemas.openxmlformats.org/drawingml/2006/main">
              <a:ext uri="{FF2B5EF4-FFF2-40B4-BE49-F238E27FC236}">
                <a16:creationId xmlns:a16="http://schemas.microsoft.com/office/drawing/2014/main" id="{0F6D3110-6DE2-459E-8881-F25FF0ED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673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EfficientNet-B0 ít hơn V3-Large 194.484 tham số và cao hơn 0,441 điểm % mean F1; nhưng latency, RAM và năng lượng trên điện thoại vẫn chưa được đo.</a:t>
            </a:r>
          </a:p>
        </p:txBody>
      </p:sp>
    </p:spTree>
    <p:extLst>
      <p:ext uri="{BB962C8B-B14F-4D97-AF65-F5344CB8AC3E}">
        <p14:creationId xmlns:p14="http://schemas.microsoft.com/office/powerpoint/2010/main" val="10824589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13">
            <a:extLst xmlns:a="http://schemas.openxmlformats.org/drawingml/2006/main">
              <a:ext uri="{FF2B5EF4-FFF2-40B4-BE49-F238E27FC236}">
                <a16:creationId xmlns:a16="http://schemas.microsoft.com/office/drawing/2014/main" id="{91B1FC95-FEC2-4E8A-8CCC-1C087915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536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Kết quả cao là bằng chứng nội bộ, chưa phải độ chính xác thực địa</a:t>
            </a:r>
          </a:p>
        </p:txBody>
      </p:sp>
      <p:sp>
        <p:nvSpPr>
          <p:cNvPr id="2" name="title-rule-13">
            <a:extLst xmlns:a="http://schemas.openxmlformats.org/drawingml/2006/main">
              <a:ext uri="{FF2B5EF4-FFF2-40B4-BE49-F238E27FC236}">
                <a16:creationId xmlns:a16="http://schemas.microsoft.com/office/drawing/2014/main" id="{3EFD848A-6809-415A-ACBE-0773DB59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13">
            <a:extLst xmlns:a="http://schemas.openxmlformats.org/drawingml/2006/main">
              <a:ext uri="{FF2B5EF4-FFF2-40B4-BE49-F238E27FC236}">
                <a16:creationId xmlns:a16="http://schemas.microsoft.com/office/drawing/2014/main" id="{09273645-C816-449B-8BF9-B8EE5C47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high-score">
            <a:extLst xmlns:a="http://schemas.openxmlformats.org/drawingml/2006/main">
              <a:ext uri="{FF2B5EF4-FFF2-40B4-BE49-F238E27FC236}">
                <a16:creationId xmlns:a16="http://schemas.microsoft.com/office/drawing/2014/main" id="{1E73B4F9-2DB7-4349-87C8-E22D4112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99,298%</a:t>
            </a:r>
          </a:p>
        </p:txBody>
      </p:sp>
      <p:sp>
        <p:nvSpPr>
          <p:cNvPr id="5" name="high-score-label">
            <a:extLst xmlns:a="http://schemas.openxmlformats.org/drawingml/2006/main">
              <a:ext uri="{FF2B5EF4-FFF2-40B4-BE49-F238E27FC236}">
                <a16:creationId xmlns:a16="http://schemas.microsoft.com/office/drawing/2014/main" id="{5250DC14-68C7-4F3D-B786-7FD98D8F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3362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mean Accuracy của EfficientNet-B0</a:t>
            </a:r>
          </a:p>
        </p:txBody>
      </p:sp>
      <p:sp>
        <p:nvSpPr>
          <p:cNvPr id="6" name="limit-rule">
            <a:extLst xmlns:a="http://schemas.openxmlformats.org/drawingml/2006/main">
              <a:ext uri="{FF2B5EF4-FFF2-40B4-BE49-F238E27FC236}">
                <a16:creationId xmlns:a16="http://schemas.microsoft.com/office/drawing/2014/main" id="{36087144-6432-4CA7-8BFE-95208601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81125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imit-num-0">
            <a:extLst xmlns:a="http://schemas.openxmlformats.org/drawingml/2006/main">
              <a:ext uri="{FF2B5EF4-FFF2-40B4-BE49-F238E27FC236}">
                <a16:creationId xmlns:a16="http://schemas.microsoft.com/office/drawing/2014/main" id="{A10774EB-94E4-444B-A0AF-24126A2F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4287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07A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07A2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limit-title-0">
            <a:extLst xmlns:a="http://schemas.openxmlformats.org/drawingml/2006/main">
              <a:ext uri="{FF2B5EF4-FFF2-40B4-BE49-F238E27FC236}">
                <a16:creationId xmlns:a16="http://schemas.microsoft.com/office/drawing/2014/main" id="{3FE1F188-6A11-4AAD-B545-FBD95BD1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4287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Split cấp ảnh</a:t>
            </a:r>
          </a:p>
        </p:txBody>
      </p:sp>
      <p:sp>
        <p:nvSpPr>
          <p:cNvPr id="9" name="limit-body-0">
            <a:extLst xmlns:a="http://schemas.openxmlformats.org/drawingml/2006/main">
              <a:ext uri="{FF2B5EF4-FFF2-40B4-BE49-F238E27FC236}">
                <a16:creationId xmlns:a16="http://schemas.microsoft.com/office/drawing/2014/main" id="{DF347633-AC8E-4BB5-B0E4-9ABC4A34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Chưa loại trừ quan hệ cùng cây/ruộng/phiên chụp.</a:t>
            </a:r>
          </a:p>
        </p:txBody>
      </p:sp>
      <p:sp>
        <p:nvSpPr>
          <p:cNvPr id="10" name="limit-num-1">
            <a:extLst xmlns:a="http://schemas.openxmlformats.org/drawingml/2006/main">
              <a:ext uri="{FF2B5EF4-FFF2-40B4-BE49-F238E27FC236}">
                <a16:creationId xmlns:a16="http://schemas.microsoft.com/office/drawing/2014/main" id="{5880ECD1-21EE-4972-AC18-21239A73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4955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07A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07A2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limit-title-1">
            <a:extLst xmlns:a="http://schemas.openxmlformats.org/drawingml/2006/main">
              <a:ext uri="{FF2B5EF4-FFF2-40B4-BE49-F238E27FC236}">
                <a16:creationId xmlns:a16="http://schemas.microsoft.com/office/drawing/2014/main" id="{160C83C0-B1D1-414B-8E15-BDEAF599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955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Mất cân bằng</a:t>
            </a:r>
          </a:p>
        </p:txBody>
      </p:sp>
      <p:sp>
        <p:nvSpPr>
          <p:cNvPr id="12" name="limit-body-1">
            <a:extLst xmlns:a="http://schemas.openxmlformats.org/drawingml/2006/main">
              <a:ext uri="{FF2B5EF4-FFF2-40B4-BE49-F238E27FC236}">
                <a16:creationId xmlns:a16="http://schemas.microsoft.com/office/drawing/2014/main" id="{AAA64AFD-7FA0-4F45-9275-62877AE0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955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Ba lớp lớn chiếm 76,54% tập test.</a:t>
            </a:r>
          </a:p>
        </p:txBody>
      </p:sp>
      <p:sp>
        <p:nvSpPr>
          <p:cNvPr id="13" name="limit-num-2">
            <a:extLst xmlns:a="http://schemas.openxmlformats.org/drawingml/2006/main">
              <a:ext uri="{FF2B5EF4-FFF2-40B4-BE49-F238E27FC236}">
                <a16:creationId xmlns:a16="http://schemas.microsoft.com/office/drawing/2014/main" id="{E5114A80-CA6F-4DBA-89E3-4FC61347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5623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07A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07A2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limit-title-2">
            <a:extLst xmlns:a="http://schemas.openxmlformats.org/drawingml/2006/main">
              <a:ext uri="{FF2B5EF4-FFF2-40B4-BE49-F238E27FC236}">
                <a16:creationId xmlns:a16="http://schemas.microsoft.com/office/drawing/2014/main" id="{9AF12744-88D0-48D1-A583-4C48806C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562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Phạm vi nhãn</a:t>
            </a:r>
          </a:p>
        </p:txBody>
      </p:sp>
      <p:sp>
        <p:nvSpPr>
          <p:cNvPr id="15" name="limit-body-2">
            <a:extLst xmlns:a="http://schemas.openxmlformats.org/drawingml/2006/main">
              <a:ext uri="{FF2B5EF4-FFF2-40B4-BE49-F238E27FC236}">
                <a16:creationId xmlns:a16="http://schemas.microsoft.com/office/drawing/2014/main" id="{654393D0-6288-41F9-AA10-6262E6BA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623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19 lớp gồm bệnh, sâu hại, cỏ dại và bình thường.</a:t>
            </a:r>
          </a:p>
        </p:txBody>
      </p:sp>
      <p:sp>
        <p:nvSpPr>
          <p:cNvPr id="16" name="limit-num-3">
            <a:extLst xmlns:a="http://schemas.openxmlformats.org/drawingml/2006/main">
              <a:ext uri="{FF2B5EF4-FFF2-40B4-BE49-F238E27FC236}">
                <a16:creationId xmlns:a16="http://schemas.microsoft.com/office/drawing/2014/main" id="{5A9A4FAE-7E4D-4EA3-B595-268314B1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6291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07A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07A2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limit-title-3">
            <a:extLst xmlns:a="http://schemas.openxmlformats.org/drawingml/2006/main">
              <a:ext uri="{FF2B5EF4-FFF2-40B4-BE49-F238E27FC236}">
                <a16:creationId xmlns:a16="http://schemas.microsoft.com/office/drawing/2014/main" id="{2BE5482D-DDA4-4AC8-AF0D-AB3E60FE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629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Thiếu external test</a:t>
            </a:r>
          </a:p>
        </p:txBody>
      </p:sp>
      <p:sp>
        <p:nvSpPr>
          <p:cNvPr id="18" name="limit-body-3">
            <a:extLst xmlns:a="http://schemas.openxmlformats.org/drawingml/2006/main">
              <a:ext uri="{FF2B5EF4-FFF2-40B4-BE49-F238E27FC236}">
                <a16:creationId xmlns:a16="http://schemas.microsoft.com/office/drawing/2014/main" id="{9BC74C7A-17C1-4547-AF29-D31F8C01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291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Chưa kiểm thử ảnh mới ngoài thực địa hoặc khác nguồn.</a:t>
            </a:r>
          </a:p>
        </p:txBody>
      </p:sp>
      <p:sp>
        <p:nvSpPr>
          <p:cNvPr id="19" name="high-conclusion">
            <a:extLst xmlns:a="http://schemas.openxmlformats.org/drawingml/2006/main">
              <a:ext uri="{FF2B5EF4-FFF2-40B4-BE49-F238E27FC236}">
                <a16:creationId xmlns:a16="http://schemas.microsoft.com/office/drawing/2014/main" id="{19F101A9-9A9A-4D71-B840-DFD4C592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385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high-conclusion-text">
            <a:extLst xmlns:a="http://schemas.openxmlformats.org/drawingml/2006/main">
              <a:ext uri="{FF2B5EF4-FFF2-40B4-BE49-F238E27FC236}">
                <a16:creationId xmlns:a16="http://schemas.microsoft.com/office/drawing/2014/main" id="{64DD71C4-6C58-496A-8351-A38E663E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90950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07A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07A2D"/>
                </a:solidFill>
                <a:latin typeface="Arial"/>
                <a:ea typeface="Arial"/>
                <a:cs typeface="Arial"/>
              </a:rPr>
              <a:t>Cách viết đúng: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E07A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07A2D"/>
                </a:solidFill>
                <a:latin typeface="Arial"/>
                <a:ea typeface="Arial"/>
                <a:cs typeface="Arial"/>
              </a:rPr>
              <a:t>“Hiệu năng trên split nội bộ đã khóa”, không phải “độ chính xác thực tế 99%”.</a:t>
            </a:r>
          </a:p>
        </p:txBody>
      </p:sp>
    </p:spTree>
    <p:extLst>
      <p:ext uri="{BB962C8B-B14F-4D97-AF65-F5344CB8AC3E}">
        <p14:creationId xmlns:p14="http://schemas.microsoft.com/office/powerpoint/2010/main" val="4833257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14">
            <a:extLst xmlns:a="http://schemas.openxmlformats.org/drawingml/2006/main">
              <a:ext uri="{FF2B5EF4-FFF2-40B4-BE49-F238E27FC236}">
                <a16:creationId xmlns:a16="http://schemas.microsoft.com/office/drawing/2014/main" id="{5FDB4365-AB47-4A4B-9673-7A7036BB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Kết luận từ đợt huấn luyện V2 trên 19 lớp</a:t>
            </a:r>
          </a:p>
        </p:txBody>
      </p:sp>
      <p:sp>
        <p:nvSpPr>
          <p:cNvPr id="2" name="title-rule-14">
            <a:extLst xmlns:a="http://schemas.openxmlformats.org/drawingml/2006/main">
              <a:ext uri="{FF2B5EF4-FFF2-40B4-BE49-F238E27FC236}">
                <a16:creationId xmlns:a16="http://schemas.microsoft.com/office/drawing/2014/main" id="{DD379C15-C89C-4FFC-9AFB-844BD68D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14">
            <a:extLst xmlns:a="http://schemas.openxmlformats.org/drawingml/2006/main">
              <a:ext uri="{FF2B5EF4-FFF2-40B4-BE49-F238E27FC236}">
                <a16:creationId xmlns:a16="http://schemas.microsoft.com/office/drawing/2014/main" id="{275C531F-FC6B-4598-8CE6-D44CE9AE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final-claim">
            <a:extLst xmlns:a="http://schemas.openxmlformats.org/drawingml/2006/main">
              <a:ext uri="{FF2B5EF4-FFF2-40B4-BE49-F238E27FC236}">
                <a16:creationId xmlns:a16="http://schemas.microsoft.com/office/drawing/2014/main" id="{1B671FD6-F5A9-41F0-A137-DAC2BC08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EfficientNet-B0 là mô hình tốt nhất trong campaign nội bộ V2.</a:t>
            </a:r>
          </a:p>
        </p:txBody>
      </p:sp>
      <p:sp>
        <p:nvSpPr>
          <p:cNvPr id="5" name="rec-label-0">
            <a:extLst xmlns:a="http://schemas.openxmlformats.org/drawingml/2006/main">
              <a:ext uri="{FF2B5EF4-FFF2-40B4-BE49-F238E27FC236}">
                <a16:creationId xmlns:a16="http://schemas.microsoft.com/office/drawing/2014/main" id="{5D9A0ACA-8BB3-46E9-88B3-8AC1CA3C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NGHIÊN CỨU</a:t>
            </a:r>
          </a:p>
        </p:txBody>
      </p:sp>
      <p:sp>
        <p:nvSpPr>
          <p:cNvPr id="6" name="rec-body-0">
            <a:extLst xmlns:a="http://schemas.openxmlformats.org/drawingml/2006/main">
              <a:ext uri="{FF2B5EF4-FFF2-40B4-BE49-F238E27FC236}">
                <a16:creationId xmlns:a16="http://schemas.microsoft.com/office/drawing/2014/main" id="{D85B99F4-B4FD-40B7-B12B-7EE39E6E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43175"/>
            <a:ext cx="8334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Giữ Eff-B0 và V3-Large làm hai ứng viên chính; báo cáo đủ mean ± SD và bootstrap CI.</a:t>
            </a:r>
          </a:p>
        </p:txBody>
      </p:sp>
      <p:sp>
        <p:nvSpPr>
          <p:cNvPr id="7" name="rec-rule-0">
            <a:extLst xmlns:a="http://schemas.openxmlformats.org/drawingml/2006/main">
              <a:ext uri="{FF2B5EF4-FFF2-40B4-BE49-F238E27FC236}">
                <a16:creationId xmlns:a16="http://schemas.microsoft.com/office/drawing/2014/main" id="{F6B77484-81C7-4BE2-8E3A-D1822B45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38500"/>
            <a:ext cx="833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-label-1">
            <a:extLst xmlns:a="http://schemas.openxmlformats.org/drawingml/2006/main">
              <a:ext uri="{FF2B5EF4-FFF2-40B4-BE49-F238E27FC236}">
                <a16:creationId xmlns:a16="http://schemas.microsoft.com/office/drawing/2014/main" id="{2EE58283-4101-4386-8A7C-3BE08599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718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MOBILE</a:t>
            </a:r>
          </a:p>
        </p:txBody>
      </p:sp>
      <p:sp>
        <p:nvSpPr>
          <p:cNvPr id="9" name="rec-body-1">
            <a:extLst xmlns:a="http://schemas.openxmlformats.org/drawingml/2006/main">
              <a:ext uri="{FF2B5EF4-FFF2-40B4-BE49-F238E27FC236}">
                <a16:creationId xmlns:a16="http://schemas.microsoft.com/office/drawing/2014/main" id="{C73C4BDE-562F-4D97-8548-77FB3FCF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43300"/>
            <a:ext cx="8334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Duy trì V3-Large cho Basic/Plus cho tới khi có benchmark latency, RAM và năng lượng thật.</a:t>
            </a:r>
          </a:p>
        </p:txBody>
      </p:sp>
      <p:sp>
        <p:nvSpPr>
          <p:cNvPr id="10" name="rec-rule-1">
            <a:extLst xmlns:a="http://schemas.openxmlformats.org/drawingml/2006/main">
              <a:ext uri="{FF2B5EF4-FFF2-40B4-BE49-F238E27FC236}">
                <a16:creationId xmlns:a16="http://schemas.microsoft.com/office/drawing/2014/main" id="{4BAA5F34-8230-44C2-8DE1-FD66627B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38625"/>
            <a:ext cx="833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-label-2">
            <a:extLst xmlns:a="http://schemas.openxmlformats.org/drawingml/2006/main">
              <a:ext uri="{FF2B5EF4-FFF2-40B4-BE49-F238E27FC236}">
                <a16:creationId xmlns:a16="http://schemas.microsoft.com/office/drawing/2014/main" id="{7F9CF0F5-5E75-43D7-9C5D-39167203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07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07A2D"/>
                </a:solidFill>
                <a:latin typeface="Arial"/>
                <a:ea typeface="Arial"/>
                <a:cs typeface="Arial"/>
              </a:rPr>
              <a:t>XÁC MINH</a:t>
            </a:r>
          </a:p>
        </p:txBody>
      </p:sp>
      <p:sp>
        <p:nvSpPr>
          <p:cNvPr id="12" name="rec-body-2">
            <a:extLst xmlns:a="http://schemas.openxmlformats.org/drawingml/2006/main">
              <a:ext uri="{FF2B5EF4-FFF2-40B4-BE49-F238E27FC236}">
                <a16:creationId xmlns:a16="http://schemas.microsoft.com/office/drawing/2014/main" id="{217D1F94-BDD3-4A28-B5C7-7058B780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43425"/>
            <a:ext cx="8334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Kiểm tra near-duplicate/nguồn ảnh, tạo split theo nhóm và bổ sung external field test.</a:t>
            </a:r>
          </a:p>
        </p:txBody>
      </p:sp>
      <p:sp>
        <p:nvSpPr>
          <p:cNvPr id="13" name="rec-rule-2">
            <a:extLst xmlns:a="http://schemas.openxmlformats.org/drawingml/2006/main">
              <a:ext uri="{FF2B5EF4-FFF2-40B4-BE49-F238E27FC236}">
                <a16:creationId xmlns:a16="http://schemas.microsoft.com/office/drawing/2014/main" id="{ABE0F5C2-7B12-4CB1-B7CF-B223EDA2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38750"/>
            <a:ext cx="833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inal-close">
            <a:extLst xmlns:a="http://schemas.openxmlformats.org/drawingml/2006/main">
              <a:ext uri="{FF2B5EF4-FFF2-40B4-BE49-F238E27FC236}">
                <a16:creationId xmlns:a16="http://schemas.microsoft.com/office/drawing/2014/main" id="{14B26AA6-943B-4958-A27F-9D3D1BAB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Trước mắt chốt kết quả 19 lớp. Huấn luyện lại 11 lớp được thực hiện ở giai đoạn sau.</a:t>
            </a:r>
          </a:p>
        </p:txBody>
      </p:sp>
    </p:spTree>
    <p:extLst>
      <p:ext uri="{BB962C8B-B14F-4D97-AF65-F5344CB8AC3E}">
        <p14:creationId xmlns:p14="http://schemas.microsoft.com/office/powerpoint/2010/main" val="20829824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2026-09-05T07:11:54.9990000Z</dcterms:created>
  <dcterms:modified xsi:type="dcterms:W3CDTF">2026-09-05T07:11:54.9990000Z</dcterms:modified>
</coreProperties>
</file>