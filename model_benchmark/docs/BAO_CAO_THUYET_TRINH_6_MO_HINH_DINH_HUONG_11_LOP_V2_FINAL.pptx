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56414376f744df" /><Relationship Type="http://schemas.openxmlformats.org/officeDocument/2006/relationships/extended-properties" Target="/docProps/app.xml" Id="R6356ddc4ff9a4eef" /><Relationship Type="http://schemas.openxmlformats.org/officeDocument/2006/relationships/officeDocument" Target="/ppt/presentation.xml" Id="R08912d6f927b45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e15273df434049"/>
  </p:sldMasterIdLst>
  <p:notesMasterIdLst>
    <p:notesMasterId xmlns:r="http://schemas.openxmlformats.org/officeDocument/2006/relationships" r:id="R7bb3d91005b84e71"/>
  </p:notesMasterIdLst>
  <p:sldIdLst>
    <p:sldId xmlns:r="http://schemas.openxmlformats.org/officeDocument/2006/relationships" id="256" r:id="Rf4740d12af8f4ba4"/>
    <p:sldId xmlns:r="http://schemas.openxmlformats.org/officeDocument/2006/relationships" id="257" r:id="R5c5a55dac661404f"/>
    <p:sldId xmlns:r="http://schemas.openxmlformats.org/officeDocument/2006/relationships" id="258" r:id="Ra76a3721756241c2"/>
    <p:sldId xmlns:r="http://schemas.openxmlformats.org/officeDocument/2006/relationships" id="259" r:id="Rab1fca364f4841d0"/>
    <p:sldId xmlns:r="http://schemas.openxmlformats.org/officeDocument/2006/relationships" id="260" r:id="R5b987a1596374672"/>
    <p:sldId xmlns:r="http://schemas.openxmlformats.org/officeDocument/2006/relationships" id="261" r:id="R382872dbbfb645d0"/>
    <p:sldId xmlns:r="http://schemas.openxmlformats.org/officeDocument/2006/relationships" id="262" r:id="Re7ccdd7b96e14f7b"/>
    <p:sldId xmlns:r="http://schemas.openxmlformats.org/officeDocument/2006/relationships" id="263" r:id="R0044242eb673484f"/>
    <p:sldId xmlns:r="http://schemas.openxmlformats.org/officeDocument/2006/relationships" id="264" r:id="R7fca22ea65084fde"/>
    <p:sldId xmlns:r="http://schemas.openxmlformats.org/officeDocument/2006/relationships" id="265" r:id="R6f57b24c41fa491b"/>
    <p:sldId xmlns:r="http://schemas.openxmlformats.org/officeDocument/2006/relationships" id="266" r:id="R97172124f3e74188"/>
    <p:sldId xmlns:r="http://schemas.openxmlformats.org/officeDocument/2006/relationships" id="267" r:id="R5e1e6aa58abe4512"/>
    <p:sldId xmlns:r="http://schemas.openxmlformats.org/officeDocument/2006/relationships" id="268" r:id="R3519b2de227445ac"/>
    <p:sldId xmlns:r="http://schemas.openxmlformats.org/officeDocument/2006/relationships" id="269" r:id="R4e27837304a04ce8"/>
    <p:sldId xmlns:r="http://schemas.openxmlformats.org/officeDocument/2006/relationships" id="270" r:id="R34313d1247f2453c"/>
    <p:sldId xmlns:r="http://schemas.openxmlformats.org/officeDocument/2006/relationships" id="271" r:id="R8f160d99fb3445bd"/>
    <p:sldId xmlns:r="http://schemas.openxmlformats.org/officeDocument/2006/relationships" id="272" r:id="Rd62583b0e8184251"/>
    <p:sldId xmlns:r="http://schemas.openxmlformats.org/officeDocument/2006/relationships" id="273" r:id="R44a14b841bc14824"/>
    <p:sldId xmlns:r="http://schemas.openxmlformats.org/officeDocument/2006/relationships" id="274" r:id="R4d0e8425c9314d35"/>
    <p:sldId xmlns:r="http://schemas.openxmlformats.org/officeDocument/2006/relationships" id="275" r:id="R8037f471d9074ef2"/>
    <p:sldId xmlns:r="http://schemas.openxmlformats.org/officeDocument/2006/relationships" id="276" r:id="R3da9804d16e948c4"/>
    <p:sldId xmlns:r="http://schemas.openxmlformats.org/officeDocument/2006/relationships" id="277" r:id="R062c1148c0fd404d"/>
    <p:sldId xmlns:r="http://schemas.openxmlformats.org/officeDocument/2006/relationships" id="278" r:id="Rf10b752b7cbf458d"/>
    <p:sldId xmlns:r="http://schemas.openxmlformats.org/officeDocument/2006/relationships" id="279" r:id="R9c95c79a4ee54923"/>
    <p:sldId xmlns:r="http://schemas.openxmlformats.org/officeDocument/2006/relationships" id="280" r:id="Rde8a202087c54bcf"/>
    <p:sldId xmlns:r="http://schemas.openxmlformats.org/officeDocument/2006/relationships" id="281" r:id="Rd5733338fdab412e"/>
    <p:sldId xmlns:r="http://schemas.openxmlformats.org/officeDocument/2006/relationships" id="282" r:id="R17eea183f7364a55"/>
    <p:sldId xmlns:r="http://schemas.openxmlformats.org/officeDocument/2006/relationships" id="283" r:id="Rf04aedbc042a4e75"/>
    <p:sldId xmlns:r="http://schemas.openxmlformats.org/officeDocument/2006/relationships" id="284" r:id="R4988d65748f1469e"/>
    <p:sldId xmlns:r="http://schemas.openxmlformats.org/officeDocument/2006/relationships" id="285" r:id="R85e9a14150914975"/>
    <p:sldId xmlns:r="http://schemas.openxmlformats.org/officeDocument/2006/relationships" id="286" r:id="R19609dfaf6e943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bb4c32e7cd465b" /><Relationship Type="http://schemas.openxmlformats.org/officeDocument/2006/relationships/slideMaster" Target="/ppt/slideMasters/slideMaster1.xml" Id="Refe15273df434049" /><Relationship Type="http://schemas.openxmlformats.org/officeDocument/2006/relationships/notesMaster" Target="/ppt/notesMasters/notesMaster1.xml" Id="R7bb3d91005b84e71" /><Relationship Type="http://schemas.openxmlformats.org/officeDocument/2006/relationships/presProps" Target="/ppt/presProps.xml" Id="Re966f1971f184b0d" /><Relationship Type="http://schemas.openxmlformats.org/officeDocument/2006/relationships/tableStyles" Target="/ppt/tableStyles.xml" Id="R8a0cf64647b142c1" /><Relationship Type="http://schemas.openxmlformats.org/officeDocument/2006/relationships/slide" Target="/ppt/slides/slide1.xml" Id="Rf4740d12af8f4ba4" /><Relationship Type="http://schemas.openxmlformats.org/officeDocument/2006/relationships/slide" Target="/ppt/slides/slide2.xml" Id="R5c5a55dac661404f" /><Relationship Type="http://schemas.openxmlformats.org/officeDocument/2006/relationships/slide" Target="/ppt/slides/slide3.xml" Id="Ra76a3721756241c2" /><Relationship Type="http://schemas.openxmlformats.org/officeDocument/2006/relationships/slide" Target="/ppt/slides/slide4.xml" Id="Rab1fca364f4841d0" /><Relationship Type="http://schemas.openxmlformats.org/officeDocument/2006/relationships/slide" Target="/ppt/slides/slide5.xml" Id="R5b987a1596374672" /><Relationship Type="http://schemas.openxmlformats.org/officeDocument/2006/relationships/slide" Target="/ppt/slides/slide6.xml" Id="R382872dbbfb645d0" /><Relationship Type="http://schemas.openxmlformats.org/officeDocument/2006/relationships/slide" Target="/ppt/slides/slide7.xml" Id="Re7ccdd7b96e14f7b" /><Relationship Type="http://schemas.openxmlformats.org/officeDocument/2006/relationships/slide" Target="/ppt/slides/slide8.xml" Id="R0044242eb673484f" /><Relationship Type="http://schemas.openxmlformats.org/officeDocument/2006/relationships/slide" Target="/ppt/slides/slide9.xml" Id="R7fca22ea65084fde" /><Relationship Type="http://schemas.openxmlformats.org/officeDocument/2006/relationships/slide" Target="/ppt/slides/slide10.xml" Id="R6f57b24c41fa491b" /><Relationship Type="http://schemas.openxmlformats.org/officeDocument/2006/relationships/slide" Target="/ppt/slides/slide11.xml" Id="R97172124f3e74188" /><Relationship Type="http://schemas.openxmlformats.org/officeDocument/2006/relationships/slide" Target="/ppt/slides/slide12.xml" Id="R5e1e6aa58abe4512" /><Relationship Type="http://schemas.openxmlformats.org/officeDocument/2006/relationships/slide" Target="/ppt/slides/slide13.xml" Id="R3519b2de227445ac" /><Relationship Type="http://schemas.openxmlformats.org/officeDocument/2006/relationships/slide" Target="/ppt/slides/slide14.xml" Id="R4e27837304a04ce8" /><Relationship Type="http://schemas.openxmlformats.org/officeDocument/2006/relationships/slide" Target="/ppt/slides/slide15.xml" Id="R34313d1247f2453c" /><Relationship Type="http://schemas.openxmlformats.org/officeDocument/2006/relationships/slide" Target="/ppt/slides/slide16.xml" Id="R8f160d99fb3445bd" /><Relationship Type="http://schemas.openxmlformats.org/officeDocument/2006/relationships/slide" Target="/ppt/slides/slide17.xml" Id="Rd62583b0e8184251" /><Relationship Type="http://schemas.openxmlformats.org/officeDocument/2006/relationships/slide" Target="/ppt/slides/slide18.xml" Id="R44a14b841bc14824" /><Relationship Type="http://schemas.openxmlformats.org/officeDocument/2006/relationships/slide" Target="/ppt/slides/slide19.xml" Id="R4d0e8425c9314d35" /><Relationship Type="http://schemas.openxmlformats.org/officeDocument/2006/relationships/slide" Target="/ppt/slides/slide20.xml" Id="R8037f471d9074ef2" /><Relationship Type="http://schemas.openxmlformats.org/officeDocument/2006/relationships/slide" Target="/ppt/slides/slide21.xml" Id="R3da9804d16e948c4" /><Relationship Type="http://schemas.openxmlformats.org/officeDocument/2006/relationships/slide" Target="/ppt/slides/slide22.xml" Id="R062c1148c0fd404d" /><Relationship Type="http://schemas.openxmlformats.org/officeDocument/2006/relationships/slide" Target="/ppt/slides/slide23.xml" Id="Rf10b752b7cbf458d" /><Relationship Type="http://schemas.openxmlformats.org/officeDocument/2006/relationships/slide" Target="/ppt/slides/slide24.xml" Id="R9c95c79a4ee54923" /><Relationship Type="http://schemas.openxmlformats.org/officeDocument/2006/relationships/slide" Target="/ppt/slides/slide25.xml" Id="Rde8a202087c54bcf" /><Relationship Type="http://schemas.openxmlformats.org/officeDocument/2006/relationships/slide" Target="/ppt/slides/slide26.xml" Id="Rd5733338fdab412e" /><Relationship Type="http://schemas.openxmlformats.org/officeDocument/2006/relationships/slide" Target="/ppt/slides/slide27.xml" Id="R17eea183f7364a55" /><Relationship Type="http://schemas.openxmlformats.org/officeDocument/2006/relationships/slide" Target="/ppt/slides/slide28.xml" Id="Rf04aedbc042a4e75" /><Relationship Type="http://schemas.openxmlformats.org/officeDocument/2006/relationships/slide" Target="/ppt/slides/slide29.xml" Id="R4988d65748f1469e" /><Relationship Type="http://schemas.openxmlformats.org/officeDocument/2006/relationships/slide" Target="/ppt/slides/slide30.xml" Id="R85e9a14150914975" /><Relationship Type="http://schemas.openxmlformats.org/officeDocument/2006/relationships/slide" Target="/ppt/slides/slide31.xml" Id="R19609dfaf6e943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336ff7907f40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4d8c00e2ae4822" /><Relationship Type="http://schemas.openxmlformats.org/officeDocument/2006/relationships/notesMaster" Target="/ppt/notesMasters/notesMaster1.xml" Id="Rb28ac49723e546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a1072c7aed44af" /><Relationship Type="http://schemas.openxmlformats.org/officeDocument/2006/relationships/notesMaster" Target="/ppt/notesMasters/notesMaster1.xml" Id="Re33a7cdf5eed42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dd7998b213466a" /><Relationship Type="http://schemas.openxmlformats.org/officeDocument/2006/relationships/notesMaster" Target="/ppt/notesMasters/notesMaster1.xml" Id="R58a67c28d1ed40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bd08b61dee4766" /><Relationship Type="http://schemas.openxmlformats.org/officeDocument/2006/relationships/notesMaster" Target="/ppt/notesMasters/notesMaster1.xml" Id="R467f968b4a0440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9d6b20727c4cab" /><Relationship Type="http://schemas.openxmlformats.org/officeDocument/2006/relationships/notesMaster" Target="/ppt/notesMasters/notesMaster1.xml" Id="R3c80ccb983184b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a731dc9dca4936" /><Relationship Type="http://schemas.openxmlformats.org/officeDocument/2006/relationships/notesMaster" Target="/ppt/notesMasters/notesMaster1.xml" Id="R7cd37341a36f4f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f13cd8a7294b16" /><Relationship Type="http://schemas.openxmlformats.org/officeDocument/2006/relationships/notesMaster" Target="/ppt/notesMasters/notesMaster1.xml" Id="R8711cbabf08c43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94b4fdc23849ad" /><Relationship Type="http://schemas.openxmlformats.org/officeDocument/2006/relationships/notesMaster" Target="/ppt/notesMasters/notesMaster1.xml" Id="R46e79b58cd0041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6801b53bbb4f6f" /><Relationship Type="http://schemas.openxmlformats.org/officeDocument/2006/relationships/notesMaster" Target="/ppt/notesMasters/notesMaster1.xml" Id="R6b783e9d7efd45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f734127aa14a08" /><Relationship Type="http://schemas.openxmlformats.org/officeDocument/2006/relationships/notesMaster" Target="/ppt/notesMasters/notesMaster1.xml" Id="R10b26a6c47394d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0f1cbbfcdb412c" /><Relationship Type="http://schemas.openxmlformats.org/officeDocument/2006/relationships/notesMaster" Target="/ppt/notesMasters/notesMaster1.xml" Id="R644af6f510e249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0d5829fa4f4a50" /><Relationship Type="http://schemas.openxmlformats.org/officeDocument/2006/relationships/notesMaster" Target="/ppt/notesMasters/notesMaster1.xml" Id="R3682e4a6b9434b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3a672b58d146df" /><Relationship Type="http://schemas.openxmlformats.org/officeDocument/2006/relationships/notesMaster" Target="/ppt/notesMasters/notesMaster1.xml" Id="R0601a0bd9c6d4c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a954ece72d4a06" /><Relationship Type="http://schemas.openxmlformats.org/officeDocument/2006/relationships/notesMaster" Target="/ppt/notesMasters/notesMaster1.xml" Id="R6089f69eb09442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d3bd0af3c684d7b" /><Relationship Type="http://schemas.openxmlformats.org/officeDocument/2006/relationships/notesMaster" Target="/ppt/notesMasters/notesMaster1.xml" Id="Rf69e4768af0942c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5e99dbd38a44f84" /><Relationship Type="http://schemas.openxmlformats.org/officeDocument/2006/relationships/notesMaster" Target="/ppt/notesMasters/notesMaster1.xml" Id="R63242ef445e245a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591ccdfb61a4321" /><Relationship Type="http://schemas.openxmlformats.org/officeDocument/2006/relationships/notesMaster" Target="/ppt/notesMasters/notesMaster1.xml" Id="Rb127cfb0151d437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0fd6e582d204c5b" /><Relationship Type="http://schemas.openxmlformats.org/officeDocument/2006/relationships/notesMaster" Target="/ppt/notesMasters/notesMaster1.xml" Id="R22ffab440ee4476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c139d89a1184d7c" /><Relationship Type="http://schemas.openxmlformats.org/officeDocument/2006/relationships/notesMaster" Target="/ppt/notesMasters/notesMaster1.xml" Id="R784e789bb2f04ba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97de98bf705448f" /><Relationship Type="http://schemas.openxmlformats.org/officeDocument/2006/relationships/notesMaster" Target="/ppt/notesMasters/notesMaster1.xml" Id="R994630a8c947498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4f0579d30a242ec" /><Relationship Type="http://schemas.openxmlformats.org/officeDocument/2006/relationships/notesMaster" Target="/ppt/notesMasters/notesMaster1.xml" Id="Rb35caed4c87940a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faf7aa5a7fc4915" /><Relationship Type="http://schemas.openxmlformats.org/officeDocument/2006/relationships/notesMaster" Target="/ppt/notesMasters/notesMaster1.xml" Id="Rc48614e7a94b4d0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94248ff74aa40db" /><Relationship Type="http://schemas.openxmlformats.org/officeDocument/2006/relationships/notesMaster" Target="/ppt/notesMasters/notesMaster1.xml" Id="R6b52bc206e2e4ef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4184abb24254b61" /><Relationship Type="http://schemas.openxmlformats.org/officeDocument/2006/relationships/notesMaster" Target="/ppt/notesMasters/notesMaster1.xml" Id="R8be4fca187844a8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d8cdeda537745d0" /><Relationship Type="http://schemas.openxmlformats.org/officeDocument/2006/relationships/notesMaster" Target="/ppt/notesMasters/notesMaster1.xml" Id="R377c437322f44bb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fc6fece46774591" /><Relationship Type="http://schemas.openxmlformats.org/officeDocument/2006/relationships/notesMaster" Target="/ppt/notesMasters/notesMaster1.xml" Id="R6310c1cd52b141d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6b1ba47abb144af" /><Relationship Type="http://schemas.openxmlformats.org/officeDocument/2006/relationships/notesMaster" Target="/ppt/notesMasters/notesMaster1.xml" Id="R18a41f3f3cc546f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1006e84f4a04e46" /><Relationship Type="http://schemas.openxmlformats.org/officeDocument/2006/relationships/notesMaster" Target="/ppt/notesMasters/notesMaster1.xml" Id="Re0ac781fe9c64f2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0d6f52f8492427e" /><Relationship Type="http://schemas.openxmlformats.org/officeDocument/2006/relationships/notesMaster" Target="/ppt/notesMasters/notesMaster1.xml" Id="Rec8f102a7514407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c43e34810ed43df" /><Relationship Type="http://schemas.openxmlformats.org/officeDocument/2006/relationships/notesMaster" Target="/ppt/notesMasters/notesMaster1.xml" Id="Rc3d13e698b184d9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6a6d2512e604b96" /><Relationship Type="http://schemas.openxmlformats.org/officeDocument/2006/relationships/notesMaster" Target="/ppt/notesMasters/notesMaster1.xml" Id="R70e29e0d7fd143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Tên đề tài đã đổi theo phạm vi 11 nhóm. Phải nói rõ đây là phân tích chuyển tiếp: checkpoint vẫn có 19 đầu 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Phạm vi nhãn gồm bệnh, sinh vật gây hại, cỏ dại và trạng thái bình thường; không gọi chung là 11 bệnh.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 lớp được chọn theo support, không chọn theo F1. Quyết định này xảy ra sau campaign 19 lớp nên phải ghi là thiết kế chuyển tiếp.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Bảng lấy trực tiếp từ split_counts trong JSON tái tính.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Quy trình này bảo thủ hơn việc loại 8 logit rồi renormalize vì mọi dự đoán ngoài 11 lớp đều là lỗi.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dùng số tham số dự kiến làm bằng chứng về latency hoặc bộ nhớ mobile.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quy chênh lệch F1 cho một block riêng lẻ nếu chưa ablation.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so sánh FLOPs vì campaign chưa lưu FLOPs thống nhất.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gọi ShuffleNet nhanh nhất khi chưa benchmark cùng runtime.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Giữ hồ sơ thực nghiệm đúng với log; không suy diễn cấu hình máy từ lời kể.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lấy từ train_backbone.py và final_evaluate_v2.py.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protocol đề xuất, chưa chạy.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tổng hợp vai trò của toàn bộ thước đo. Các slide 15–16 giải thích chi tiết metric và độ bất định; slide 20–24 trình bày kết quả từng lớp và bootstrap.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Protocol chính thức phải được khóa trước huấn luyện.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 metric tái tính trực tiếp từ true_label và predicted_label.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Bootstrap dùng đúng 9.376 ảnh đã lọc, giữ cặp dự đoán trên cùng ảnh.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Bar chart dùng aggregate.macro_f1.mean trong JSON 11 lớp.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Mọi ô được đọc tự động từ aggregate trong 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 điểm là Macro-F1 từng seed sau lọc 11 true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Bảng per_class lấy từ 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suy luận lớp khó chỉ từ support; cần xem ảnh và confusion matrix.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Bốn lớp được chọn để minh họa; bảng đầy đủ ở slide 20–21.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Bảng đối chiếu aggregate 19 lớp cũ với sensitivity 11 lớp.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hiệu chỉnh đa so sánh; đây không phải CI của mean qua ba seed.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Lựa chọn deployment cần latency/RAM/năng lượng, chưa chỉ Macro-F1.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dùng tham số để suy latency.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Chưa có inference benchmark cho 11-output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tách chất lượng sensitivity khỏi tài nguyên dự kiến.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 thể audit lại bằng script build_11class_transition_report.py.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chọn hoặc loại thêm lớp dựa vào F1 hiện tại.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Khi thuyết trình, nhắc câu cảnh báo trước khi đọc bảng kết quả.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D:/Phát hiện bệnh cây lúa/model_benchmark/docs/results_report_assets_11class/recalculated_11class_metrics.json</a:t>
            </a:r>
          </a:p>
          <a:p xmlns:a="http://schemas.openxmlformats.org/drawingml/2006/main">
            <a:r>
              <a:t>- D:/Phát hiện bệnh cây lúa/model_benchmark/runs/final_test_v2</a:t>
            </a:r>
          </a:p>
          <a:p xmlns:a="http://schemas.openxmlformats.org/drawingml/2006/main">
            <a:r>
              <a:t>- D:/Phát hiện bệnh cây lúa/model_benchmark/config/campaign_lock_v2.json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4976d408243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ed84b5c6c14899" /><Relationship Type="http://schemas.openxmlformats.org/officeDocument/2006/relationships/slideLayout" Target="/ppt/slideLayouts/slideLayout1.xml" Id="R47636d89aa9645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636d89aa9645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a6d7ffb744a6e" /><Relationship Type="http://schemas.openxmlformats.org/officeDocument/2006/relationships/notesSlide" Target="/ppt/notesSlides/notesSlide1.xml" Id="R67cd2380a76c48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1dbd8f15b458f" /><Relationship Type="http://schemas.openxmlformats.org/officeDocument/2006/relationships/notesSlide" Target="/ppt/notesSlides/notesSlide2.xml" Id="Rb3f19f72bb4f43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c7c57c5f14341" /><Relationship Type="http://schemas.openxmlformats.org/officeDocument/2006/relationships/notesSlide" Target="/ppt/notesSlides/notesSlide3.xml" Id="R5a27db1f3b5841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733ae8b1445bc" /><Relationship Type="http://schemas.openxmlformats.org/officeDocument/2006/relationships/notesSlide" Target="/ppt/notesSlides/notesSlide4.xml" Id="Redb9f1a6a84046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adb99dd6c482c" /><Relationship Type="http://schemas.openxmlformats.org/officeDocument/2006/relationships/notesSlide" Target="/ppt/notesSlides/notesSlide5.xml" Id="Rb83dca530ee348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b1e2ab33c4927" /><Relationship Type="http://schemas.openxmlformats.org/officeDocument/2006/relationships/notesSlide" Target="/ppt/notesSlides/notesSlide6.xml" Id="R7fb174659d0644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a7fcd69114c54" /><Relationship Type="http://schemas.openxmlformats.org/officeDocument/2006/relationships/notesSlide" Target="/ppt/notesSlides/notesSlide7.xml" Id="R442d38c1643d42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9185092b54449" /><Relationship Type="http://schemas.openxmlformats.org/officeDocument/2006/relationships/notesSlide" Target="/ppt/notesSlides/notesSlide8.xml" Id="R0e3cd366d6154c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81e41f758480d" /><Relationship Type="http://schemas.openxmlformats.org/officeDocument/2006/relationships/notesSlide" Target="/ppt/notesSlides/notesSlide9.xml" Id="Rca40f2a19b804f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a4825eddb4674" /><Relationship Type="http://schemas.openxmlformats.org/officeDocument/2006/relationships/notesSlide" Target="/ppt/notesSlides/notesSlide10.xml" Id="Rb33e9e4e55fb4b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c7849aba04982" /><Relationship Type="http://schemas.openxmlformats.org/officeDocument/2006/relationships/notesSlide" Target="/ppt/notesSlides/notesSlide11.xml" Id="R38818bb2743e44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4f107cc0d42c2" /><Relationship Type="http://schemas.openxmlformats.org/officeDocument/2006/relationships/notesSlide" Target="/ppt/notesSlides/notesSlide12.xml" Id="Rb241549725bc42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0129766db446f" /><Relationship Type="http://schemas.openxmlformats.org/officeDocument/2006/relationships/notesSlide" Target="/ppt/notesSlides/notesSlide13.xml" Id="Rf17dae61eabe4b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0b311a4c44da6" /><Relationship Type="http://schemas.openxmlformats.org/officeDocument/2006/relationships/notesSlide" Target="/ppt/notesSlides/notesSlide14.xml" Id="Rf217b2991577448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cee32614649de" /><Relationship Type="http://schemas.openxmlformats.org/officeDocument/2006/relationships/notesSlide" Target="/ppt/notesSlides/notesSlide15.xml" Id="R2fa542abd8cc4e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a758837f44be8" /><Relationship Type="http://schemas.openxmlformats.org/officeDocument/2006/relationships/notesSlide" Target="/ppt/notesSlides/notesSlide16.xml" Id="R4a1e8130217b473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f26a5aa6c4620" /><Relationship Type="http://schemas.openxmlformats.org/officeDocument/2006/relationships/notesSlide" Target="/ppt/notesSlides/notesSlide17.xml" Id="Rd4b6a005e944437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0506c85fe4a97" /><Relationship Type="http://schemas.openxmlformats.org/officeDocument/2006/relationships/notesSlide" Target="/ppt/notesSlides/notesSlide18.xml" Id="R1ad12cdf499042b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6a7be5d5b4ab3" /><Relationship Type="http://schemas.openxmlformats.org/officeDocument/2006/relationships/notesSlide" Target="/ppt/notesSlides/notesSlide19.xml" Id="Rd0cee6c8df7e4de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9f535f1344b22" /><Relationship Type="http://schemas.openxmlformats.org/officeDocument/2006/relationships/notesSlide" Target="/ppt/notesSlides/notesSlide20.xml" Id="Ra8736707b394445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bafacf13a4ded" /><Relationship Type="http://schemas.openxmlformats.org/officeDocument/2006/relationships/notesSlide" Target="/ppt/notesSlides/notesSlide21.xml" Id="R8e5b87e4424041b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5c4e4fe8b4af0" /><Relationship Type="http://schemas.openxmlformats.org/officeDocument/2006/relationships/notesSlide" Target="/ppt/notesSlides/notesSlide22.xml" Id="R3ac3acee09ac4ff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a96bad4964c4f" /><Relationship Type="http://schemas.openxmlformats.org/officeDocument/2006/relationships/notesSlide" Target="/ppt/notesSlides/notesSlide23.xml" Id="R3aba7d24c0d8448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e2a30b0d54be8" /><Relationship Type="http://schemas.openxmlformats.org/officeDocument/2006/relationships/notesSlide" Target="/ppt/notesSlides/notesSlide24.xml" Id="R472d9630396041e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c936ee6004e60" /><Relationship Type="http://schemas.openxmlformats.org/officeDocument/2006/relationships/notesSlide" Target="/ppt/notesSlides/notesSlide25.xml" Id="R431da435e77f499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1872ca0014467" /><Relationship Type="http://schemas.openxmlformats.org/officeDocument/2006/relationships/notesSlide" Target="/ppt/notesSlides/notesSlide26.xml" Id="Rafaba0d8d3044b4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d96c11c734357" /><Relationship Type="http://schemas.openxmlformats.org/officeDocument/2006/relationships/notesSlide" Target="/ppt/notesSlides/notesSlide27.xml" Id="Re35ef755580b4e7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72fa871f84e36" /><Relationship Type="http://schemas.openxmlformats.org/officeDocument/2006/relationships/notesSlide" Target="/ppt/notesSlides/notesSlide28.xml" Id="R7db8df9064ed43f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25169cdb842bc" /><Relationship Type="http://schemas.openxmlformats.org/officeDocument/2006/relationships/notesSlide" Target="/ppt/notesSlides/notesSlide29.xml" Id="R1752289ee72745d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da74d8fa34959" /><Relationship Type="http://schemas.openxmlformats.org/officeDocument/2006/relationships/notesSlide" Target="/ppt/notesSlides/notesSlide30.xml" Id="Rb27bfeead196481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646c8bf3e4525" /><Relationship Type="http://schemas.openxmlformats.org/officeDocument/2006/relationships/notesSlide" Target="/ppt/notesSlides/notesSlide31.xml" Id="R03e5cae1710c44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5BF6EAE-5A1B-43E9-9DA1-E86E2F06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BÁO CÁO SƠ BỘ • RICEAI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88B9C1A-E172-4BE1-9A07-57C30A27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7620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401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So sánh sáu kiến trúc CNN trong nhận diện 11 nhóm bệnh, sinh vật gây hại và trạng thái cây lúa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AE5E883-AE28-4E1C-AE67-63A4955A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95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Phân tích chuyển tiếp từ campaign 19 lớp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Campaign 11 đầu ra chính thức chưa huấn luyện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D90BF6C-5333-4546-BB09-9D9C8CDE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stat">
            <a:extLst xmlns:a="http://schemas.openxmlformats.org/drawingml/2006/main">
              <a:ext uri="{FF2B5EF4-FFF2-40B4-BE49-F238E27FC236}">
                <a16:creationId xmlns:a16="http://schemas.microsoft.com/office/drawing/2014/main" id="{363EF12E-3908-420B-9BA8-22CE1407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4312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6 × 3</a:t>
            </a:r>
          </a:p>
        </p:txBody>
      </p:sp>
      <p:sp>
        <p:nvSpPr>
          <p:cNvPr id="6" name="cover-stat-label">
            <a:extLst xmlns:a="http://schemas.openxmlformats.org/drawingml/2006/main">
              <a:ext uri="{FF2B5EF4-FFF2-40B4-BE49-F238E27FC236}">
                <a16:creationId xmlns:a16="http://schemas.microsoft.com/office/drawing/2014/main" id="{B869B542-8D56-48EA-8B1D-09BC07F6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051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mô hình × lần train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E0A0B49F-CBDB-4B4C-AADC-59FFE4E9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531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Campaign V2 • Tập test khóa 9.829 ảnh</a:t>
            </a:r>
          </a:p>
        </p:txBody>
      </p:sp>
    </p:spTree>
    <p:extLst>
      <p:ext uri="{BB962C8B-B14F-4D97-AF65-F5344CB8AC3E}">
        <p14:creationId xmlns:p14="http://schemas.microsoft.com/office/powerpoint/2010/main" val="14198930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Câu hỏi nghiên cứu và phạm vi 11 nhóm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Mục tiêu hiện tại là kiểm tra độ bền của thứ hạng trước khi huấn luyện lại classifier 11 đầu ra.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Chất lượng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So sánh Accuracy, Macro-Precision, Macro-Recall và Macro-F1 trên 9.376 ảnh thuộc 11 lớp đủ support.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Độ ổn định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Mỗi backbone có ba checkpoint từ seed 42, 123 và 2026; báo cáo từng seed, mean và sample SD.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Tính trung thực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Dự đoán rơi vào 8 nhãn bị loại vẫn tính sai; không renormalize xác suất và không gọi đây là mô hình 11 lớp đã train.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Đây là phân tích độ nhạy để thiết kế campaign mới, không phải kết quả cuối của bài báo 11 lớp.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3">
            <a:extLst xmlns:a="http://schemas.openxmlformats.org/drawingml/2006/main">
              <a:ext uri="{FF2B5EF4-FFF2-40B4-BE49-F238E27FC236}">
                <a16:creationId xmlns:a16="http://schemas.microsoft.com/office/drawing/2014/main" id="{555035D6-8F19-43AF-B330-CE8BF609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Từ 65.516 ảnh đến phạm vi 11 lớp</a:t>
            </a:r>
          </a:p>
        </p:txBody>
      </p:sp>
      <p:sp>
        <p:nvSpPr>
          <p:cNvPr id="2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AC9E859D-C866-4ADC-B505-E802B609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3">
            <a:extLst xmlns:a="http://schemas.openxmlformats.org/drawingml/2006/main">
              <a:ext uri="{FF2B5EF4-FFF2-40B4-BE49-F238E27FC236}">
                <a16:creationId xmlns:a16="http://schemas.microsoft.com/office/drawing/2014/main" id="{BE82A00E-6ED9-48B3-BE84-16DC734C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split-0">
            <a:extLst xmlns:a="http://schemas.openxmlformats.org/drawingml/2006/main">
              <a:ext uri="{FF2B5EF4-FFF2-40B4-BE49-F238E27FC236}">
                <a16:creationId xmlns:a16="http://schemas.microsoft.com/office/drawing/2014/main" id="{A24EDE7E-80F4-4E84-9EA4-8C8FFD44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plit-num-0">
            <a:extLst xmlns:a="http://schemas.openxmlformats.org/drawingml/2006/main">
              <a:ext uri="{FF2B5EF4-FFF2-40B4-BE49-F238E27FC236}">
                <a16:creationId xmlns:a16="http://schemas.microsoft.com/office/drawing/2014/main" id="{178A4369-AE8C-412E-B264-0F2B6303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57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45.858</a:t>
            </a:r>
          </a:p>
        </p:txBody>
      </p:sp>
      <p:sp>
        <p:nvSpPr>
          <p:cNvPr id="6" name="split-name-0">
            <a:extLst xmlns:a="http://schemas.openxmlformats.org/drawingml/2006/main">
              <a:ext uri="{FF2B5EF4-FFF2-40B4-BE49-F238E27FC236}">
                <a16:creationId xmlns:a16="http://schemas.microsoft.com/office/drawing/2014/main" id="{D7117894-4999-45DF-BC16-A3975A4C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81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7" name="split-pct-0">
            <a:extLst xmlns:a="http://schemas.openxmlformats.org/drawingml/2006/main">
              <a:ext uri="{FF2B5EF4-FFF2-40B4-BE49-F238E27FC236}">
                <a16:creationId xmlns:a16="http://schemas.microsoft.com/office/drawing/2014/main" id="{0D2DB7B7-5A39-49DD-8170-3A3F8897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Học từ ảnh</a:t>
            </a:r>
          </a:p>
        </p:txBody>
      </p:sp>
      <p:sp>
        <p:nvSpPr>
          <p:cNvPr id="8" name="split-1">
            <a:extLst xmlns:a="http://schemas.openxmlformats.org/drawingml/2006/main">
              <a:ext uri="{FF2B5EF4-FFF2-40B4-BE49-F238E27FC236}">
                <a16:creationId xmlns:a16="http://schemas.microsoft.com/office/drawing/2014/main" id="{BD6FD7A2-6B75-4645-A9B2-1BB450E3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2400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plit-num-1">
            <a:extLst xmlns:a="http://schemas.openxmlformats.org/drawingml/2006/main">
              <a:ext uri="{FF2B5EF4-FFF2-40B4-BE49-F238E27FC236}">
                <a16:creationId xmlns:a16="http://schemas.microsoft.com/office/drawing/2014/main" id="{C99F28A5-C9C2-484D-B5FC-01292FCA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57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9.829</a:t>
            </a:r>
          </a:p>
        </p:txBody>
      </p:sp>
      <p:sp>
        <p:nvSpPr>
          <p:cNvPr id="10" name="split-name-1">
            <a:extLst xmlns:a="http://schemas.openxmlformats.org/drawingml/2006/main">
              <a:ext uri="{FF2B5EF4-FFF2-40B4-BE49-F238E27FC236}">
                <a16:creationId xmlns:a16="http://schemas.microsoft.com/office/drawing/2014/main" id="{49BB4F87-A31A-4DBB-A3DE-D2C18D27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81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1" name="split-pct-1">
            <a:extLst xmlns:a="http://schemas.openxmlformats.org/drawingml/2006/main">
              <a:ext uri="{FF2B5EF4-FFF2-40B4-BE49-F238E27FC236}">
                <a16:creationId xmlns:a16="http://schemas.microsoft.com/office/drawing/2014/main" id="{BC79830A-FA89-4D77-9705-730CAC4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813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Chọn checkpoint tốt nhất</a:t>
            </a:r>
          </a:p>
        </p:txBody>
      </p:sp>
      <p:sp>
        <p:nvSpPr>
          <p:cNvPr id="12" name="split-2">
            <a:extLst xmlns:a="http://schemas.openxmlformats.org/drawingml/2006/main">
              <a:ext uri="{FF2B5EF4-FFF2-40B4-BE49-F238E27FC236}">
                <a16:creationId xmlns:a16="http://schemas.microsoft.com/office/drawing/2014/main" id="{3EE194D7-0154-42E5-B058-3A2C0F9C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2400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plit-num-2">
            <a:extLst xmlns:a="http://schemas.openxmlformats.org/drawingml/2006/main">
              <a:ext uri="{FF2B5EF4-FFF2-40B4-BE49-F238E27FC236}">
                <a16:creationId xmlns:a16="http://schemas.microsoft.com/office/drawing/2014/main" id="{445678F7-E8C7-4FB1-B73A-FDB62860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57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9.829</a:t>
            </a:r>
          </a:p>
        </p:txBody>
      </p:sp>
      <p:sp>
        <p:nvSpPr>
          <p:cNvPr id="14" name="split-name-2">
            <a:extLst xmlns:a="http://schemas.openxmlformats.org/drawingml/2006/main">
              <a:ext uri="{FF2B5EF4-FFF2-40B4-BE49-F238E27FC236}">
                <a16:creationId xmlns:a16="http://schemas.microsoft.com/office/drawing/2014/main" id="{6B341295-5A40-4AA5-89A8-C5DF2962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81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5" name="split-pct-2">
            <a:extLst xmlns:a="http://schemas.openxmlformats.org/drawingml/2006/main">
              <a:ext uri="{FF2B5EF4-FFF2-40B4-BE49-F238E27FC236}">
                <a16:creationId xmlns:a16="http://schemas.microsoft.com/office/drawing/2014/main" id="{754799DF-0144-4B96-B80F-FDFA1D4F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813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Đánh giá cuối cùng</a:t>
            </a:r>
          </a:p>
        </p:txBody>
      </p:sp>
      <p:sp>
        <p:nvSpPr>
          <p:cNvPr id="16" name="data-notes">
            <a:extLst xmlns:a="http://schemas.openxmlformats.org/drawingml/2006/main">
              <a:ext uri="{FF2B5EF4-FFF2-40B4-BE49-F238E27FC236}">
                <a16:creationId xmlns:a16="http://schemas.microsoft.com/office/drawing/2014/main" id="{855B28A4-9D28-452F-82A2-5807C26B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67125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Split V2 khóa: train 45.858 • validation 9.829 • test 9.829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Quy tắc hậu kiểm: giữ lớp có support test ≥ 100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11 lớp giữ lại: 9.376 ảnh test; 8 lớp tạm loại: 453 ảnh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• Không xóa dữ liệu gốc, không sửa checkpoint hay CSV dự đoán</a:t>
            </a:r>
          </a:p>
        </p:txBody>
      </p:sp>
      <p:sp>
        <p:nvSpPr>
          <p:cNvPr id="17" name="data-caveat">
            <a:extLst xmlns:a="http://schemas.openxmlformats.org/drawingml/2006/main">
              <a:ext uri="{FF2B5EF4-FFF2-40B4-BE49-F238E27FC236}">
                <a16:creationId xmlns:a16="http://schemas.microsoft.com/office/drawing/2014/main" id="{241A7699-B643-4D1A-B80F-4079F65C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3762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ata-caveat-title">
            <a:extLst xmlns:a="http://schemas.openxmlformats.org/drawingml/2006/main">
              <a:ext uri="{FF2B5EF4-FFF2-40B4-BE49-F238E27FC236}">
                <a16:creationId xmlns:a16="http://schemas.microsoft.com/office/drawing/2014/main" id="{95F4477B-B71B-4659-88A8-A6B31F0D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10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Giới hạn quan trọng</a:t>
            </a:r>
          </a:p>
        </p:txBody>
      </p:sp>
      <p:sp>
        <p:nvSpPr>
          <p:cNvPr id="19" name="data-caveat-body">
            <a:extLst xmlns:a="http://schemas.openxmlformats.org/drawingml/2006/main">
              <a:ext uri="{FF2B5EF4-FFF2-40B4-BE49-F238E27FC236}">
                <a16:creationId xmlns:a16="http://schemas.microsoft.com/office/drawing/2014/main" id="{0D3795B5-3CE6-4690-8D76-73900092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196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Chưa tách theo cây, ruộng hoặc phiên chụp. Đây là test nội bộ.</a:t>
            </a:r>
          </a:p>
        </p:txBody>
      </p:sp>
    </p:spTree>
    <p:extLst>
      <p:ext uri="{BB962C8B-B14F-4D97-AF65-F5344CB8AC3E}">
        <p14:creationId xmlns:p14="http://schemas.microsoft.com/office/powerpoint/2010/main" val="385806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Mười một lớp được giữ theo ngưỡng support test ≥ 100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Tổng test: 9.376 ảnh. Hai lớp lớn nhất: sâu đục thân 2.973 và rầy nâu 2.786 ảnh.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Nhóm nhỏ nhất còn giữ: ốc bươu vàng 122 ảnh; dữ liệu vẫn mất cân bằng.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257300"/>
          <a:ext xmlns:a="http://schemas.openxmlformats.org/drawingml/2006/main" cx="1095375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857375"/>
                <a:gridCol w="1857375"/>
                <a:gridCol w="1857375"/>
                <a:gridCol w="2047875"/>
              </a:tblGrid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Lớp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Tổng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Bạc lá vi khuẩn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1260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1800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Đạo ôn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1172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251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251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1674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Rầy nâu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13001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2786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2786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18573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Đốm nâu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1540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Dảnh héo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215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215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1434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Ốc bươu vàng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566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cuốn lá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8232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1764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1764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11760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Bình thường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1230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1756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đục thân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13875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2973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2973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19821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Tungro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759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1085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Cỏ dại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1114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239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239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1592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-5">
            <a:extLst xmlns:a="http://schemas.openxmlformats.org/drawingml/2006/main">
              <a:ext uri="{FF2B5EF4-FFF2-40B4-BE49-F238E27FC236}">
                <a16:creationId xmlns:a16="http://schemas.microsoft.com/office/drawing/2014/main" id="{826D2D10-15D5-452D-B731-5EBF6E7A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Luồng tái tính: giữ nguyên dự đoán 19 đầu ra</a:t>
            </a:r>
          </a:p>
        </p:txBody>
      </p:sp>
      <p:sp>
        <p:nvSpPr>
          <p:cNvPr id="2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095EAF37-935E-4FB6-9C76-4FA2BAF9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524D11A2-9F59-4EE5-BBD3-E439F06C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flow-line-0">
            <a:extLst xmlns:a="http://schemas.openxmlformats.org/drawingml/2006/main">
              <a:ext uri="{FF2B5EF4-FFF2-40B4-BE49-F238E27FC236}">
                <a16:creationId xmlns:a16="http://schemas.microsoft.com/office/drawing/2014/main" id="{197F315F-B670-4E8E-985B-B7D695D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line-1">
            <a:extLst xmlns:a="http://schemas.openxmlformats.org/drawingml/2006/main">
              <a:ext uri="{FF2B5EF4-FFF2-40B4-BE49-F238E27FC236}">
                <a16:creationId xmlns:a16="http://schemas.microsoft.com/office/drawing/2014/main" id="{9955E7A9-4ABE-4C71-8EF7-7CFFC467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line-2">
            <a:extLst xmlns:a="http://schemas.openxmlformats.org/drawingml/2006/main">
              <a:ext uri="{FF2B5EF4-FFF2-40B4-BE49-F238E27FC236}">
                <a16:creationId xmlns:a16="http://schemas.microsoft.com/office/drawing/2014/main" id="{850E141A-735C-4773-9423-A37A3F03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line-3">
            <a:extLst xmlns:a="http://schemas.openxmlformats.org/drawingml/2006/main">
              <a:ext uri="{FF2B5EF4-FFF2-40B4-BE49-F238E27FC236}">
                <a16:creationId xmlns:a16="http://schemas.microsoft.com/office/drawing/2014/main" id="{7E862339-4B30-45C6-9078-DFA0A718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node-0">
            <a:extLst xmlns:a="http://schemas.openxmlformats.org/drawingml/2006/main">
              <a:ext uri="{FF2B5EF4-FFF2-40B4-BE49-F238E27FC236}">
                <a16:creationId xmlns:a16="http://schemas.microsoft.com/office/drawing/2014/main" id="{E8451528-C4BB-434E-9812-B76DF08B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num-0">
            <a:extLst xmlns:a="http://schemas.openxmlformats.org/drawingml/2006/main">
              <a:ext uri="{FF2B5EF4-FFF2-40B4-BE49-F238E27FC236}">
                <a16:creationId xmlns:a16="http://schemas.microsoft.com/office/drawing/2014/main" id="{9C30586C-E89B-491C-B61A-70ED2077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6912F287-618A-4139-A66E-CC513133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LỌC NHÃN THẬT</a:t>
            </a:r>
          </a:p>
        </p:txBody>
      </p:sp>
      <p:sp>
        <p:nvSpPr>
          <p:cNvPr id="11" name="flow-body-0">
            <a:extLst xmlns:a="http://schemas.openxmlformats.org/drawingml/2006/main">
              <a:ext uri="{FF2B5EF4-FFF2-40B4-BE49-F238E27FC236}">
                <a16:creationId xmlns:a16="http://schemas.microsoft.com/office/drawing/2014/main" id="{C7A906C4-ABB5-434D-B9BD-154A4B67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Chỉ giữ hàng test có true_label thuộc 11 lớp.</a:t>
            </a:r>
          </a:p>
        </p:txBody>
      </p:sp>
      <p:sp>
        <p:nvSpPr>
          <p:cNvPr id="12" name="flow-node-1">
            <a:extLst xmlns:a="http://schemas.openxmlformats.org/drawingml/2006/main">
              <a:ext uri="{FF2B5EF4-FFF2-40B4-BE49-F238E27FC236}">
                <a16:creationId xmlns:a16="http://schemas.microsoft.com/office/drawing/2014/main" id="{E2092F7E-8E8E-4FE5-AD6D-5B8F853C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ow-num-1">
            <a:extLst xmlns:a="http://schemas.openxmlformats.org/drawingml/2006/main">
              <a:ext uri="{FF2B5EF4-FFF2-40B4-BE49-F238E27FC236}">
                <a16:creationId xmlns:a16="http://schemas.microsoft.com/office/drawing/2014/main" id="{43D33EC6-CD2E-4EDE-9442-B91E6805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500E1CE1-7DE6-4DC5-863A-5B3DA66E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GIỮ DỰ ĐOÁN</a:t>
            </a:r>
          </a:p>
        </p:txBody>
      </p:sp>
      <p:sp>
        <p:nvSpPr>
          <p:cNvPr id="15" name="flow-body-1">
            <a:extLst xmlns:a="http://schemas.openxmlformats.org/drawingml/2006/main">
              <a:ext uri="{FF2B5EF4-FFF2-40B4-BE49-F238E27FC236}">
                <a16:creationId xmlns:a16="http://schemas.microsoft.com/office/drawing/2014/main" id="{A5397EFE-07CC-4C3C-B1B1-8A49EEBA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Không ép predicted_label vào 11 lớp; dự đoán sang lớp loại = sai.</a:t>
            </a:r>
          </a:p>
        </p:txBody>
      </p:sp>
      <p:sp>
        <p:nvSpPr>
          <p:cNvPr id="16" name="flow-node-2">
            <a:extLst xmlns:a="http://schemas.openxmlformats.org/drawingml/2006/main">
              <a:ext uri="{FF2B5EF4-FFF2-40B4-BE49-F238E27FC236}">
                <a16:creationId xmlns:a16="http://schemas.microsoft.com/office/drawing/2014/main" id="{F2A7B1F3-D503-4BFE-A28E-DB9F1362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low-num-2">
            <a:extLst xmlns:a="http://schemas.openxmlformats.org/drawingml/2006/main">
              <a:ext uri="{FF2B5EF4-FFF2-40B4-BE49-F238E27FC236}">
                <a16:creationId xmlns:a16="http://schemas.microsoft.com/office/drawing/2014/main" id="{CBBB98E1-4640-43AD-BB6C-11FFAE22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4A899F44-C1DE-4FC8-AA74-3C0CF3A6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TÍNH LẠI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A7A68D0E-8FFE-46AC-BF05-E0EA45E6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Accuracy, Macro-P/R/F1 cho 11 nhãn.</a:t>
            </a:r>
          </a:p>
        </p:txBody>
      </p:sp>
      <p:sp>
        <p:nvSpPr>
          <p:cNvPr id="20" name="flow-node-3">
            <a:extLst xmlns:a="http://schemas.openxmlformats.org/drawingml/2006/main">
              <a:ext uri="{FF2B5EF4-FFF2-40B4-BE49-F238E27FC236}">
                <a16:creationId xmlns:a16="http://schemas.microsoft.com/office/drawing/2014/main" id="{D6D607B9-3475-41F0-8D41-C5FD9664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low-num-3">
            <a:extLst xmlns:a="http://schemas.openxmlformats.org/drawingml/2006/main">
              <a:ext uri="{FF2B5EF4-FFF2-40B4-BE49-F238E27FC236}">
                <a16:creationId xmlns:a16="http://schemas.microsoft.com/office/drawing/2014/main" id="{675031EE-2B60-4BC7-B621-4A4E1393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78AF04A5-BE93-4402-B212-75FB4EAB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GỘP 3 SEED</a:t>
            </a:r>
          </a:p>
        </p:txBody>
      </p:sp>
      <p:sp>
        <p:nvSpPr>
          <p:cNvPr id="23" name="flow-body-3">
            <a:extLst xmlns:a="http://schemas.openxmlformats.org/drawingml/2006/main">
              <a:ext uri="{FF2B5EF4-FFF2-40B4-BE49-F238E27FC236}">
                <a16:creationId xmlns:a16="http://schemas.microsoft.com/office/drawing/2014/main" id="{8F73A9D0-19E3-4398-8BC7-11F26BA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5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Mean, sample SD và paired bootstrap 2.000 mẫu.</a:t>
            </a:r>
          </a:p>
        </p:txBody>
      </p:sp>
      <p:sp>
        <p:nvSpPr>
          <p:cNvPr id="24" name="flow-node-4">
            <a:extLst xmlns:a="http://schemas.openxmlformats.org/drawingml/2006/main">
              <a:ext uri="{FF2B5EF4-FFF2-40B4-BE49-F238E27FC236}">
                <a16:creationId xmlns:a16="http://schemas.microsoft.com/office/drawing/2014/main" id="{03774E36-FED8-42F1-A131-8EE4857C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low-num-4">
            <a:extLst xmlns:a="http://schemas.openxmlformats.org/drawingml/2006/main">
              <a:ext uri="{FF2B5EF4-FFF2-40B4-BE49-F238E27FC236}">
                <a16:creationId xmlns:a16="http://schemas.microsoft.com/office/drawing/2014/main" id="{E219C0E6-8470-42D2-87C3-2DF72FC8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F3C4AE49-A0C5-4269-88D8-47A60EFE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ĐỊNH HƯỚNG</a:t>
            </a:r>
          </a:p>
        </p:txBody>
      </p:sp>
      <p:sp>
        <p:nvSpPr>
          <p:cNvPr id="27" name="flow-body-4">
            <a:extLst xmlns:a="http://schemas.openxmlformats.org/drawingml/2006/main">
              <a:ext uri="{FF2B5EF4-FFF2-40B4-BE49-F238E27FC236}">
                <a16:creationId xmlns:a16="http://schemas.microsoft.com/office/drawing/2014/main" id="{49176CD5-1EFF-4267-B888-4F99A2C1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Chốt protocol để train lại classifier 11 đầu ra.</a:t>
            </a:r>
          </a:p>
        </p:txBody>
      </p:sp>
      <p:sp>
        <p:nvSpPr>
          <p:cNvPr id="28" name="protocol-config">
            <a:extLst xmlns:a="http://schemas.openxmlformats.org/drawingml/2006/main">
              <a:ext uri="{FF2B5EF4-FFF2-40B4-BE49-F238E27FC236}">
                <a16:creationId xmlns:a16="http://schemas.microsoft.com/office/drawing/2014/main" id="{704DADBD-8717-44B3-9670-A4C2C098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339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Nguồn: 18 file test_predictions.csv của campaign V2 (6 mô hình × 3 seed).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Không sửa checkpoint, run manifest, history hoặc file dự đoán gốc.</a:t>
            </a:r>
          </a:p>
        </p:txBody>
      </p:sp>
      <p:sp>
        <p:nvSpPr>
          <p:cNvPr id="29" name="protocol-rule">
            <a:extLst xmlns:a="http://schemas.openxmlformats.org/drawingml/2006/main">
              <a:ext uri="{FF2B5EF4-FFF2-40B4-BE49-F238E27FC236}">
                <a16:creationId xmlns:a16="http://schemas.microsoft.com/office/drawing/2014/main" id="{8E156611-7A19-42D2-AA64-9D43A123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72125"/>
            <a:ext cx="762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rotocol-lock">
            <a:extLst xmlns:a="http://schemas.openxmlformats.org/drawingml/2006/main">
              <a:ext uri="{FF2B5EF4-FFF2-40B4-BE49-F238E27FC236}">
                <a16:creationId xmlns:a16="http://schemas.microsoft.com/office/drawing/2014/main" id="{69B59003-1EEC-4F08-846A-B7DEC729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721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Kết quả dưới đây là sensitivity analysis, không phải test của mô hình 11 đầu ra.</a:t>
            </a:r>
          </a:p>
        </p:txBody>
      </p:sp>
    </p:spTree>
    <p:extLst>
      <p:ext uri="{BB962C8B-B14F-4D97-AF65-F5344CB8AC3E}">
        <p14:creationId xmlns:p14="http://schemas.microsoft.com/office/powerpoint/2010/main" val="11386662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Sáu backbone giữ nguyên; đầu 11 lớp mới chỉ là dự kiến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*Số tham số dự kiến = backbone hiện tại + classifier 11 đầu ra; chưa có checkpoint 11 lớp.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Thứ tự mô hình và pretrained recipe giữ nguyên để campaign mới so sánh công bằng.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857750"/>
                <a:gridCol w="2952750"/>
              </a:tblGrid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Cấu trúc chính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Tham số đầu 11 lớp*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MBConv + SE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4,022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Inverted residual + SE + h-swish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4,216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Residual basic blocks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11,182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 connectivity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6,965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Inverted residual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2,238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Channel split + shuffle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1,265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 và MobileNetV3-Large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mạng hướng mobile nhưng V3-Large lớn hơn và có SE/hard-swish.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Inverted residual: mở rộng → depthwise → chiếu tuyến tính; đầu 11 lớp dự kiến 2,238 triệu tham số.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MobileNetV3-Large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Inverted residual kết hợp SE và hard-swish; đầu 11 lớp dự kiến 4,216 triệu tham số.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Vai trò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V2 là baseline nhẹ; V3-Large là ứng viên mobile chính. Chưa benchmark latency/pin trên cùng điện thoại.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Chất lượng chuyển tiếp V3 cao hơn V2, nhưng deployment vẫn phải đo trên thiết bị thật.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 và DenseNet-121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baseline cổ điển đối chiếu shortcut cộng và kết nối đặc trưng dày.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Residual shortcut hỗ trợ dòng gradient; đầu 11 lớp dự kiến 11,182 triệu tham số, lớn nhất nhóm.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DenseNet-121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Nối đặc trưng từ nhiều lớp trước; đầu 11 lớp dự kiến 6,965 triệu tham số.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Vai trò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Kiểm tra liệu backbone nhiều tham số hoặc tái sử dụng đặc trưng có vượt các mạng mobile hay không.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Trong phân tích chuyển tiếp, quy mô tham số không quyết định thứ hạng Macro-F1.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 và ShuffleNet V2 1.0×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cực của bài toán chất lượng–độ gọn.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MBConv + SE; đầu 11 lớp dự kiến 4,022 triệu tham số và hiện dẫn đầu Macro-F1 chuyển tiếp.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V2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Channel split và channel shuffle; đầu 11 lớp dự kiến 1,265 triệu tham số, nhỏ nhất nhóm.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Câu hỏi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Mô hình nhỏ nhất có giữ được chất lượng đủ dùng không? Kết quả hiện tại cho thấy khoảng cách còn lớn.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Mạng gọn chỉ có ý nghĩa triển khai khi chất lượng, latency, RAM và năng lượng đều được đo.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Môi trường và bằng chứng tái lập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Tên GPU không được dùng làm biến giải thích kết quả trong bản 11 lớp.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Campaign 11 lớp sau này phải ghi tự động GPU, driver, CUDA, VRAM và thời gian từng run.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20000"/>
              </a:tblGrid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Hạng mục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Thông tin có bằng chứng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Framework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Python 3.11.9 • PyTorch 2.2.1+cu121 • TorchVision 0.17.1+cu121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Nền tảng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Windows • CUDA; run manifest không lưu tên model GPU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Seed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42, 123, 2026; khóa Python / NumPy / Torch / CUDA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Chế độ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Deterministic algorithms; tắt cuDNN benchmark và TF32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Dữ liệu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Split/manifest khóa SHA-256; cùng danh sách ảnh cho mọi run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Lưu ý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Không đổi tên GPU thành phần cứng không được log trong run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Tiền xử lý phải giữ nguyên khi train lại 11 lớp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Thay số đầu ra, không đổi pipeline để bảo đảm phép so sánh còn cùng điều kiện.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Chuẩn hóa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RGB → resize 224×224 bilinear, antialias → tensor [0,1] → ImageNet mean/std.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Lật ngang, xoay, dịch, scale và color jitter theo recipe V2; class weights chỉ tính từ train.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Val / test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Chỉ resize và chuẩn hóa; không TTA, không augmentation ngẫu nhiên và không shuffle test.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Nếu đổi augmentation hoặc resolution, phải coi là campaign khác và không trộn với bảng hiện tại.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Protocol train 11 lớp đề xuất: giữ nguyên ngân sách V2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Chọn best checkpoint theo validation Macro-F1; test chỉ mở sau khi đủ 18 run.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Tính lại class weight trên 11 lớp train; khóa manifest mới và SHA-256 trước khi chạy.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905250"/>
                <a:gridCol w="3905250"/>
              </a:tblGrid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Thiết lập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Head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Fine-tune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Số đầu ra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Epoch tối đa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Optimizer / LR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Adam / 10⁻³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Adam / 10⁻⁵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Batch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Loss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Weighted cross-entropy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Weighted cross-entropy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Điều khiển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Early stop 5; Reduce LR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Early stop 5; Reduce LR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Khung tiêu chí so sánh sáu mô hình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Quy tắc đọc: xếp hạng bằng Macro-F1 mean. Nếu điểm gần nhau, đọc thêm SD và bootstrap.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Không chọn mô hình triển khai chỉ từ Accuracy hoặc số tham số.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219200"/>
          <a:ext xmlns:a="http://schemas.openxmlformats.org/drawingml/2006/main" cx="10953750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000375"/>
                <a:gridCol w="5238750"/>
              </a:tblGrid>
              <a:tr h="564356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Thước đo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Cách sử dụng trong kết luận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64356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Xếp hạng chất lượng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Macro-F1 mean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Tiêu chí chính. Mỗi lớp có trọng số ngang nhau dù số ảnh khác nhau.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64356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Kiểm tra độ đúng chung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Accuracy mean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Chỉ số bổ sung. Không dùng riêng vì các lớp lớn có thể chi phối kết quả.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64356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Giải thích kiểu sai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Macro-Precision và Macro-Recall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Precision phản ánh dự đoán nhầm vào lớp. Recall phản ánh ảnh thật bị bỏ sót.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64356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Độ ổn định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Sample SD qua ba seed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SD nhỏ cho thấy metric ít dao động hơn khi huấn luyện lại.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64356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Chất lượng từng lớp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F1 lớp kèm support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Xác định lớp yếu và kiểm tra điểm tổng thể có che khuất lớp khó hay không.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64356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Độ chắc chắn của chênh lệch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Paired bootstrap 95% CI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So sánh chênh lệch Macro-F1 trên cùng ảnh. CI chứa 0 nghĩa là chưa tách biệt rõ.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64356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Khả năng triển khai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Tham số, sau đó latency, RAM và năng lượng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Tham số chỉ phản ánh quy mô. Quyết định mobile cần phép đo trên cùng thiết bị.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-5">
            <a:extLst xmlns:a="http://schemas.openxmlformats.org/drawingml/2006/main">
              <a:ext uri="{FF2B5EF4-FFF2-40B4-BE49-F238E27FC236}">
                <a16:creationId xmlns:a16="http://schemas.microsoft.com/office/drawing/2014/main" id="{826D2D10-15D5-452D-B731-5EBF6E7A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Đánh giá 11 lớp sau khi train lại</a:t>
            </a:r>
          </a:p>
        </p:txBody>
      </p:sp>
      <p:sp>
        <p:nvSpPr>
          <p:cNvPr id="2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095EAF37-935E-4FB6-9C76-4FA2BAF9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524D11A2-9F59-4EE5-BBD3-E439F06C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flow-line-0">
            <a:extLst xmlns:a="http://schemas.openxmlformats.org/drawingml/2006/main">
              <a:ext uri="{FF2B5EF4-FFF2-40B4-BE49-F238E27FC236}">
                <a16:creationId xmlns:a16="http://schemas.microsoft.com/office/drawing/2014/main" id="{197F315F-B670-4E8E-985B-B7D695D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line-1">
            <a:extLst xmlns:a="http://schemas.openxmlformats.org/drawingml/2006/main">
              <a:ext uri="{FF2B5EF4-FFF2-40B4-BE49-F238E27FC236}">
                <a16:creationId xmlns:a16="http://schemas.microsoft.com/office/drawing/2014/main" id="{9955E7A9-4ABE-4C71-8EF7-7CFFC467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line-2">
            <a:extLst xmlns:a="http://schemas.openxmlformats.org/drawingml/2006/main">
              <a:ext uri="{FF2B5EF4-FFF2-40B4-BE49-F238E27FC236}">
                <a16:creationId xmlns:a16="http://schemas.microsoft.com/office/drawing/2014/main" id="{850E141A-735C-4773-9423-A37A3F03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line-3">
            <a:extLst xmlns:a="http://schemas.openxmlformats.org/drawingml/2006/main">
              <a:ext uri="{FF2B5EF4-FFF2-40B4-BE49-F238E27FC236}">
                <a16:creationId xmlns:a16="http://schemas.microsoft.com/office/drawing/2014/main" id="{7E862339-4B30-45C6-9078-DFA0A718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node-0">
            <a:extLst xmlns:a="http://schemas.openxmlformats.org/drawingml/2006/main">
              <a:ext uri="{FF2B5EF4-FFF2-40B4-BE49-F238E27FC236}">
                <a16:creationId xmlns:a16="http://schemas.microsoft.com/office/drawing/2014/main" id="{E8451528-C4BB-434E-9812-B76DF08B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num-0">
            <a:extLst xmlns:a="http://schemas.openxmlformats.org/drawingml/2006/main">
              <a:ext uri="{FF2B5EF4-FFF2-40B4-BE49-F238E27FC236}">
                <a16:creationId xmlns:a16="http://schemas.microsoft.com/office/drawing/2014/main" id="{9C30586C-E89B-491C-B61A-70ED2077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6912F287-618A-4139-A66E-CC513133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KHÓA MANIFEST</a:t>
            </a:r>
          </a:p>
        </p:txBody>
      </p:sp>
      <p:sp>
        <p:nvSpPr>
          <p:cNvPr id="11" name="flow-body-0">
            <a:extLst xmlns:a="http://schemas.openxmlformats.org/drawingml/2006/main">
              <a:ext uri="{FF2B5EF4-FFF2-40B4-BE49-F238E27FC236}">
                <a16:creationId xmlns:a16="http://schemas.microsoft.com/office/drawing/2014/main" id="{C7A906C4-ABB5-434D-B9BD-154A4B67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11 lớp; SHA-256; cố định split.</a:t>
            </a:r>
          </a:p>
        </p:txBody>
      </p:sp>
      <p:sp>
        <p:nvSpPr>
          <p:cNvPr id="12" name="flow-node-1">
            <a:extLst xmlns:a="http://schemas.openxmlformats.org/drawingml/2006/main">
              <a:ext uri="{FF2B5EF4-FFF2-40B4-BE49-F238E27FC236}">
                <a16:creationId xmlns:a16="http://schemas.microsoft.com/office/drawing/2014/main" id="{E2092F7E-8E8E-4FE5-AD6D-5B8F853C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ow-num-1">
            <a:extLst xmlns:a="http://schemas.openxmlformats.org/drawingml/2006/main">
              <a:ext uri="{FF2B5EF4-FFF2-40B4-BE49-F238E27FC236}">
                <a16:creationId xmlns:a16="http://schemas.microsoft.com/office/drawing/2014/main" id="{43D33EC6-CD2E-4EDE-9442-B91E6805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500E1CE1-7DE6-4DC5-863A-5B3DA66E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TRAIN 18 RUN</a:t>
            </a:r>
          </a:p>
        </p:txBody>
      </p:sp>
      <p:sp>
        <p:nvSpPr>
          <p:cNvPr id="15" name="flow-body-1">
            <a:extLst xmlns:a="http://schemas.openxmlformats.org/drawingml/2006/main">
              <a:ext uri="{FF2B5EF4-FFF2-40B4-BE49-F238E27FC236}">
                <a16:creationId xmlns:a16="http://schemas.microsoft.com/office/drawing/2014/main" id="{A5397EFE-07CC-4C3C-B1B1-8A49EEBA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6 backbone × 3 seed; cùng recipe.</a:t>
            </a:r>
          </a:p>
        </p:txBody>
      </p:sp>
      <p:sp>
        <p:nvSpPr>
          <p:cNvPr id="16" name="flow-node-2">
            <a:extLst xmlns:a="http://schemas.openxmlformats.org/drawingml/2006/main">
              <a:ext uri="{FF2B5EF4-FFF2-40B4-BE49-F238E27FC236}">
                <a16:creationId xmlns:a16="http://schemas.microsoft.com/office/drawing/2014/main" id="{F2A7B1F3-D503-4BFE-A28E-DB9F1362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low-num-2">
            <a:extLst xmlns:a="http://schemas.openxmlformats.org/drawingml/2006/main">
              <a:ext uri="{FF2B5EF4-FFF2-40B4-BE49-F238E27FC236}">
                <a16:creationId xmlns:a16="http://schemas.microsoft.com/office/drawing/2014/main" id="{CBBB98E1-4640-43AD-BB6C-11FFAE22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4A899F44-C1DE-4FC8-AA74-3C0CF3A6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CHỌN BẰNG VAL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A7A68D0E-8FFE-46AC-BF05-E0EA45E6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Best validation Macro-F1, không nhìn test.</a:t>
            </a:r>
          </a:p>
        </p:txBody>
      </p:sp>
      <p:sp>
        <p:nvSpPr>
          <p:cNvPr id="20" name="flow-node-3">
            <a:extLst xmlns:a="http://schemas.openxmlformats.org/drawingml/2006/main">
              <a:ext uri="{FF2B5EF4-FFF2-40B4-BE49-F238E27FC236}">
                <a16:creationId xmlns:a16="http://schemas.microsoft.com/office/drawing/2014/main" id="{D6D607B9-3475-41F0-8D41-C5FD9664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low-num-3">
            <a:extLst xmlns:a="http://schemas.openxmlformats.org/drawingml/2006/main">
              <a:ext uri="{FF2B5EF4-FFF2-40B4-BE49-F238E27FC236}">
                <a16:creationId xmlns:a16="http://schemas.microsoft.com/office/drawing/2014/main" id="{675031EE-2B60-4BC7-B621-4A4E1393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78AF04A5-BE93-4402-B212-75FB4EAB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MỞ TEST 1 LẦN</a:t>
            </a:r>
          </a:p>
        </p:txBody>
      </p:sp>
      <p:sp>
        <p:nvSpPr>
          <p:cNvPr id="23" name="flow-body-3">
            <a:extLst xmlns:a="http://schemas.openxmlformats.org/drawingml/2006/main">
              <a:ext uri="{FF2B5EF4-FFF2-40B4-BE49-F238E27FC236}">
                <a16:creationId xmlns:a16="http://schemas.microsoft.com/office/drawing/2014/main" id="{8F73A9D0-19E3-4398-8BC7-11F26BA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Đánh giá từng checkpoint trên 9.376 ảnh.</a:t>
            </a:r>
          </a:p>
        </p:txBody>
      </p:sp>
      <p:sp>
        <p:nvSpPr>
          <p:cNvPr id="24" name="flow-node-4">
            <a:extLst xmlns:a="http://schemas.openxmlformats.org/drawingml/2006/main">
              <a:ext uri="{FF2B5EF4-FFF2-40B4-BE49-F238E27FC236}">
                <a16:creationId xmlns:a16="http://schemas.microsoft.com/office/drawing/2014/main" id="{03774E36-FED8-42F1-A131-8EE4857C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95500"/>
            <a:ext cx="1809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low-num-4">
            <a:extLst xmlns:a="http://schemas.openxmlformats.org/drawingml/2006/main">
              <a:ext uri="{FF2B5EF4-FFF2-40B4-BE49-F238E27FC236}">
                <a16:creationId xmlns:a16="http://schemas.microsoft.com/office/drawing/2014/main" id="{E219C0E6-8470-42D2-87C3-2DF72FC8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86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F3C4AE49-A0C5-4269-88D8-47A60EFE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BÁO CÁO</a:t>
            </a:r>
          </a:p>
        </p:txBody>
      </p:sp>
      <p:sp>
        <p:nvSpPr>
          <p:cNvPr id="27" name="flow-body-4">
            <a:extLst xmlns:a="http://schemas.openxmlformats.org/drawingml/2006/main">
              <a:ext uri="{FF2B5EF4-FFF2-40B4-BE49-F238E27FC236}">
                <a16:creationId xmlns:a16="http://schemas.microsoft.com/office/drawing/2014/main" id="{49176CD5-1EFF-4267-B888-4F99A2C1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9925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7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Mean ± SD, từng lớp, bootstrap và mobile benchmark.</a:t>
            </a:r>
          </a:p>
        </p:txBody>
      </p:sp>
      <p:sp>
        <p:nvSpPr>
          <p:cNvPr id="28" name="protocol-config">
            <a:extLst xmlns:a="http://schemas.openxmlformats.org/drawingml/2006/main">
              <a:ext uri="{FF2B5EF4-FFF2-40B4-BE49-F238E27FC236}">
                <a16:creationId xmlns:a16="http://schemas.microsoft.com/office/drawing/2014/main" id="{704DADBD-8717-44B3-9670-A4C2C098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339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Campaign mới phải tạo thư mục output riêng, không ghi đè runs/final_test_v2.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Các con số chuyển tiếp hiện tại chỉ dùng làm mốc kiểm tra hợp lý.</a:t>
            </a:r>
          </a:p>
        </p:txBody>
      </p:sp>
      <p:sp>
        <p:nvSpPr>
          <p:cNvPr id="29" name="protocol-rule">
            <a:extLst xmlns:a="http://schemas.openxmlformats.org/drawingml/2006/main">
              <a:ext uri="{FF2B5EF4-FFF2-40B4-BE49-F238E27FC236}">
                <a16:creationId xmlns:a16="http://schemas.microsoft.com/office/drawing/2014/main" id="{8E156611-7A19-42D2-AA64-9D43A123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72125"/>
            <a:ext cx="762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rotocol-lock">
            <a:extLst xmlns:a="http://schemas.openxmlformats.org/drawingml/2006/main">
              <a:ext uri="{FF2B5EF4-FFF2-40B4-BE49-F238E27FC236}">
                <a16:creationId xmlns:a16="http://schemas.microsoft.com/office/drawing/2014/main" id="{69B59003-1EEC-4F08-846A-B7DEC729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721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Không chọn lớp, siêu tham số hoặc mô hình sau khi xem test mới.</a:t>
            </a:r>
          </a:p>
        </p:txBody>
      </p:sp>
    </p:spTree>
    <p:extLst>
      <p:ext uri="{BB962C8B-B14F-4D97-AF65-F5344CB8AC3E}">
        <p14:creationId xmlns:p14="http://schemas.microsoft.com/office/powerpoint/2010/main" val="11386662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Thước đo so sánh với C = 11 lớp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 = 9.376 trong phân tích chuyển tiếp. Macro-F1 không phải F1 tính từ Macro-P và Macro-R.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76750"/>
                <a:gridCol w="4000500"/>
              </a:tblGrid>
              <a:tr h="698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Chỉ số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Công thức / cách tính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698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Σ TPc / N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Chỉ số bổ sung; dễ bị lớp lớn chi phối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98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Precision_c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TPc / (TPc + FPc)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Độ đúng của dự đoán lớp c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Recall_c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TPc / (TPc + FNc)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Khả năng tìm đủ ảnh lớp c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98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F1_c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2PR / (P + R)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Cân bằng precision và recall lớp c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Macro-F1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(1/11) Σ F1_c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Tiêu chí xếp hạng chính; mỗi lớp trọng số bằng nhau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6">
            <a:extLst xmlns:a="http://schemas.openxmlformats.org/drawingml/2006/main">
              <a:ext uri="{FF2B5EF4-FFF2-40B4-BE49-F238E27FC236}">
                <a16:creationId xmlns:a16="http://schemas.microsoft.com/office/drawing/2014/main" id="{96E14A23-0A52-4EF1-9AD1-56051477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Độ bất định: SD qua seed và paired bootstrap</a:t>
            </a:r>
          </a:p>
        </p:txBody>
      </p:sp>
      <p:sp>
        <p:nvSpPr>
          <p:cNvPr id="2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303E3599-F1EE-4269-BEA2-219C0A51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6">
            <a:extLst xmlns:a="http://schemas.openxmlformats.org/drawingml/2006/main">
              <a:ext uri="{FF2B5EF4-FFF2-40B4-BE49-F238E27FC236}">
                <a16:creationId xmlns:a16="http://schemas.microsoft.com/office/drawing/2014/main" id="{C26CE9D2-F4A4-42BE-B121-C8E729A1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macro-formula">
            <a:extLst xmlns:a="http://schemas.openxmlformats.org/drawingml/2006/main">
              <a:ext uri="{FF2B5EF4-FFF2-40B4-BE49-F238E27FC236}">
                <a16:creationId xmlns:a16="http://schemas.microsoft.com/office/drawing/2014/main" id="{F3888F8C-0B11-4FF3-815C-C8ADAA9B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61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Mean ± sample SD: ba lần train</a:t>
            </a:r>
          </a:p>
        </p:txBody>
      </p:sp>
      <p:sp>
        <p:nvSpPr>
          <p:cNvPr id="5" name="macro-desc">
            <a:extLst xmlns:a="http://schemas.openxmlformats.org/drawingml/2006/main">
              <a:ext uri="{FF2B5EF4-FFF2-40B4-BE49-F238E27FC236}">
                <a16:creationId xmlns:a16="http://schemas.microsoft.com/office/drawing/2014/main" id="{6DAEDAC0-E61C-468A-9B78-908B6706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05075"/>
            <a:ext cx="5524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Mean mô tả mức trung tâm; SD mẫu mô tả dao động giữa seed 42/123/2026.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Ba seed vẫn ít, không gọi mean ± SD là khoảng tin cậy 95%.</a:t>
            </a:r>
          </a:p>
        </p:txBody>
      </p:sp>
      <p:sp>
        <p:nvSpPr>
          <p:cNvPr id="6" name="metric-separator">
            <a:extLst xmlns:a="http://schemas.openxmlformats.org/drawingml/2006/main">
              <a:ext uri="{FF2B5EF4-FFF2-40B4-BE49-F238E27FC236}">
                <a16:creationId xmlns:a16="http://schemas.microsoft.com/office/drawing/2014/main" id="{C4DDB1E3-1010-4318-8ABC-83051683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h-0">
            <a:extLst xmlns:a="http://schemas.openxmlformats.org/drawingml/2006/main">
              <a:ext uri="{FF2B5EF4-FFF2-40B4-BE49-F238E27FC236}">
                <a16:creationId xmlns:a16="http://schemas.microsoft.com/office/drawing/2014/main" id="{5F451F6D-B4E2-48FC-87C2-52DB0D92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240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Lấy mẫu cặp</a:t>
            </a:r>
          </a:p>
        </p:txBody>
      </p:sp>
      <p:sp>
        <p:nvSpPr>
          <p:cNvPr id="8" name="metric-b-0">
            <a:extLst xmlns:a="http://schemas.openxmlformats.org/drawingml/2006/main">
              <a:ext uri="{FF2B5EF4-FFF2-40B4-BE49-F238E27FC236}">
                <a16:creationId xmlns:a16="http://schemas.microsoft.com/office/drawing/2014/main" id="{3D6E8497-CCFF-4576-AC23-9DE00F48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2428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mô hình dùng cùng ảnh resample.</a:t>
            </a:r>
          </a:p>
        </p:txBody>
      </p:sp>
      <p:sp>
        <p:nvSpPr>
          <p:cNvPr id="9" name="metric-h-1">
            <a:extLst xmlns:a="http://schemas.openxmlformats.org/drawingml/2006/main">
              <a:ext uri="{FF2B5EF4-FFF2-40B4-BE49-F238E27FC236}">
                <a16:creationId xmlns:a16="http://schemas.microsoft.com/office/drawing/2014/main" id="{93DCD0E7-CC31-4DCC-A325-1D3DDB94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76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2.000 lần</a:t>
            </a:r>
          </a:p>
        </p:txBody>
      </p:sp>
      <p:sp>
        <p:nvSpPr>
          <p:cNvPr id="10" name="metric-b-1">
            <a:extLst xmlns:a="http://schemas.openxmlformats.org/drawingml/2006/main">
              <a:ext uri="{FF2B5EF4-FFF2-40B4-BE49-F238E27FC236}">
                <a16:creationId xmlns:a16="http://schemas.microsoft.com/office/drawing/2014/main" id="{2AE959E7-2A09-46E7-949B-91DEDFC3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428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Tính Δ Macro-F1 từng lần.</a:t>
            </a:r>
          </a:p>
        </p:txBody>
      </p:sp>
      <p:sp>
        <p:nvSpPr>
          <p:cNvPr id="11" name="metric-h-2">
            <a:extLst xmlns:a="http://schemas.openxmlformats.org/drawingml/2006/main">
              <a:ext uri="{FF2B5EF4-FFF2-40B4-BE49-F238E27FC236}">
                <a16:creationId xmlns:a16="http://schemas.microsoft.com/office/drawing/2014/main" id="{71A16988-B3D3-47D2-9D48-8D21C7BA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290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CI 95%</a:t>
            </a:r>
          </a:p>
        </p:txBody>
      </p:sp>
      <p:sp>
        <p:nvSpPr>
          <p:cNvPr id="12" name="metric-b-2">
            <a:extLst xmlns:a="http://schemas.openxmlformats.org/drawingml/2006/main">
              <a:ext uri="{FF2B5EF4-FFF2-40B4-BE49-F238E27FC236}">
                <a16:creationId xmlns:a16="http://schemas.microsoft.com/office/drawing/2014/main" id="{660E03A3-2B0F-49B4-A81D-3EE4AC86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29000"/>
            <a:ext cx="2428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Percentile 2,5%–97,5%.</a:t>
            </a:r>
          </a:p>
        </p:txBody>
      </p:sp>
      <p:sp>
        <p:nvSpPr>
          <p:cNvPr id="13" name="metric-h-3">
            <a:extLst xmlns:a="http://schemas.openxmlformats.org/drawingml/2006/main">
              <a:ext uri="{FF2B5EF4-FFF2-40B4-BE49-F238E27FC236}">
                <a16:creationId xmlns:a16="http://schemas.microsoft.com/office/drawing/2014/main" id="{33563656-2291-485E-9CBB-E5954816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81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Giới hạn</a:t>
            </a:r>
          </a:p>
        </p:txBody>
      </p:sp>
      <p:sp>
        <p:nvSpPr>
          <p:cNvPr id="14" name="metric-b-3">
            <a:extLst xmlns:a="http://schemas.openxmlformats.org/drawingml/2006/main">
              <a:ext uri="{FF2B5EF4-FFF2-40B4-BE49-F238E27FC236}">
                <a16:creationId xmlns:a16="http://schemas.microsoft.com/office/drawing/2014/main" id="{DE82B339-4412-48CD-B78E-B82A3D92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2428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Checkpoint cố định; chưa gộp biến thiên train.</a:t>
            </a:r>
          </a:p>
        </p:txBody>
      </p:sp>
      <p:sp>
        <p:nvSpPr>
          <p:cNvPr id="15" name="metric-warning">
            <a:extLst xmlns:a="http://schemas.openxmlformats.org/drawingml/2006/main">
              <a:ext uri="{FF2B5EF4-FFF2-40B4-BE49-F238E27FC236}">
                <a16:creationId xmlns:a16="http://schemas.microsoft.com/office/drawing/2014/main" id="{3AFEDA18-8AEE-4858-80D9-7FCDA083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810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warning-text">
            <a:extLst xmlns:a="http://schemas.openxmlformats.org/drawingml/2006/main">
              <a:ext uri="{FF2B5EF4-FFF2-40B4-BE49-F238E27FC236}">
                <a16:creationId xmlns:a16="http://schemas.microsoft.com/office/drawing/2014/main" id="{E60BA53E-7D9B-44C5-80BA-10B47B02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CI chứa 0: chưa có bằng chứng tách biệt rõ trong phép so sánh và seed đó.</a:t>
            </a:r>
          </a:p>
        </p:txBody>
      </p:sp>
    </p:spTree>
    <p:extLst>
      <p:ext uri="{BB962C8B-B14F-4D97-AF65-F5344CB8AC3E}">
        <p14:creationId xmlns:p14="http://schemas.microsoft.com/office/powerpoint/2010/main" val="6631504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7">
            <a:extLst xmlns:a="http://schemas.openxmlformats.org/drawingml/2006/main">
              <a:ext uri="{FF2B5EF4-FFF2-40B4-BE49-F238E27FC236}">
                <a16:creationId xmlns:a16="http://schemas.microsoft.com/office/drawing/2014/main" id="{2F68A621-E262-45DC-996E-1F9213AE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 dẫn đầu Macro-F1 chuyển tiếp</a:t>
            </a:r>
          </a:p>
        </p:txBody>
      </p:sp>
      <p:sp>
        <p:nvSpPr>
          <p:cNvPr id="2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1D371C98-60FA-435C-8EE4-4383C67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7">
            <a:extLst xmlns:a="http://schemas.openxmlformats.org/drawingml/2006/main">
              <a:ext uri="{FF2B5EF4-FFF2-40B4-BE49-F238E27FC236}">
                <a16:creationId xmlns:a16="http://schemas.microsoft.com/office/drawing/2014/main" id="{9E4222E4-E1F1-498F-B414-ADC2D088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winner-panel">
            <a:extLst xmlns:a="http://schemas.openxmlformats.org/drawingml/2006/main">
              <a:ext uri="{FF2B5EF4-FFF2-40B4-BE49-F238E27FC236}">
                <a16:creationId xmlns:a16="http://schemas.microsoft.com/office/drawing/2014/main" id="{91AFFC93-0C8D-4DAD-B964-3853599B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304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inner-label">
            <a:extLst xmlns:a="http://schemas.openxmlformats.org/drawingml/2006/main">
              <a:ext uri="{FF2B5EF4-FFF2-40B4-BE49-F238E27FC236}">
                <a16:creationId xmlns:a16="http://schemas.microsoft.com/office/drawing/2014/main" id="{C4730370-8013-4352-9FF4-FD256F3D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97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MEAN ± SD</a:t>
            </a:r>
          </a:p>
        </p:txBody>
      </p:sp>
      <p:sp>
        <p:nvSpPr>
          <p:cNvPr id="7" name="winner-value">
            <a:extLst xmlns:a="http://schemas.openxmlformats.org/drawingml/2006/main">
              <a:ext uri="{FF2B5EF4-FFF2-40B4-BE49-F238E27FC236}">
                <a16:creationId xmlns:a16="http://schemas.microsoft.com/office/drawing/2014/main" id="{86DCCA80-BD1C-490A-9A5C-FBEB3906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81225"/>
            <a:ext cx="252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97,76%</a:t>
            </a:r>
          </a:p>
        </p:txBody>
      </p:sp>
      <p:sp>
        <p:nvSpPr>
          <p:cNvPr id="8" name="winner-name">
            <a:extLst xmlns:a="http://schemas.openxmlformats.org/drawingml/2006/main">
              <a:ext uri="{FF2B5EF4-FFF2-40B4-BE49-F238E27FC236}">
                <a16:creationId xmlns:a16="http://schemas.microsoft.com/office/drawing/2014/main" id="{3E0C195A-9CCB-4ED7-9E05-BCAD0475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813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F855A"/>
                </a:solidFill>
                <a:latin typeface="Arial"/>
                <a:ea typeface="Arial"/>
                <a:cs typeface="Arial"/>
              </a:rPr>
              <a:t>SD = 0,064 điểm %</a:t>
            </a:r>
          </a:p>
        </p:txBody>
      </p:sp>
      <p:sp>
        <p:nvSpPr>
          <p:cNvPr id="9" name="overall-gap">
            <a:extLst xmlns:a="http://schemas.openxmlformats.org/drawingml/2006/main">
              <a:ext uri="{FF2B5EF4-FFF2-40B4-BE49-F238E27FC236}">
                <a16:creationId xmlns:a16="http://schemas.microsoft.com/office/drawing/2014/main" id="{7A6F7D83-9ED0-4F41-BB30-F98E7E04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314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V3-Large: 97,32%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Chênh lệch B0 − V3: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+0,441 điểm %</a:t>
            </a:r>
          </a:p>
        </p:txBody>
      </p:sp>
      <p:sp>
        <p:nvSpPr>
          <p:cNvPr id="10" name="axis-note">
            <a:extLst xmlns:a="http://schemas.openxmlformats.org/drawingml/2006/main">
              <a:ext uri="{FF2B5EF4-FFF2-40B4-BE49-F238E27FC236}">
                <a16:creationId xmlns:a16="http://schemas.microsoft.com/office/drawing/2014/main" id="{4BBBFF0D-168E-46A6-89D7-F92D0E21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387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Thanh bắt đầu từ 0%.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Đây là điểm test nội bộ, không phải độ chính xác thực địa.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E6F23-9457-496D-B2B5-7EC51512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2796B-433C-4ACC-B677-9D5E2A89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0953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2F855A"/>
            </a:solidFill>
          </a:ln>
        </p:spPr>
      </p:sp>
      <p:graphicFrame>
        <p:nvGraphicFramePr>
          <p:cNvPr id="60" name=""/>
          <p:cNvGraphicFramePr/>
          <p:nvPr/>
        </p:nvGraphicFramePr>
        <p:xfrm>
          <a:off xmlns:a="http://schemas.openxmlformats.org/drawingml/2006/main" x="666750" y="1362075"/>
          <a:ext xmlns:a="http://schemas.openxmlformats.org/drawingml/2006/main" cx="10572750" cy="38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Lưu ý: checkpoint 19 đầu ra; đây chưa phải kết quả của classifier 11 đầu ra.</a:t>
                      </a:r>
                    </a:p>
                  </a:txBody>
                  <a:tcPr marL="91440" marR="91440" marT="45720" marB="45720" anchor="ctr">
                    <a:solidFill>
                      <a:srgbClr val="EAF6F0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13F9F-CCC0-4D09-8CBF-C30234F4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92B54-494F-47FB-8E62-0A72432C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88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66FCDE-D578-4C80-84DF-86C6E6C5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5D4B99-85BC-45A6-8AA4-C2F6E67D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4BCAC1-DFF3-461B-BC24-3844E6EE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25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B12809-A556-4542-920B-49A06DD9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6CB67B-FA2D-4E0F-AACC-787C416D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F8B4CD-5EB7-4F85-82A8-12CD6C26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7A78EC-AA79-4067-AFC6-E1E7360C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5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D68A03-3366-4AC6-BD80-4D2C9C8C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5FFEEA-D722-4392-8E4B-2C8CE2FB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77C28A-33B7-4467-B2CE-E5792604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1166C8-92CF-4931-A174-9661BBE0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478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70B279-311B-4BFA-AE12-76203151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67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160C4D-2AC2-465D-A99E-6CD19F6D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BE0F29-908A-44B6-A182-B5C7FEB1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5553151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D81A77-FD2A-4451-8C76-A222FA3F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101" y="2095500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97,994%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CF756B-D799-4FA8-A838-B05F8341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5563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MobileNetV3-Large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5C76B4-5D27-4000-9F91-47AC8907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52713"/>
            <a:ext cx="5325904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7819E8-9598-491E-9256-BE2C9AA3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5854" y="2595563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97,585%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888693-FEAC-40DB-A07D-B5E8A8EE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C2684C-8675-4DD0-AE5B-7877CE00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52775"/>
            <a:ext cx="5130380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7D86CD-AF45-4B36-9724-87371D15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330" y="3095625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97,234%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FB96F6-D9F4-49FA-98C0-7A74C9B5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5688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DenseNet-121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DBCBD5-0E28-447F-80F9-BF56809E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52838"/>
            <a:ext cx="5090948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505DD2-33F0-4B89-9651-EB7CC063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898" y="3595688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97,163%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4AD8A0-906B-453B-A7F2-BA9632AF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91B567-4453-49DF-A84A-63D8324D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52900"/>
            <a:ext cx="4571327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5F0962-4A55-4E84-9B37-BB06D752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277" y="4095750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96,227%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F23620-7F69-4124-9D4D-C3D2090F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5813"/>
            <a:ext cx="2343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V2 1.0×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F24076-04B6-4FB3-8631-F547E0BC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52963"/>
            <a:ext cx="1957958" cy="328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23A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DAAB1B-09F8-44BE-8F42-9F8BABBE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908" y="4595813"/>
            <a:ext cx="8191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91,524%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34F634-35E2-4362-9FDF-26603753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959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mean qua 3 seed (%)</a:t>
            </a:r>
          </a:p>
        </p:txBody>
      </p:sp>
    </p:spTree>
    <p:extLst>
      <p:ext uri="{BB962C8B-B14F-4D97-AF65-F5344CB8AC3E}">
        <p14:creationId xmlns:p14="http://schemas.microsoft.com/office/powerpoint/2010/main" val="8157861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2">
            <a:extLst xmlns:a="http://schemas.openxmlformats.org/drawingml/2006/main">
              <a:ext uri="{FF2B5EF4-FFF2-40B4-BE49-F238E27FC236}">
                <a16:creationId xmlns:a16="http://schemas.microsoft.com/office/drawing/2014/main" id="{43B0008C-E08E-4F23-AB42-B7E9CA3D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Kết quả tổng thể trên 9.376 ảnh của 11 lớp</a:t>
            </a:r>
          </a:p>
        </p:txBody>
      </p:sp>
      <p:sp>
        <p:nvSpPr>
          <p:cNvPr id="2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AF43F4CA-8D37-478C-91B1-3467BDEA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12">
            <a:extLst xmlns:a="http://schemas.openxmlformats.org/drawingml/2006/main">
              <a:ext uri="{FF2B5EF4-FFF2-40B4-BE49-F238E27FC236}">
                <a16:creationId xmlns:a16="http://schemas.microsoft.com/office/drawing/2014/main" id="{1151569E-AD51-4E80-A10A-5873A758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resource-insight">
            <a:extLst xmlns:a="http://schemas.openxmlformats.org/drawingml/2006/main">
              <a:ext uri="{FF2B5EF4-FFF2-40B4-BE49-F238E27FC236}">
                <a16:creationId xmlns:a16="http://schemas.microsoft.com/office/drawing/2014/main" id="{0F6D3110-6DE2-459E-8881-F25FF0ED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B0 đứng đầu mean Macro-F1 97,994%; V3-Large đứng thứ hai 97,585%.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Thứ hạng sáu mô hình không đổi so với phân tích 19 lớp.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019300"/>
                <a:gridCol w="2019300"/>
                <a:gridCol w="2019300"/>
                <a:gridCol w="2038350"/>
              </a:tblGrid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 ± SD (%)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Macro-R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99,335 ± 0,048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98,288 ± 0,195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97,717 ± 0,146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97,994 ± 0,159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99,189 ± 0,046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97,985 ± 0,079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97,219 ± 0,110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97,585 ± 0,070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98,941 ± 0,386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97,576 ± 0,837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96,917 ± 1,031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97,234 ± 0,941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98,948 ± 0,137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97,630 ± 0,320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96,711 ± 0,349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97,163 ± 0,316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98,617 ± 0,374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96,790 ± 0,828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95,719 ± 1,110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96,227 ± 0,981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98714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96,551 ± 0,838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93,074 ± 1,401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90,312 ± 2,041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91,524 ± 1,771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4589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8">
            <a:extLst xmlns:a="http://schemas.openxmlformats.org/drawingml/2006/main">
              <a:ext uri="{FF2B5EF4-FFF2-40B4-BE49-F238E27FC236}">
                <a16:creationId xmlns:a16="http://schemas.microsoft.com/office/drawing/2014/main" id="{1C597C3A-AA3D-48C1-88A3-B3FA6D03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Độ ổn định Macro-F1 qua ba seed</a:t>
            </a:r>
          </a:p>
        </p:txBody>
      </p:sp>
      <p:sp>
        <p:nvSpPr>
          <p:cNvPr id="2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3735F3D6-BCD0-4EBC-97DE-D3418EED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8">
            <a:extLst xmlns:a="http://schemas.openxmlformats.org/drawingml/2006/main">
              <a:ext uri="{FF2B5EF4-FFF2-40B4-BE49-F238E27FC236}">
                <a16:creationId xmlns:a16="http://schemas.microsoft.com/office/drawing/2014/main" id="{6AC4793F-CB2D-4903-B7DD-D4C4FC75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stable-head">
            <a:extLst xmlns:a="http://schemas.openxmlformats.org/drawingml/2006/main">
              <a:ext uri="{FF2B5EF4-FFF2-40B4-BE49-F238E27FC236}">
                <a16:creationId xmlns:a16="http://schemas.microsoft.com/office/drawing/2014/main" id="{8A349C82-EDE3-4D9E-92A7-55717BCF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668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SD nhỏ nhất</a:t>
            </a:r>
          </a:p>
        </p:txBody>
      </p:sp>
      <p:sp>
        <p:nvSpPr>
          <p:cNvPr id="6" name="stable-value">
            <a:extLst xmlns:a="http://schemas.openxmlformats.org/drawingml/2006/main">
              <a:ext uri="{FF2B5EF4-FFF2-40B4-BE49-F238E27FC236}">
                <a16:creationId xmlns:a16="http://schemas.microsoft.com/office/drawing/2014/main" id="{4F9F4B29-FBB4-4D1C-9799-AE8257D3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431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0,064 điểm %</a:t>
            </a:r>
          </a:p>
        </p:txBody>
      </p:sp>
      <p:sp>
        <p:nvSpPr>
          <p:cNvPr id="7" name="stable-body">
            <a:extLst xmlns:a="http://schemas.openxmlformats.org/drawingml/2006/main">
              <a:ext uri="{FF2B5EF4-FFF2-40B4-BE49-F238E27FC236}">
                <a16:creationId xmlns:a16="http://schemas.microsoft.com/office/drawing/2014/main" id="{42F607AF-21D1-4BE5-89A8-EFEED79C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527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EfficientNet-B0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Cao nhất cả 3 seed.</a:t>
            </a:r>
          </a:p>
        </p:txBody>
      </p:sp>
      <p:sp>
        <p:nvSpPr>
          <p:cNvPr id="8" name="unstable-head">
            <a:extLst xmlns:a="http://schemas.openxmlformats.org/drawingml/2006/main">
              <a:ext uri="{FF2B5EF4-FFF2-40B4-BE49-F238E27FC236}">
                <a16:creationId xmlns:a16="http://schemas.microsoft.com/office/drawing/2014/main" id="{163DA5F6-DDF9-4CCD-990C-1208751C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05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64B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64B46"/>
                </a:solidFill>
                <a:latin typeface="Arial"/>
                <a:ea typeface="Arial"/>
                <a:cs typeface="Arial"/>
              </a:rPr>
              <a:t>SD lớn nhất</a:t>
            </a:r>
          </a:p>
        </p:txBody>
      </p:sp>
      <p:sp>
        <p:nvSpPr>
          <p:cNvPr id="9" name="unstable-value">
            <a:extLst xmlns:a="http://schemas.openxmlformats.org/drawingml/2006/main">
              <a:ext uri="{FF2B5EF4-FFF2-40B4-BE49-F238E27FC236}">
                <a16:creationId xmlns:a16="http://schemas.microsoft.com/office/drawing/2014/main" id="{4FFB0D62-D52A-4E84-9C11-26592623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81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1,691 điểm %</a:t>
            </a:r>
          </a:p>
        </p:txBody>
      </p:sp>
      <p:sp>
        <p:nvSpPr>
          <p:cNvPr id="10" name="unstable-body">
            <a:extLst xmlns:a="http://schemas.openxmlformats.org/drawingml/2006/main">
              <a:ext uri="{FF2B5EF4-FFF2-40B4-BE49-F238E27FC236}">
                <a16:creationId xmlns:a16="http://schemas.microsoft.com/office/drawing/2014/main" id="{377148ED-4FEE-4FB8-8064-9E1324B0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911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ShuffleNet V2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Dao động nhiều hơn.</a:t>
            </a:r>
          </a:p>
        </p:txBody>
      </p:sp>
      <p:graphicFrame>
        <p:nvGraphicFramePr>
          <p:cNvPr id="88" name=""/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79057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1571625"/>
                <a:gridCol w="1571625"/>
                <a:gridCol w="1571625"/>
              </a:tblGrid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 (%)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42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123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2026</a:t>
                      </a:r>
                    </a:p>
                  </a:txBody>
                  <a:tcPr marL="114300" marR="114300" marT="85725" marB="85725" anchor="ctr">
                    <a:solidFill>
                      <a:srgbClr val="0B1720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97,78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97,69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97,82</a:t>
                      </a:r>
                    </a:p>
                  </a:txBody>
                  <a:tcPr marL="114300" marR="114300" marT="85725" marB="85725" anchor="ctr">
                    <a:solidFill>
                      <a:srgbClr val="EAF6F0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97,55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97,36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97,06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97,59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97,21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95,84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96,36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96,62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96,99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96,83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95,13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96,60</a:t>
                      </a:r>
                    </a:p>
                  </a:txBody>
                  <a:tcPr marL="114300" marR="114300" marT="85725" marB="85725" anchor="ctr">
                    <a:solidFill>
                      <a:srgbClr val="F5F8F9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92,70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90,90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89,32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47B08-105C-48DB-AAD7-B4AC1E68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49E389-2405-4CCD-BD4C-79135718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D8520-11F1-4CF2-B5CA-0B6F5846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005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88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7FA97-D0F7-40BD-833A-4A5F064B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72459-249B-4B7A-9AA0-6D142288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290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04836-C0AF-4218-9B80-2335CF9D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718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383C7-C198-4A0F-8E9F-E48117E8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575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6A25A6-77FB-4640-8743-E6C8620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03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C4589F-3899-4024-AC54-04989CD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860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40E6F8-9E46-4FAA-AFA5-F302578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288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DCBE2E-B356-4964-8852-909D065D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145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A12B21-EA0A-43A1-A437-9EBE18D6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573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FC5744-BA7A-43A5-9EBE-B5CE11FE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430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6B0BF3-AC5B-49BA-ADEF-04512EE2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7DB32B-BCBC-45CA-836A-49CBEBDD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62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123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42F893-98B9-4B09-A100-1BB542EE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B59503-3FF9-40DB-BA04-7447D851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5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(%)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25D456-E512-44EB-8B1F-AF8C3151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90750" y="1807257"/>
            <a:ext cx="3857625" cy="858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F855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730AC9-825A-437F-810E-C00DEE89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48375" y="1807257"/>
            <a:ext cx="3857625" cy="692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F855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F1C833-16A3-493D-95D1-2B9B57D2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4548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6BA2E4-D4EC-4373-BD8E-51042DF3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5963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155EC6-AAA7-4795-8D69-2C478F71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2891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90DA75-17C1-44E4-8999-DE579DC0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90750" y="1952832"/>
            <a:ext cx="3857625" cy="362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176A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FF5B11-E8F4-49F7-AC8A-64E27779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48375" y="1985630"/>
            <a:ext cx="3857625" cy="34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176A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0A6EAF-B192-42D4-BFCA-144DB5F4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0520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EFDFD5-27B2-4340-BF2C-B41D25D9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142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33EBAA-00F0-4280-9073-FF386B5C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3800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93BF3C-4B1C-48F7-BE22-8D24E6E2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90750" y="1914029"/>
            <a:ext cx="3857625" cy="144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D5BD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53B06B-DF44-48F1-AB8A-94386838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48375" y="1928490"/>
            <a:ext cx="3857625" cy="4581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6D5BD0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7FF9DC-C53D-40D2-85CD-2078DE14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6640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35A6CE-941D-40D0-9554-8D36EB28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8086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778FF0-C43C-486C-A953-7A93F8A9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390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3085F6-F6FA-44D6-A9FC-5FB70A14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90750" y="2111506"/>
            <a:ext cx="3857625" cy="672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8C9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C83B80-8C76-469E-AD5A-892418AA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48375" y="1999761"/>
            <a:ext cx="3857625" cy="1789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8C9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DFECEC-CD7E-4CE0-B4DE-FD84CC61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638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7399E9-6AA0-403F-BAF3-2DFAD8FE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3112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CE3A26-24B9-4660-9736-724C7F39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5213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9CCFA1-E2CB-4219-91B5-963AFEE8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90750" y="2173085"/>
            <a:ext cx="3857625" cy="512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28E2B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554D7A-52D2-4B22-BCA6-E353D466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48375" y="2232858"/>
            <a:ext cx="3857625" cy="4529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28E2B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13325E-EE34-4366-8E48-E2E0CA5E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2546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12B9EA-6CDF-447A-964F-077E6FB0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3815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898143-8970-4642-B3C0-0187C4DB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8523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4634CE5-CA9F-48A1-BE5C-02D7DDD6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90750" y="3173689"/>
            <a:ext cx="3857625" cy="596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5423A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BDA69C-DA41-43B8-BC67-579A441F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48375" y="3769739"/>
            <a:ext cx="3857625" cy="4106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5423A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668FDA-73B0-4F21-9305-C2CFE69C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2606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23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C199C3B-5722-492C-BA63-CF8D00F5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2211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23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E8EA5B-EDA3-4DC8-9EA2-2F7228F2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327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23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65326E-223A-4A75-9DC8-BB9E1DBB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855A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7C9A45A-265F-4809-B8C4-7C953CDF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3C6E369-4674-40EA-8409-2FC89A29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067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5DD8D2A-02BC-4B30-B9F2-4CFDB967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91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176AE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9CFFBF8-3104-488D-BBEF-171C98B4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CCA6C62-1382-4667-86DC-03E5E49B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067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MobileNetV3-Large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42E2184-024E-416C-9E69-F1FEA0C6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91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5BD0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F157EA0-577A-4D10-AAEE-09FFC657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FC185A5-CB40-4DE7-BD2D-2BB4684C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67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C4348EC-66A6-46BC-BCF6-D306529E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14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8C95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54C748A-66CD-477E-85CE-02C68B93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46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3D3D08D-1D18-435C-AEBF-EA874F4E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391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DenseNet-121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BBEC38E-70A8-4813-8F36-F0014A53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514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8E2B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A26476C-44CE-44D5-B207-0302B360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46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78A09C6-A0ED-497A-8DD1-9A07954E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391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195FFA6-270F-4C17-ADE1-0A08B30E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14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5423A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57A20BF-1C3B-4E19-8FC9-D10BAD47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46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23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3E7CD3D-AA24-4180-8F6B-C351D445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391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V2 1.0×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D00FA30-2149-4972-BA3E-7158DA48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Training seed</a:t>
            </a:r>
          </a:p>
        </p:txBody>
      </p:sp>
    </p:spTree>
    <p:extLst>
      <p:ext uri="{BB962C8B-B14F-4D97-AF65-F5344CB8AC3E}">
        <p14:creationId xmlns:p14="http://schemas.microsoft.com/office/powerpoint/2010/main" val="88841939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F1 theo lớp — sáu lớp đầu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Đơn vị: %. Mean 3 seed, làm tròn 1 chữ số; 100,0 có thể do làm tròn.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B0 = EfficientNet-B0; V3-L = MobileNetV3-Large; Shuffle = ShuffleNet V2 1.0×.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C4612-D49C-41E4-B6B6-03CF6C97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1371600"/>
                <a:gridCol w="1371600"/>
                <a:gridCol w="1371600"/>
                <a:gridCol w="1371600"/>
                <a:gridCol w="1371600"/>
                <a:gridCol w="1381125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Lớp (test n)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Eff-B0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MV3-L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RN18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DN121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MV2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Shuffle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Bạc lá vi khuẩn (270)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Đạo ôn (251)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Rầy nâu (2786)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Đốm nâu (330)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98,3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Dảnh héo (215)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Ốc bươu vàng (122)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"/>
          <p:cNvGraphicFramePr/>
          <p:nvPr/>
        </p:nvGraphicFramePr>
        <p:xfrm>
          <a:off xmlns:a="http://schemas.openxmlformats.org/drawingml/2006/main" x="619125" y="55721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Đơn vị: %, mean F1 lớp qua ba seed. Mỗi cột mô hình dùng đúng cùng ảnh test.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0B3BD-E9ED-4E92-9701-97522D21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143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F1 theo lớp — năm lớp còn lại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Đơn vị: %. Mean 3 seed, làm tròn 1 chữ số; 100,0 có thể do làm tròn.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B0 = EfficientNet-B0; V3-L = MobileNetV3-Large; Shuffle = ShuffleNet V2 1.0×.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BBBAE-0EBC-40F8-9187-E7024AFA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57200" y="1524000"/>
          <a:ext xmlns:a="http://schemas.openxmlformats.org/drawingml/2006/main" cx="109537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1371600"/>
                <a:gridCol w="1371600"/>
                <a:gridCol w="1371600"/>
                <a:gridCol w="1371600"/>
                <a:gridCol w="1371600"/>
                <a:gridCol w="1381125"/>
              </a:tblGrid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Lớp (test n)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Eff-B0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MV3-L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RN18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DN121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MV2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Shuffle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cuốn lá (1764)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Bình thường (263)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Sâu đục thân (2973)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100,0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99,2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Tungro (163)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89,5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76,7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Cỏ dại (239)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82,1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"/>
          <p:cNvGraphicFramePr/>
          <p:nvPr/>
        </p:nvGraphicFramePr>
        <p:xfrm>
          <a:off xmlns:a="http://schemas.openxmlformats.org/drawingml/2006/main" x="619125" y="53816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Các lớp lớn gần bão hòa; Tungro và cỏ dại phân hóa mô hình rõ hơn.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F46CF-1D08-40A2-99D5-84278552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143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9">
            <a:extLst xmlns:a="http://schemas.openxmlformats.org/drawingml/2006/main">
              <a:ext uri="{FF2B5EF4-FFF2-40B4-BE49-F238E27FC236}">
                <a16:creationId xmlns:a16="http://schemas.microsoft.com/office/drawing/2014/main" id="{8CF66D40-498E-4AA9-9A44-E7B99DA8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Lớp khó nhất cho thấy khoảng cách giữa các backbone</a:t>
            </a:r>
          </a:p>
        </p:txBody>
      </p:sp>
      <p:sp>
        <p:nvSpPr>
          <p:cNvPr id="2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922FE490-3233-4692-BA70-3690BE3A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9">
            <a:extLst xmlns:a="http://schemas.openxmlformats.org/drawingml/2006/main">
              <a:ext uri="{FF2B5EF4-FFF2-40B4-BE49-F238E27FC236}">
                <a16:creationId xmlns:a16="http://schemas.microsoft.com/office/drawing/2014/main" id="{E0B54F9D-451E-4D39-93DC-A5F1D9FA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class-callout-title">
            <a:extLst xmlns:a="http://schemas.openxmlformats.org/drawingml/2006/main">
              <a:ext uri="{FF2B5EF4-FFF2-40B4-BE49-F238E27FC236}">
                <a16:creationId xmlns:a16="http://schemas.microsoft.com/office/drawing/2014/main" id="{E917EE6A-8DA4-4BAB-9D3D-D99D2273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71625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Đọc theo từng lớp</a:t>
            </a:r>
          </a:p>
        </p:txBody>
      </p:sp>
      <p:sp>
        <p:nvSpPr>
          <p:cNvPr id="6" name="class-callout">
            <a:extLst xmlns:a="http://schemas.openxmlformats.org/drawingml/2006/main">
              <a:ext uri="{FF2B5EF4-FFF2-40B4-BE49-F238E27FC236}">
                <a16:creationId xmlns:a16="http://schemas.microsoft.com/office/drawing/2014/main" id="{038B23F7-0713-464A-8DCE-7DC92611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57425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Sương mai: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B0 92,9% • V3 91,9%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Sọc lá vi khuẩn: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71,2%</a:t>
            </a:r>
          </a:p>
        </p:txBody>
      </p:sp>
      <p:sp>
        <p:nvSpPr>
          <p:cNvPr id="7" name="class-small">
            <a:extLst xmlns:a="http://schemas.openxmlformats.org/drawingml/2006/main">
              <a:ext uri="{FF2B5EF4-FFF2-40B4-BE49-F238E27FC236}">
                <a16:creationId xmlns:a16="http://schemas.microsoft.com/office/drawing/2014/main" id="{B940AFDE-1B3F-4F7F-ABA2-9345C1BE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2524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ass-small-text">
            <a:extLst xmlns:a="http://schemas.openxmlformats.org/drawingml/2006/main">
              <a:ext uri="{FF2B5EF4-FFF2-40B4-BE49-F238E27FC236}">
                <a16:creationId xmlns:a16="http://schemas.microsoft.com/office/drawing/2014/main" id="{6D07E430-C17A-4630-8299-A55AFF40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05300"/>
            <a:ext cx="2266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n: số ảnh của lớp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F1: mean 3 seed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Đủ 19 lớp: phụ lục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258EA-115C-4BDC-BA09-8FCC3E29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095375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952625"/>
                <a:gridCol w="1952625"/>
                <a:gridCol w="1952625"/>
                <a:gridCol w="1952625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Đạo ôn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Bình thường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Tungro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Cỏ dại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94,8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92,9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93,6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95,7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89,5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76,7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82,1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"/>
          <p:cNvGraphicFramePr/>
          <p:nvPr/>
        </p:nvGraphicFramePr>
        <p:xfrm>
          <a:off xmlns:a="http://schemas.openxmlformats.org/drawingml/2006/main" x="619125" y="53816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ShuffleNet suy giảm rõ ở Tungro (76,7%) và cỏ dại (82,1%); bảng đầy đủ ở slide 20–21.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6943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0">
            <a:extLst xmlns:a="http://schemas.openxmlformats.org/drawingml/2006/main">
              <a:ext uri="{FF2B5EF4-FFF2-40B4-BE49-F238E27FC236}">
                <a16:creationId xmlns:a16="http://schemas.microsoft.com/office/drawing/2014/main" id="{E10E2226-76B8-4DD1-8376-82F56B4E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Thứ hạng giữ nguyên khi bỏ tám lớp support thấp</a:t>
            </a:r>
          </a:p>
        </p:txBody>
      </p:sp>
      <p:sp>
        <p:nvSpPr>
          <p:cNvPr id="2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A95F6E64-9507-43C0-B33C-36B3B027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10">
            <a:extLst xmlns:a="http://schemas.openxmlformats.org/drawingml/2006/main">
              <a:ext uri="{FF2B5EF4-FFF2-40B4-BE49-F238E27FC236}">
                <a16:creationId xmlns:a16="http://schemas.microsoft.com/office/drawing/2014/main" id="{7F77577C-2527-4653-A96B-60128ABD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error-read-title">
            <a:extLst xmlns:a="http://schemas.openxmlformats.org/drawingml/2006/main">
              <a:ext uri="{FF2B5EF4-FFF2-40B4-BE49-F238E27FC236}">
                <a16:creationId xmlns:a16="http://schemas.microsoft.com/office/drawing/2014/main" id="{95142EA5-F43E-454F-B653-08333BBC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Cách đọc ví dụ</a:t>
            </a:r>
          </a:p>
        </p:txBody>
      </p:sp>
      <p:sp>
        <p:nvSpPr>
          <p:cNvPr id="6" name="error-read">
            <a:extLst xmlns:a="http://schemas.openxmlformats.org/drawingml/2006/main">
              <a:ext uri="{FF2B5EF4-FFF2-40B4-BE49-F238E27FC236}">
                <a16:creationId xmlns:a16="http://schemas.microsoft.com/office/drawing/2014/main" id="{BB020F84-6BB3-4E28-AC1E-053A007B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14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Leaf smut → bạc lá:</a:t>
            </a:r>
          </a:p>
          <a:p xmlns:a="http://schemas.openxmlformats.org/drawingml/2006/main">
            <a:pPr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 lượt nhầm / (21 ảnh × 3 seed) = 4,76%.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Cùng 21 ảnh được đánh giá bởi 3 mô hình đã train.</a:t>
            </a:r>
          </a:p>
        </p:txBody>
      </p:sp>
      <p:sp>
        <p:nvSpPr>
          <p:cNvPr id="7" name="error-example">
            <a:extLst xmlns:a="http://schemas.openxmlformats.org/drawingml/2006/main">
              <a:ext uri="{FF2B5EF4-FFF2-40B4-BE49-F238E27FC236}">
                <a16:creationId xmlns:a16="http://schemas.microsoft.com/office/drawing/2014/main" id="{1C73C4A9-987A-4C42-9B9F-BF38A8D6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rror-example-text">
            <a:extLst xmlns:a="http://schemas.openxmlformats.org/drawingml/2006/main">
              <a:ext uri="{FF2B5EF4-FFF2-40B4-BE49-F238E27FC236}">
                <a16:creationId xmlns:a16="http://schemas.microsoft.com/office/drawing/2014/main" id="{7E0AF6CA-A544-4883-ADAB-84B29094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958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Không coi 63 lượt dự đoán là 63 ảnh độc lập.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AE2D6-E942-40E3-A72C-052CFF85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476500"/>
                <a:gridCol w="2667000"/>
                <a:gridCol w="238125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 19 lớp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Chuyển tiếp 11 lớp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Chênh lệch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97,764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97,994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+0,230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97,323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97,585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+0,262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96,878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97,234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+0,356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96,658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+0,505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96,184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96,227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+0,043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90,971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91,524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+0,553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"/>
          <p:cNvGraphicFramePr/>
          <p:nvPr/>
        </p:nvGraphicFramePr>
        <p:xfrm>
          <a:off xmlns:a="http://schemas.openxmlformats.org/drawingml/2006/main" x="619125" y="55721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Điểm tăng do đổi phạm vi true-label; checkpoint không đổi và dự đoán sang nhãn bị loại vẫn tính sai.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31166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42C4B378-EC4E-42F8-ADC4-47135BE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Paired bootstrap: V3-Large so với năm mô hình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EDE868D0-4FE8-4A11-A3E1-4A3E492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8A70821-CA93-48B4-AE50-57A4623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arch-note">
            <a:extLst xmlns:a="http://schemas.openxmlformats.org/drawingml/2006/main">
              <a:ext uri="{FF2B5EF4-FFF2-40B4-BE49-F238E27FC236}">
                <a16:creationId xmlns:a16="http://schemas.microsoft.com/office/drawing/2014/main" id="{F49DD076-B185-4555-8F1C-9EAFE2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Đơn vị: điểm %. Δ dương nghiêng về V3. CI là percentile 95%, 2.000 lần resample theo ảnh.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1095375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2714625"/>
                <a:gridCol w="2714625"/>
                <a:gridCol w="2714625"/>
              </a:tblGrid>
              <a:tr h="6953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Δ F1: V3 − đối chiếu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42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123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 2026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6953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-0,209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[-0,835; 0,412]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-0,636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[-1,220; -0,074]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-0,382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[-0,970; 0,189]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953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-0,136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[-0,741; 0,492]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-0,212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[-0,851; 0,418]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1,403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[0,737; 2,124]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0,555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[-0,083; 1,208]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0,664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[0,071; 1,332]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0,049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[-0,565; 0,676]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6953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0,771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[0,099; 1,458]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2,438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[1,654; 3,227]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0,865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[0,189; 1,570]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4,272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[3,417; 5,152]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6,232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[5,249; 7,222]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7,681</a:t>
                      </a:r>
                    </a:p>
                    <a:p>
                      <a:pPr algn="ctr"/>
                      <a:r>
                        <a:rPr sz="157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[6,729; 8,723]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76364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Hai mô hình dẫn đầu: B0 và V3-Large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Chênh lệch nhỏ về mean nhưng không đồng nhất qua từng seed.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97,994 ± 0,159%; hạng 1. Điểm từng seed: 97,875 / 98,175 / 97,933.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MobileNetV3-L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97,585 ± 0,070%; hạng 2, thấp hơn B0 0,409 điểm % theo mean.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Bootstrap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V3−B0: CI chứa 0 ở seed 42 và 2026; hoàn toàn âm ở seed 123. Không tuyên bố B0 vượt trội thống kê toàn cục.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B0 là mốc chất lượng; V3-Large vẫn đáng ưu tiên khi mục tiêu cuối là mobile.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 và DenseNet-121: hạng giữa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kiến trúc đạt chất lượng cao nhưng không có lợi thế rõ về quy mô.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ResNet-18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97,234 ± 0,941%; SD lớn hơn DenseNet do seed 2026 giảm còn 96,148%.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DenseNet-121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97,163 ± 0,316%; ổn định hơn ResNet trong sensitivity analysis.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Quy mô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Đầu 11 lớp dự kiến: ResNet 11,182M; DenseNet 6,965M.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Chưa có paired bootstrap trực tiếp ResNet–DenseNet; thứ hạng 3–4 chỉ mang tính mô tả.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 và ShuffleNet: độ gọn đổi lấy chất lượng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Hai baseline nhẹ giúp nhìn rõ đường biên triển khai.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96,227 ± 0,981%; V3-Large hơn 1,358 điểm % theo mean.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ShuffleNet V2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Macro-F1 91,524 ± 1,771%; SD lớn nhất và giảm liên tục từ seed 42 đến 2026.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Triển khai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ShuffleNet nhỏ nhất 1,265M tham số dự kiến, nhưng chất lượng lớp Tungro và cỏ dại giảm mạnh.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Không chọn mô hình chỉ vì nhỏ nhất; cần ngưỡng chất lượng tối thiểu và benchmark mobile thật.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2">
            <a:extLst xmlns:a="http://schemas.openxmlformats.org/drawingml/2006/main">
              <a:ext uri="{FF2B5EF4-FFF2-40B4-BE49-F238E27FC236}">
                <a16:creationId xmlns:a16="http://schemas.microsoft.com/office/drawing/2014/main" id="{43B0008C-E08E-4F23-AB42-B7E9CA3D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Chất lượng chuyển tiếp và số tham số dự kiến</a:t>
            </a:r>
          </a:p>
        </p:txBody>
      </p:sp>
      <p:sp>
        <p:nvSpPr>
          <p:cNvPr id="2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AF43F4CA-8D37-478C-91B1-3467BDEA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12">
            <a:extLst xmlns:a="http://schemas.openxmlformats.org/drawingml/2006/main">
              <a:ext uri="{FF2B5EF4-FFF2-40B4-BE49-F238E27FC236}">
                <a16:creationId xmlns:a16="http://schemas.microsoft.com/office/drawing/2014/main" id="{1151569E-AD51-4E80-A10A-5873A758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resource-insight">
            <a:extLst xmlns:a="http://schemas.openxmlformats.org/drawingml/2006/main">
              <a:ext uri="{FF2B5EF4-FFF2-40B4-BE49-F238E27FC236}">
                <a16:creationId xmlns:a16="http://schemas.microsoft.com/office/drawing/2014/main" id="{0F6D3110-6DE2-459E-8881-F25FF0ED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29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ShuffleNet nhỏ nhất nhưng Macro-F1 thấp nhất.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Chưa đo độ trễ, RAM hoặc năng lượng trên điện thoại.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FE45F-7E85-4300-8273-CCBC4E31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90625"/>
            <a:ext cx="115252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09537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2571750"/>
                <a:gridCol w="2000250"/>
                <a:gridCol w="2762250"/>
              </a:tblGrid>
              <a:tr h="55789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Macro-F1 mean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SD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Tham số 11 đầu ra*</a:t>
                      </a:r>
                    </a:p>
                  </a:txBody>
                  <a:tcPr marL="95250" marR="95250" marT="66675" marB="66675" anchor="ctr">
                    <a:solidFill>
                      <a:srgbClr val="0B1720"/>
                    </a:solidFill>
                  </a:tcPr>
                </a:tc>
              </a:tr>
              <a:tr h="55789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EfficientNet-B0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97,994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0,159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4,022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5789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MobileNetV3-Large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97,585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0,070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4,216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ResNet-18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97,234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0,941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11,182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5789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DenseNet-121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97,163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0,316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6,965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96,227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0,981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2,238 M</a:t>
                      </a:r>
                    </a:p>
                  </a:txBody>
                  <a:tcPr marL="95250" marR="95250" marT="66675" marB="66675" anchor="ctr">
                    <a:solidFill>
                      <a:srgbClr val="F5F8F9"/>
                    </a:solidFill>
                  </a:tcPr>
                </a:tc>
              </a:tr>
              <a:tr h="55789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ShuffleNet V2 1.0×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91,524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1,771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0B1720"/>
                          </a:solidFill>
                          <a:latin typeface="Arial"/>
                          <a:ea typeface="Arial"/>
                          <a:cs typeface="Arial"/>
                        </a:rPr>
                        <a:t>1,265 M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"/>
          <p:cNvGraphicFramePr/>
          <p:nvPr/>
        </p:nvGraphicFramePr>
        <p:xfrm>
          <a:off xmlns:a="http://schemas.openxmlformats.org/drawingml/2006/main" x="619125" y="5572125"/>
          <a:ext xmlns:a="http://schemas.openxmlformats.org/drawingml/2006/main" cx="10572750" cy="400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0"/>
              </a:tblGrid>
              <a:tr h="4000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52616B"/>
                          </a:solidFill>
                          <a:latin typeface="Arial"/>
                          <a:ea typeface="Arial"/>
                          <a:cs typeface="Arial"/>
                        </a:rPr>
                        <a:t>*Tham số là phép tính cấu trúc; chưa có checkpoint, thời gian train hoặc latency chính thức của 11 lớp.</a:t>
                      </a:r>
                    </a:p>
                  </a:txBody>
                  <a:tcPr marL="91440" marR="91440" marT="45720" marB="45720" anchor="ctr"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6679B-9C01-49C8-8768-66708B46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150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</p:spTree>
    <p:extLst>
      <p:ext uri="{BB962C8B-B14F-4D97-AF65-F5344CB8AC3E}">
        <p14:creationId xmlns:p14="http://schemas.microsoft.com/office/powerpoint/2010/main" val="108245891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3">
            <a:extLst xmlns:a="http://schemas.openxmlformats.org/drawingml/2006/main">
              <a:ext uri="{FF2B5EF4-FFF2-40B4-BE49-F238E27FC236}">
                <a16:creationId xmlns:a16="http://schemas.microsoft.com/office/drawing/2014/main" id="{91B1FC95-FEC2-4E8A-8CCC-1C087915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Kiểm toán phép tính và provenance</a:t>
            </a:r>
          </a:p>
        </p:txBody>
      </p:sp>
      <p:sp>
        <p:nvSpPr>
          <p:cNvPr id="2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3EFD848A-6809-415A-ACBE-0773DB59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13">
            <a:extLst xmlns:a="http://schemas.openxmlformats.org/drawingml/2006/main">
              <a:ext uri="{FF2B5EF4-FFF2-40B4-BE49-F238E27FC236}">
                <a16:creationId xmlns:a16="http://schemas.microsoft.com/office/drawing/2014/main" id="{09273645-C816-449B-8BF9-B8EE5C47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" name="high-score">
            <a:extLst xmlns:a="http://schemas.openxmlformats.org/drawingml/2006/main">
              <a:ext uri="{FF2B5EF4-FFF2-40B4-BE49-F238E27FC236}">
                <a16:creationId xmlns:a16="http://schemas.microsoft.com/office/drawing/2014/main" id="{1E73B4F9-2DB7-4349-87C8-E22D4112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18 / 18 file</a:t>
            </a:r>
          </a:p>
        </p:txBody>
      </p:sp>
      <p:sp>
        <p:nvSpPr>
          <p:cNvPr id="5" name="high-score-label">
            <a:extLst xmlns:a="http://schemas.openxmlformats.org/drawingml/2006/main">
              <a:ext uri="{FF2B5EF4-FFF2-40B4-BE49-F238E27FC236}">
                <a16:creationId xmlns:a16="http://schemas.microsoft.com/office/drawing/2014/main" id="{5250DC14-68C7-4F3D-B786-7FD98D8F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3905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18 CSV × 9.376 hàng sau lọc; cùng danh sách ảnh.</a:t>
            </a:r>
          </a:p>
        </p:txBody>
      </p:sp>
      <p:sp>
        <p:nvSpPr>
          <p:cNvPr id="6" name="limit-rule">
            <a:extLst xmlns:a="http://schemas.openxmlformats.org/drawingml/2006/main">
              <a:ext uri="{FF2B5EF4-FFF2-40B4-BE49-F238E27FC236}">
                <a16:creationId xmlns:a16="http://schemas.microsoft.com/office/drawing/2014/main" id="{36087144-6432-4CA7-8BFE-95208601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81125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imit-num-0">
            <a:extLst xmlns:a="http://schemas.openxmlformats.org/drawingml/2006/main">
              <a:ext uri="{FF2B5EF4-FFF2-40B4-BE49-F238E27FC236}">
                <a16:creationId xmlns:a16="http://schemas.microsoft.com/office/drawing/2014/main" id="{A10774EB-94E4-444B-A0AF-24126A2F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4287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limit-title-0">
            <a:extLst xmlns:a="http://schemas.openxmlformats.org/drawingml/2006/main">
              <a:ext uri="{FF2B5EF4-FFF2-40B4-BE49-F238E27FC236}">
                <a16:creationId xmlns:a16="http://schemas.microsoft.com/office/drawing/2014/main" id="{3FE1F188-6A11-4AAD-B545-FBD95BD1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Nguồn nhãn</a:t>
            </a:r>
          </a:p>
        </p:txBody>
      </p:sp>
      <p:sp>
        <p:nvSpPr>
          <p:cNvPr id="9" name="limit-body-0">
            <a:extLst xmlns:a="http://schemas.openxmlformats.org/drawingml/2006/main">
              <a:ext uri="{FF2B5EF4-FFF2-40B4-BE49-F238E27FC236}">
                <a16:creationId xmlns:a16="http://schemas.microsoft.com/office/drawing/2014/main" id="{DF347633-AC8E-4BB5-B0E4-9ABC4A34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true_label từ split V2; chỉ lọc theo danh sách 11 lớp.</a:t>
            </a:r>
          </a:p>
        </p:txBody>
      </p:sp>
      <p:sp>
        <p:nvSpPr>
          <p:cNvPr id="10" name="limit-num-1">
            <a:extLst xmlns:a="http://schemas.openxmlformats.org/drawingml/2006/main">
              <a:ext uri="{FF2B5EF4-FFF2-40B4-BE49-F238E27FC236}">
                <a16:creationId xmlns:a16="http://schemas.microsoft.com/office/drawing/2014/main" id="{5880ECD1-21EE-4972-AC18-21239A73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955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limit-title-1">
            <a:extLst xmlns:a="http://schemas.openxmlformats.org/drawingml/2006/main">
              <a:ext uri="{FF2B5EF4-FFF2-40B4-BE49-F238E27FC236}">
                <a16:creationId xmlns:a16="http://schemas.microsoft.com/office/drawing/2014/main" id="{160C83C0-B1D1-414B-8E15-BDEAF599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955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Nguồn dự đoán</a:t>
            </a:r>
          </a:p>
        </p:txBody>
      </p:sp>
      <p:sp>
        <p:nvSpPr>
          <p:cNvPr id="12" name="limit-body-1">
            <a:extLst xmlns:a="http://schemas.openxmlformats.org/drawingml/2006/main">
              <a:ext uri="{FF2B5EF4-FFF2-40B4-BE49-F238E27FC236}">
                <a16:creationId xmlns:a16="http://schemas.microsoft.com/office/drawing/2014/main" id="{AAA64AFD-7FA0-4F45-9275-62877AE0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955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predicted_label giữ nguyên từ classifier 19 đầu ra.</a:t>
            </a:r>
          </a:p>
        </p:txBody>
      </p:sp>
      <p:sp>
        <p:nvSpPr>
          <p:cNvPr id="13" name="limit-num-2">
            <a:extLst xmlns:a="http://schemas.openxmlformats.org/drawingml/2006/main">
              <a:ext uri="{FF2B5EF4-FFF2-40B4-BE49-F238E27FC236}">
                <a16:creationId xmlns:a16="http://schemas.microsoft.com/office/drawing/2014/main" id="{E5114A80-CA6F-4DBA-89E3-4FC61347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62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limit-title-2">
            <a:extLst xmlns:a="http://schemas.openxmlformats.org/drawingml/2006/main">
              <a:ext uri="{FF2B5EF4-FFF2-40B4-BE49-F238E27FC236}">
                <a16:creationId xmlns:a16="http://schemas.microsoft.com/office/drawing/2014/main" id="{9AF12744-88D0-48D1-A583-4C48806C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623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Phép tính</a:t>
            </a:r>
          </a:p>
        </p:txBody>
      </p:sp>
      <p:sp>
        <p:nvSpPr>
          <p:cNvPr id="15" name="limit-body-2">
            <a:extLst xmlns:a="http://schemas.openxmlformats.org/drawingml/2006/main">
              <a:ext uri="{FF2B5EF4-FFF2-40B4-BE49-F238E27FC236}">
                <a16:creationId xmlns:a16="http://schemas.microsoft.com/office/drawing/2014/main" id="{654393D0-6288-41F9-AA10-6262E6BA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Tái lập Accuracy, Macro-P/R/F1, per-class, mean, sample SD và bootstrap.</a:t>
            </a:r>
          </a:p>
        </p:txBody>
      </p:sp>
      <p:sp>
        <p:nvSpPr>
          <p:cNvPr id="16" name="limit-num-3">
            <a:extLst xmlns:a="http://schemas.openxmlformats.org/drawingml/2006/main">
              <a:ext uri="{FF2B5EF4-FFF2-40B4-BE49-F238E27FC236}">
                <a16:creationId xmlns:a16="http://schemas.microsoft.com/office/drawing/2014/main" id="{5A9A4FAE-7E4D-4EA3-B595-268314B1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291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07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7A2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limit-title-3">
            <a:extLst xmlns:a="http://schemas.openxmlformats.org/drawingml/2006/main">
              <a:ext uri="{FF2B5EF4-FFF2-40B4-BE49-F238E27FC236}">
                <a16:creationId xmlns:a16="http://schemas.microsoft.com/office/drawing/2014/main" id="{2BE5482D-DDA4-4AC8-AF0D-AB3E60FE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291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Tệp kết quả</a:t>
            </a:r>
          </a:p>
        </p:txBody>
      </p:sp>
      <p:sp>
        <p:nvSpPr>
          <p:cNvPr id="18" name="limit-body-3">
            <a:extLst xmlns:a="http://schemas.openxmlformats.org/drawingml/2006/main">
              <a:ext uri="{FF2B5EF4-FFF2-40B4-BE49-F238E27FC236}">
                <a16:creationId xmlns:a16="http://schemas.microsoft.com/office/drawing/2014/main" id="{9BC74C7A-17C1-4547-AF29-D31F8C01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291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recalculated_11class_metrics.json là nguồn số duy nhất cho Word, hình và PowerPoint.</a:t>
            </a:r>
          </a:p>
        </p:txBody>
      </p:sp>
      <p:sp>
        <p:nvSpPr>
          <p:cNvPr id="19" name="high-conclusion">
            <a:extLst xmlns:a="http://schemas.openxmlformats.org/drawingml/2006/main">
              <a:ext uri="{FF2B5EF4-FFF2-40B4-BE49-F238E27FC236}">
                <a16:creationId xmlns:a16="http://schemas.microsoft.com/office/drawing/2014/main" id="{19F101A9-9A9A-4D71-B840-DFD4C592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385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igh-conclusion-text">
            <a:extLst xmlns:a="http://schemas.openxmlformats.org/drawingml/2006/main">
              <a:ext uri="{FF2B5EF4-FFF2-40B4-BE49-F238E27FC236}">
                <a16:creationId xmlns:a16="http://schemas.microsoft.com/office/drawing/2014/main" id="{64DD71C4-6C58-496A-8351-A38E663E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3381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Không thay checkpoint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Không renormalize xác suất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BD5E1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5E19"/>
                </a:solidFill>
                <a:latin typeface="Arial"/>
                <a:ea typeface="Arial"/>
                <a:cs typeface="Arial"/>
              </a:rPr>
              <a:t>Không xóa dữ liệu gốc</a:t>
            </a:r>
          </a:p>
        </p:txBody>
      </p:sp>
    </p:spTree>
    <p:extLst>
      <p:ext uri="{BB962C8B-B14F-4D97-AF65-F5344CB8AC3E}">
        <p14:creationId xmlns:p14="http://schemas.microsoft.com/office/powerpoint/2010/main" val="48332579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B80B9E4B-5648-47CF-A3D6-C991B11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Giới hạn bắt buộc khi trình bày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14C770C-965D-4FA0-BF8D-D488E39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A994408-5071-4B9B-BB8A-A5B130E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7908F0B6-1919-4D70-BFAA-D9BAB90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Điểm cao không biến sensitivity analysis thành một thí nghiệm 11 lớp hoàn chỉnh.</a:t>
            </a:r>
          </a:p>
        </p:txBody>
      </p:sp>
      <p:sp>
        <p:nvSpPr>
          <p:cNvPr id="5" name="q-num-0">
            <a:extLst xmlns:a="http://schemas.openxmlformats.org/drawingml/2006/main">
              <a:ext uri="{FF2B5EF4-FFF2-40B4-BE49-F238E27FC236}">
                <a16:creationId xmlns:a16="http://schemas.microsoft.com/office/drawing/2014/main" id="{D4AD2510-BFDD-4B72-AD8A-DF97CE3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-title-0">
            <a:extLst xmlns:a="http://schemas.openxmlformats.org/drawingml/2006/main">
              <a:ext uri="{FF2B5EF4-FFF2-40B4-BE49-F238E27FC236}">
                <a16:creationId xmlns:a16="http://schemas.microsoft.com/office/drawing/2014/main" id="{B884359E-55A9-4D5C-B916-A0D4EF2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050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Hậu kiểm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CB015334-F46A-4526-A694-BD2D6CEB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11 lớp được chốt sau campaign 19 lớp; có nguy cơ quyết định thiết kế chịu ảnh hưởng bởi kết quả đã xem.</a:t>
            </a:r>
          </a:p>
        </p:txBody>
      </p:sp>
      <p:sp>
        <p:nvSpPr>
          <p:cNvPr id="8" name="q-rule-0">
            <a:extLst xmlns:a="http://schemas.openxmlformats.org/drawingml/2006/main">
              <a:ext uri="{FF2B5EF4-FFF2-40B4-BE49-F238E27FC236}">
                <a16:creationId xmlns:a16="http://schemas.microsoft.com/office/drawing/2014/main" id="{2C345D92-83C4-4490-A513-B2D99A4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1">
            <a:extLst xmlns:a="http://schemas.openxmlformats.org/drawingml/2006/main">
              <a:ext uri="{FF2B5EF4-FFF2-40B4-BE49-F238E27FC236}">
                <a16:creationId xmlns:a16="http://schemas.microsoft.com/office/drawing/2014/main" id="{009E679E-6A70-4D91-8B3F-E0A3965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q-title-1">
            <a:extLst xmlns:a="http://schemas.openxmlformats.org/drawingml/2006/main">
              <a:ext uri="{FF2B5EF4-FFF2-40B4-BE49-F238E27FC236}">
                <a16:creationId xmlns:a16="http://schemas.microsoft.com/office/drawing/2014/main" id="{39FAE4CF-8B56-44D8-92AE-63B6539D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Mô hình</a:t>
            </a:r>
          </a:p>
        </p:txBody>
      </p:sp>
      <p:sp>
        <p:nvSpPr>
          <p:cNvPr id="11" name="q-body-1">
            <a:extLst xmlns:a="http://schemas.openxmlformats.org/drawingml/2006/main">
              <a:ext uri="{FF2B5EF4-FFF2-40B4-BE49-F238E27FC236}">
                <a16:creationId xmlns:a16="http://schemas.microsoft.com/office/drawing/2014/main" id="{B62144D5-3D64-4772-804A-FCD3960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718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Classifier vẫn có 19 logit; số liệu không phản ánh chính xác việc huấn luyện lại đầu 11 lớp và class weights mới.</a:t>
            </a:r>
          </a:p>
        </p:txBody>
      </p:sp>
      <p:sp>
        <p:nvSpPr>
          <p:cNvPr id="12" name="q-rule-1">
            <a:extLst xmlns:a="http://schemas.openxmlformats.org/drawingml/2006/main">
              <a:ext uri="{FF2B5EF4-FFF2-40B4-BE49-F238E27FC236}">
                <a16:creationId xmlns:a16="http://schemas.microsoft.com/office/drawing/2014/main" id="{E6ACE81F-2EA5-4FB9-9BA7-A9FDBD3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2">
            <a:extLst xmlns:a="http://schemas.openxmlformats.org/drawingml/2006/main">
              <a:ext uri="{FF2B5EF4-FFF2-40B4-BE49-F238E27FC236}">
                <a16:creationId xmlns:a16="http://schemas.microsoft.com/office/drawing/2014/main" id="{A98CC4C5-26F8-4504-B70D-A05ED85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q-title-2">
            <a:extLst xmlns:a="http://schemas.openxmlformats.org/drawingml/2006/main">
              <a:ext uri="{FF2B5EF4-FFF2-40B4-BE49-F238E27FC236}">
                <a16:creationId xmlns:a16="http://schemas.microsoft.com/office/drawing/2014/main" id="{0C814AFA-7C2A-4E80-BD82-3C46139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381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Tổng quát</a:t>
            </a:r>
          </a:p>
        </p:txBody>
      </p:sp>
      <p:sp>
        <p:nvSpPr>
          <p:cNvPr id="15" name="q-body-2">
            <a:extLst xmlns:a="http://schemas.openxmlformats.org/drawingml/2006/main">
              <a:ext uri="{FF2B5EF4-FFF2-40B4-BE49-F238E27FC236}">
                <a16:creationId xmlns:a16="http://schemas.microsoft.com/office/drawing/2014/main" id="{67A86053-A7AE-4DC7-A784-005155A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Dữ liệu mất cân bằng; chưa có external test, group split theo ruộng/cây/phiên chụp hay mobile benchmark.</a:t>
            </a:r>
          </a:p>
        </p:txBody>
      </p:sp>
      <p:sp>
        <p:nvSpPr>
          <p:cNvPr id="16" name="q-rule-2">
            <a:extLst xmlns:a="http://schemas.openxmlformats.org/drawingml/2006/main">
              <a:ext uri="{FF2B5EF4-FFF2-40B4-BE49-F238E27FC236}">
                <a16:creationId xmlns:a16="http://schemas.microsoft.com/office/drawing/2014/main" id="{45BE9145-89DE-46FD-B3D4-284C335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swer">
            <a:extLst xmlns:a="http://schemas.openxmlformats.org/drawingml/2006/main">
              <a:ext uri="{FF2B5EF4-FFF2-40B4-BE49-F238E27FC236}">
                <a16:creationId xmlns:a16="http://schemas.microsoft.com/office/drawing/2014/main" id="{78E9D9C3-01FF-41BB-BBB9-2E84E44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52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5DC00E6-37FD-4390-B1DD-DD03CAE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Chỉ sau khi khóa protocol và train đủ 18 run 11 lớp mới được cập nhật kết luận chính thức.</a:t>
            </a:r>
          </a:p>
        </p:txBody>
      </p:sp>
    </p:spTree>
    <p:extLst>
      <p:ext uri="{BB962C8B-B14F-4D97-AF65-F5344CB8AC3E}">
        <p14:creationId xmlns:p14="http://schemas.microsoft.com/office/powerpoint/2010/main" val="118185601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14">
            <a:extLst xmlns:a="http://schemas.openxmlformats.org/drawingml/2006/main">
              <a:ext uri="{FF2B5EF4-FFF2-40B4-BE49-F238E27FC236}">
                <a16:creationId xmlns:a16="http://schemas.microsoft.com/office/drawing/2014/main" id="{5FDB4365-AB47-4A4B-9673-7A7036BB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720"/>
                </a:solidFill>
                <a:latin typeface="Arial"/>
                <a:ea typeface="Arial"/>
                <a:cs typeface="Arial"/>
              </a:rPr>
              <a:t>Kết luận sơ bộ và bước tiếp theo</a:t>
            </a:r>
          </a:p>
        </p:txBody>
      </p:sp>
      <p:sp>
        <p:nvSpPr>
          <p:cNvPr id="2" name="title-rule-14">
            <a:extLst xmlns:a="http://schemas.openxmlformats.org/drawingml/2006/main">
              <a:ext uri="{FF2B5EF4-FFF2-40B4-BE49-F238E27FC236}">
                <a16:creationId xmlns:a16="http://schemas.microsoft.com/office/drawing/2014/main" id="{DD379C15-C89C-4FFC-9AFB-844BD68D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ber-14">
            <a:extLst xmlns:a="http://schemas.openxmlformats.org/drawingml/2006/main">
              <a:ext uri="{FF2B5EF4-FFF2-40B4-BE49-F238E27FC236}">
                <a16:creationId xmlns:a16="http://schemas.microsoft.com/office/drawing/2014/main" id="{275C531F-FC6B-4598-8CE6-D44CE9AE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4" name="final-claim">
            <a:extLst xmlns:a="http://schemas.openxmlformats.org/drawingml/2006/main">
              <a:ext uri="{FF2B5EF4-FFF2-40B4-BE49-F238E27FC236}">
                <a16:creationId xmlns:a16="http://schemas.microsoft.com/office/drawing/2014/main" id="{1B671FD6-F5A9-41F0-A137-DAC2BC08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Thứ hạng ổn định; bằng chứng 11 lớp vẫn chưa hoàn tất.</a:t>
            </a:r>
          </a:p>
        </p:txBody>
      </p:sp>
      <p:sp>
        <p:nvSpPr>
          <p:cNvPr id="5" name="rec-label-0">
            <a:extLst xmlns:a="http://schemas.openxmlformats.org/drawingml/2006/main">
              <a:ext uri="{FF2B5EF4-FFF2-40B4-BE49-F238E27FC236}">
                <a16:creationId xmlns:a16="http://schemas.microsoft.com/office/drawing/2014/main" id="{5D9A0ACA-8BB3-46E9-88B3-8AC1CA3C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6" name="rec-body-0">
            <a:extLst xmlns:a="http://schemas.openxmlformats.org/drawingml/2006/main">
              <a:ext uri="{FF2B5EF4-FFF2-40B4-BE49-F238E27FC236}">
                <a16:creationId xmlns:a16="http://schemas.microsoft.com/office/drawing/2014/main" id="{D85B99F4-B4FD-40B7-B12B-7EE39E6E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833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B0 dẫn đầu 97,994% Macro-F1; V3-Large thứ hai 97,585%; ShuffleNet thấp nhất 91,524%.</a:t>
            </a:r>
          </a:p>
        </p:txBody>
      </p:sp>
      <p:sp>
        <p:nvSpPr>
          <p:cNvPr id="7" name="rec-rule-0">
            <a:extLst xmlns:a="http://schemas.openxmlformats.org/drawingml/2006/main">
              <a:ext uri="{FF2B5EF4-FFF2-40B4-BE49-F238E27FC236}">
                <a16:creationId xmlns:a16="http://schemas.microsoft.com/office/drawing/2014/main" id="{F6B77484-81C7-4BE2-8E3A-D1822B45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38500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-label-1">
            <a:extLst xmlns:a="http://schemas.openxmlformats.org/drawingml/2006/main">
              <a:ext uri="{FF2B5EF4-FFF2-40B4-BE49-F238E27FC236}">
                <a16:creationId xmlns:a16="http://schemas.microsoft.com/office/drawing/2014/main" id="{2EE58283-4101-4386-8A7C-3BE08599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Ý NGHĨA</a:t>
            </a:r>
          </a:p>
        </p:txBody>
      </p:sp>
      <p:sp>
        <p:nvSpPr>
          <p:cNvPr id="9" name="rec-body-1">
            <a:extLst xmlns:a="http://schemas.openxmlformats.org/drawingml/2006/main">
              <a:ext uri="{FF2B5EF4-FFF2-40B4-BE49-F238E27FC236}">
                <a16:creationId xmlns:a16="http://schemas.microsoft.com/office/drawing/2014/main" id="{C73C4BDE-562F-4D97-8548-77FB3FCF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76625"/>
            <a:ext cx="833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Loại tám true-label support thấp không làm đảo thứ hạng; kết luận backbone có độ bền mô tả trong sensitivity analysis.</a:t>
            </a:r>
          </a:p>
        </p:txBody>
      </p:sp>
      <p:sp>
        <p:nvSpPr>
          <p:cNvPr id="10" name="rec-rule-1">
            <a:extLst xmlns:a="http://schemas.openxmlformats.org/drawingml/2006/main">
              <a:ext uri="{FF2B5EF4-FFF2-40B4-BE49-F238E27FC236}">
                <a16:creationId xmlns:a16="http://schemas.microsoft.com/office/drawing/2014/main" id="{4BAA5F34-8230-44C2-8DE1-FD66627B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38625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-label-2">
            <a:extLst xmlns:a="http://schemas.openxmlformats.org/drawingml/2006/main">
              <a:ext uri="{FF2B5EF4-FFF2-40B4-BE49-F238E27FC236}">
                <a16:creationId xmlns:a16="http://schemas.microsoft.com/office/drawing/2014/main" id="{7F9CF0F5-5E75-43D7-9C5D-39167203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TIẾP THEO</a:t>
            </a:r>
          </a:p>
        </p:txBody>
      </p:sp>
      <p:sp>
        <p:nvSpPr>
          <p:cNvPr id="12" name="rec-body-2">
            <a:extLst xmlns:a="http://schemas.openxmlformats.org/drawingml/2006/main">
              <a:ext uri="{FF2B5EF4-FFF2-40B4-BE49-F238E27FC236}">
                <a16:creationId xmlns:a16="http://schemas.microsoft.com/office/drawing/2014/main" id="{217D1F94-BDD3-4A28-B5C7-7058B780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833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B17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720"/>
                </a:solidFill>
                <a:latin typeface="Arial"/>
                <a:ea typeface="Arial"/>
                <a:cs typeface="Arial"/>
              </a:rPr>
              <a:t>Khóa manifest 11 lớp → train lại 6 mô hình × 3 seed → mở final test → benchmark mobile cùng thiết bị/runtime.</a:t>
            </a:r>
          </a:p>
        </p:txBody>
      </p:sp>
      <p:sp>
        <p:nvSpPr>
          <p:cNvPr id="13" name="rec-rule-2">
            <a:extLst xmlns:a="http://schemas.openxmlformats.org/drawingml/2006/main">
              <a:ext uri="{FF2B5EF4-FFF2-40B4-BE49-F238E27FC236}">
                <a16:creationId xmlns:a16="http://schemas.microsoft.com/office/drawing/2014/main" id="{ABE0F5C2-7B12-4CB1-B7CF-B223EDA2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38750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inal-close">
            <a:extLst xmlns:a="http://schemas.openxmlformats.org/drawingml/2006/main">
              <a:ext uri="{FF2B5EF4-FFF2-40B4-BE49-F238E27FC236}">
                <a16:creationId xmlns:a16="http://schemas.microsoft.com/office/drawing/2014/main" id="{14B26AA6-943B-4958-A27F-9D3D1BAB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176A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6AE"/>
                </a:solidFill>
                <a:latin typeface="Arial"/>
                <a:ea typeface="Arial"/>
                <a:cs typeface="Arial"/>
              </a:rPr>
              <a:t>Không dùng số liệu chuyển tiếp làm kết quả cuối của bài báo 11 lớp.</a:t>
            </a:r>
          </a:p>
        </p:txBody>
      </p:sp>
    </p:spTree>
    <p:extLst>
      <p:ext uri="{BB962C8B-B14F-4D97-AF65-F5344CB8AC3E}">
        <p14:creationId xmlns:p14="http://schemas.microsoft.com/office/powerpoint/2010/main" val="2082982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2026-09-04T02:00:18.4060000Z</dcterms:created>
  <dcterms:modified xsi:type="dcterms:W3CDTF">2026-09-04T02:00:18.4060000Z</dcterms:modified>
</coreProperties>
</file>