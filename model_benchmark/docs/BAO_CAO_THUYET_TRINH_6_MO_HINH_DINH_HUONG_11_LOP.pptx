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3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b54c9e3e604af7" /><Relationship Type="http://schemas.openxmlformats.org/officeDocument/2006/relationships/extended-properties" Target="/docProps/app.xml" Id="Rde733784f2c74c5a" /><Relationship Type="http://schemas.openxmlformats.org/officeDocument/2006/relationships/officeDocument" Target="/ppt/presentation.xml" Id="Rc1a5b17ee2e249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42d0209a644fcc"/>
  </p:sldMasterIdLst>
  <p:notesMasterIdLst>
    <p:notesMasterId xmlns:r="http://schemas.openxmlformats.org/officeDocument/2006/relationships" r:id="Rbb0fd76e05ac4bb8"/>
  </p:notesMasterIdLst>
  <p:sldIdLst>
    <p:sldId xmlns:r="http://schemas.openxmlformats.org/officeDocument/2006/relationships" id="256" r:id="Rdbfedbc0b3d8479b"/>
    <p:sldId xmlns:r="http://schemas.openxmlformats.org/officeDocument/2006/relationships" id="257" r:id="Reb76b6e879e6421e"/>
    <p:sldId xmlns:r="http://schemas.openxmlformats.org/officeDocument/2006/relationships" id="258" r:id="Rc040be9876634201"/>
    <p:sldId xmlns:r="http://schemas.openxmlformats.org/officeDocument/2006/relationships" id="259" r:id="R2a04e1f108d84ad3"/>
    <p:sldId xmlns:r="http://schemas.openxmlformats.org/officeDocument/2006/relationships" id="260" r:id="R2ba747a26935432b"/>
    <p:sldId xmlns:r="http://schemas.openxmlformats.org/officeDocument/2006/relationships" id="261" r:id="Rdd6bc72f9968475e"/>
    <p:sldId xmlns:r="http://schemas.openxmlformats.org/officeDocument/2006/relationships" id="262" r:id="R16eccb0aadac468f"/>
    <p:sldId xmlns:r="http://schemas.openxmlformats.org/officeDocument/2006/relationships" id="263" r:id="R243a4b888ab24d8e"/>
    <p:sldId xmlns:r="http://schemas.openxmlformats.org/officeDocument/2006/relationships" id="264" r:id="R3bdcd68799df45b8"/>
    <p:sldId xmlns:r="http://schemas.openxmlformats.org/officeDocument/2006/relationships" id="265" r:id="R29737499399b4c62"/>
    <p:sldId xmlns:r="http://schemas.openxmlformats.org/officeDocument/2006/relationships" id="266" r:id="R4e1fa71adb434c69"/>
    <p:sldId xmlns:r="http://schemas.openxmlformats.org/officeDocument/2006/relationships" id="267" r:id="R338acfd926724116"/>
    <p:sldId xmlns:r="http://schemas.openxmlformats.org/officeDocument/2006/relationships" id="268" r:id="R951a8ec6397e4c3d"/>
    <p:sldId xmlns:r="http://schemas.openxmlformats.org/officeDocument/2006/relationships" id="269" r:id="R4819056450874046"/>
    <p:sldId xmlns:r="http://schemas.openxmlformats.org/officeDocument/2006/relationships" id="270" r:id="Rca0cbbfbbe7f4de3"/>
    <p:sldId xmlns:r="http://schemas.openxmlformats.org/officeDocument/2006/relationships" id="271" r:id="R59d2fac07c244809"/>
    <p:sldId xmlns:r="http://schemas.openxmlformats.org/officeDocument/2006/relationships" id="272" r:id="Rc1ea326027fb4396"/>
    <p:sldId xmlns:r="http://schemas.openxmlformats.org/officeDocument/2006/relationships" id="273" r:id="Rebeb239e495c4c56"/>
    <p:sldId xmlns:r="http://schemas.openxmlformats.org/officeDocument/2006/relationships" id="274" r:id="R79d725eb92134a66"/>
    <p:sldId xmlns:r="http://schemas.openxmlformats.org/officeDocument/2006/relationships" id="275" r:id="R1e27c8c707924efd"/>
    <p:sldId xmlns:r="http://schemas.openxmlformats.org/officeDocument/2006/relationships" id="276" r:id="R60162e15c0c74bf4"/>
    <p:sldId xmlns:r="http://schemas.openxmlformats.org/officeDocument/2006/relationships" id="277" r:id="Re36e696703114004"/>
    <p:sldId xmlns:r="http://schemas.openxmlformats.org/officeDocument/2006/relationships" id="278" r:id="R7cbc25d5b89440c8"/>
    <p:sldId xmlns:r="http://schemas.openxmlformats.org/officeDocument/2006/relationships" id="279" r:id="R8e808af3ca134442"/>
    <p:sldId xmlns:r="http://schemas.openxmlformats.org/officeDocument/2006/relationships" id="280" r:id="Rf17b75a4e8d94bcd"/>
    <p:sldId xmlns:r="http://schemas.openxmlformats.org/officeDocument/2006/relationships" id="281" r:id="Rf4b4fdfed0d948f6"/>
    <p:sldId xmlns:r="http://schemas.openxmlformats.org/officeDocument/2006/relationships" id="282" r:id="Rb9374e9b5dd949f0"/>
    <p:sldId xmlns:r="http://schemas.openxmlformats.org/officeDocument/2006/relationships" id="283" r:id="R2141e3cf99404d7c"/>
    <p:sldId xmlns:r="http://schemas.openxmlformats.org/officeDocument/2006/relationships" id="284" r:id="R871138581e8c46fe"/>
    <p:sldId xmlns:r="http://schemas.openxmlformats.org/officeDocument/2006/relationships" id="285" r:id="Ra27f99121ae44bea"/>
    <p:sldId xmlns:r="http://schemas.openxmlformats.org/officeDocument/2006/relationships" id="286" r:id="Rcbe50864cb2b45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d8d6fa2de46ed" /><Relationship Type="http://schemas.openxmlformats.org/officeDocument/2006/relationships/slideMaster" Target="/ppt/slideMasters/slideMaster1.xml" Id="R2842d0209a644fcc" /><Relationship Type="http://schemas.openxmlformats.org/officeDocument/2006/relationships/notesMaster" Target="/ppt/notesMasters/notesMaster1.xml" Id="Rbb0fd76e05ac4bb8" /><Relationship Type="http://schemas.openxmlformats.org/officeDocument/2006/relationships/presProps" Target="/ppt/presProps.xml" Id="R193424ddbc62477f" /><Relationship Type="http://schemas.openxmlformats.org/officeDocument/2006/relationships/tableStyles" Target="/ppt/tableStyles.xml" Id="Rca14000e229b433b" /><Relationship Type="http://schemas.openxmlformats.org/officeDocument/2006/relationships/slide" Target="/ppt/slides/slide1.xml" Id="Rdbfedbc0b3d8479b" /><Relationship Type="http://schemas.openxmlformats.org/officeDocument/2006/relationships/slide" Target="/ppt/slides/slide2.xml" Id="Reb76b6e879e6421e" /><Relationship Type="http://schemas.openxmlformats.org/officeDocument/2006/relationships/slide" Target="/ppt/slides/slide3.xml" Id="Rc040be9876634201" /><Relationship Type="http://schemas.openxmlformats.org/officeDocument/2006/relationships/slide" Target="/ppt/slides/slide4.xml" Id="R2a04e1f108d84ad3" /><Relationship Type="http://schemas.openxmlformats.org/officeDocument/2006/relationships/slide" Target="/ppt/slides/slide5.xml" Id="R2ba747a26935432b" /><Relationship Type="http://schemas.openxmlformats.org/officeDocument/2006/relationships/slide" Target="/ppt/slides/slide6.xml" Id="Rdd6bc72f9968475e" /><Relationship Type="http://schemas.openxmlformats.org/officeDocument/2006/relationships/slide" Target="/ppt/slides/slide7.xml" Id="R16eccb0aadac468f" /><Relationship Type="http://schemas.openxmlformats.org/officeDocument/2006/relationships/slide" Target="/ppt/slides/slide8.xml" Id="R243a4b888ab24d8e" /><Relationship Type="http://schemas.openxmlformats.org/officeDocument/2006/relationships/slide" Target="/ppt/slides/slide9.xml" Id="R3bdcd68799df45b8" /><Relationship Type="http://schemas.openxmlformats.org/officeDocument/2006/relationships/slide" Target="/ppt/slides/slide10.xml" Id="R29737499399b4c62" /><Relationship Type="http://schemas.openxmlformats.org/officeDocument/2006/relationships/slide" Target="/ppt/slides/slide11.xml" Id="R4e1fa71adb434c69" /><Relationship Type="http://schemas.openxmlformats.org/officeDocument/2006/relationships/slide" Target="/ppt/slides/slide12.xml" Id="R338acfd926724116" /><Relationship Type="http://schemas.openxmlformats.org/officeDocument/2006/relationships/slide" Target="/ppt/slides/slide13.xml" Id="R951a8ec6397e4c3d" /><Relationship Type="http://schemas.openxmlformats.org/officeDocument/2006/relationships/slide" Target="/ppt/slides/slide14.xml" Id="R4819056450874046" /><Relationship Type="http://schemas.openxmlformats.org/officeDocument/2006/relationships/slide" Target="/ppt/slides/slide15.xml" Id="Rca0cbbfbbe7f4de3" /><Relationship Type="http://schemas.openxmlformats.org/officeDocument/2006/relationships/slide" Target="/ppt/slides/slide16.xml" Id="R59d2fac07c244809" /><Relationship Type="http://schemas.openxmlformats.org/officeDocument/2006/relationships/slide" Target="/ppt/slides/slide17.xml" Id="Rc1ea326027fb4396" /><Relationship Type="http://schemas.openxmlformats.org/officeDocument/2006/relationships/slide" Target="/ppt/slides/slide18.xml" Id="Rebeb239e495c4c56" /><Relationship Type="http://schemas.openxmlformats.org/officeDocument/2006/relationships/slide" Target="/ppt/slides/slide19.xml" Id="R79d725eb92134a66" /><Relationship Type="http://schemas.openxmlformats.org/officeDocument/2006/relationships/slide" Target="/ppt/slides/slide20.xml" Id="R1e27c8c707924efd" /><Relationship Type="http://schemas.openxmlformats.org/officeDocument/2006/relationships/slide" Target="/ppt/slides/slide21.xml" Id="R60162e15c0c74bf4" /><Relationship Type="http://schemas.openxmlformats.org/officeDocument/2006/relationships/slide" Target="/ppt/slides/slide22.xml" Id="Re36e696703114004" /><Relationship Type="http://schemas.openxmlformats.org/officeDocument/2006/relationships/slide" Target="/ppt/slides/slide23.xml" Id="R7cbc25d5b89440c8" /><Relationship Type="http://schemas.openxmlformats.org/officeDocument/2006/relationships/slide" Target="/ppt/slides/slide24.xml" Id="R8e808af3ca134442" /><Relationship Type="http://schemas.openxmlformats.org/officeDocument/2006/relationships/slide" Target="/ppt/slides/slide25.xml" Id="Rf17b75a4e8d94bcd" /><Relationship Type="http://schemas.openxmlformats.org/officeDocument/2006/relationships/slide" Target="/ppt/slides/slide26.xml" Id="Rf4b4fdfed0d948f6" /><Relationship Type="http://schemas.openxmlformats.org/officeDocument/2006/relationships/slide" Target="/ppt/slides/slide27.xml" Id="Rb9374e9b5dd949f0" /><Relationship Type="http://schemas.openxmlformats.org/officeDocument/2006/relationships/slide" Target="/ppt/slides/slide28.xml" Id="R2141e3cf99404d7c" /><Relationship Type="http://schemas.openxmlformats.org/officeDocument/2006/relationships/slide" Target="/ppt/slides/slide29.xml" Id="R871138581e8c46fe" /><Relationship Type="http://schemas.openxmlformats.org/officeDocument/2006/relationships/slide" Target="/ppt/slides/slide30.xml" Id="Ra27f99121ae44bea" /><Relationship Type="http://schemas.openxmlformats.org/officeDocument/2006/relationships/slide" Target="/ppt/slides/slide31.xml" Id="Rcbe50864cb2b45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c417bccd534f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9144ea02244b2" /><Relationship Type="http://schemas.openxmlformats.org/officeDocument/2006/relationships/notesMaster" Target="/ppt/notesMasters/notesMaster1.xml" Id="R5763c2aa64f140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51f58957e841f1" /><Relationship Type="http://schemas.openxmlformats.org/officeDocument/2006/relationships/notesMaster" Target="/ppt/notesMasters/notesMaster1.xml" Id="R2f57196e043a4a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392d7ba597421c" /><Relationship Type="http://schemas.openxmlformats.org/officeDocument/2006/relationships/notesMaster" Target="/ppt/notesMasters/notesMaster1.xml" Id="R62e00f082b8c41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ddad466be74e4e" /><Relationship Type="http://schemas.openxmlformats.org/officeDocument/2006/relationships/notesMaster" Target="/ppt/notesMasters/notesMaster1.xml" Id="R42512a0f8c8443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823bcf67da4117" /><Relationship Type="http://schemas.openxmlformats.org/officeDocument/2006/relationships/notesMaster" Target="/ppt/notesMasters/notesMaster1.xml" Id="Ree126a4d5ec04f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49a049214243c8" /><Relationship Type="http://schemas.openxmlformats.org/officeDocument/2006/relationships/notesMaster" Target="/ppt/notesMasters/notesMaster1.xml" Id="R36b4a707306945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9af5e15c0747c2" /><Relationship Type="http://schemas.openxmlformats.org/officeDocument/2006/relationships/notesMaster" Target="/ppt/notesMasters/notesMaster1.xml" Id="R12a9c98d518548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159aca768f4123" /><Relationship Type="http://schemas.openxmlformats.org/officeDocument/2006/relationships/notesMaster" Target="/ppt/notesMasters/notesMaster1.xml" Id="R44f3c9bfe40c4c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8bc1ecbb314a3c" /><Relationship Type="http://schemas.openxmlformats.org/officeDocument/2006/relationships/notesMaster" Target="/ppt/notesMasters/notesMaster1.xml" Id="R0b480b7d9d694a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7e37af219a4700" /><Relationship Type="http://schemas.openxmlformats.org/officeDocument/2006/relationships/notesMaster" Target="/ppt/notesMasters/notesMaster1.xml" Id="R775cba2554034b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dd8c7976ad454c" /><Relationship Type="http://schemas.openxmlformats.org/officeDocument/2006/relationships/notesMaster" Target="/ppt/notesMasters/notesMaster1.xml" Id="R33ac44d67e6949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aa29bfe3b3497e" /><Relationship Type="http://schemas.openxmlformats.org/officeDocument/2006/relationships/notesMaster" Target="/ppt/notesMasters/notesMaster1.xml" Id="Rca71f2f506cb4c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2920d8b6a441ed" /><Relationship Type="http://schemas.openxmlformats.org/officeDocument/2006/relationships/notesMaster" Target="/ppt/notesMasters/notesMaster1.xml" Id="Ra0e9fa5402e945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e9174340dc4071" /><Relationship Type="http://schemas.openxmlformats.org/officeDocument/2006/relationships/notesMaster" Target="/ppt/notesMasters/notesMaster1.xml" Id="Recc7221fefb44d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97d85c371f48da" /><Relationship Type="http://schemas.openxmlformats.org/officeDocument/2006/relationships/notesMaster" Target="/ppt/notesMasters/notesMaster1.xml" Id="R71e01b6fb8fc43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362f4671d147aa" /><Relationship Type="http://schemas.openxmlformats.org/officeDocument/2006/relationships/notesMaster" Target="/ppt/notesMasters/notesMaster1.xml" Id="Rbcf798e4692949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eced91f09244db" /><Relationship Type="http://schemas.openxmlformats.org/officeDocument/2006/relationships/notesMaster" Target="/ppt/notesMasters/notesMaster1.xml" Id="R79eca9c7eefd41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bc85433ff242e7" /><Relationship Type="http://schemas.openxmlformats.org/officeDocument/2006/relationships/notesMaster" Target="/ppt/notesMasters/notesMaster1.xml" Id="R021603c6a99d44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c2a435387647d7" /><Relationship Type="http://schemas.openxmlformats.org/officeDocument/2006/relationships/notesMaster" Target="/ppt/notesMasters/notesMaster1.xml" Id="R2525ff09be6946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3f04147ca124a9b" /><Relationship Type="http://schemas.openxmlformats.org/officeDocument/2006/relationships/notesMaster" Target="/ppt/notesMasters/notesMaster1.xml" Id="Rc31e415d5d9241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e9dcb3106b4688" /><Relationship Type="http://schemas.openxmlformats.org/officeDocument/2006/relationships/notesMaster" Target="/ppt/notesMasters/notesMaster1.xml" Id="R6529f9bc5aee440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42a73b79f342c0" /><Relationship Type="http://schemas.openxmlformats.org/officeDocument/2006/relationships/notesMaster" Target="/ppt/notesMasters/notesMaster1.xml" Id="R1cc9a30579ea44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dd32ed2b9d74846" /><Relationship Type="http://schemas.openxmlformats.org/officeDocument/2006/relationships/notesMaster" Target="/ppt/notesMasters/notesMaster1.xml" Id="Rc47a7ffe76b141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c91e9a649e4733" /><Relationship Type="http://schemas.openxmlformats.org/officeDocument/2006/relationships/notesMaster" Target="/ppt/notesMasters/notesMaster1.xml" Id="R3aad0d5837674ba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3f89326cd64bff" /><Relationship Type="http://schemas.openxmlformats.org/officeDocument/2006/relationships/notesMaster" Target="/ppt/notesMasters/notesMaster1.xml" Id="R3ab86537fafc41c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3d74b9909b44f9b" /><Relationship Type="http://schemas.openxmlformats.org/officeDocument/2006/relationships/notesMaster" Target="/ppt/notesMasters/notesMaster1.xml" Id="R525daf6b2a9b49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b12056e217e49bd" /><Relationship Type="http://schemas.openxmlformats.org/officeDocument/2006/relationships/notesMaster" Target="/ppt/notesMasters/notesMaster1.xml" Id="R793c3c5075d646d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223d854de74f3c" /><Relationship Type="http://schemas.openxmlformats.org/officeDocument/2006/relationships/notesMaster" Target="/ppt/notesMasters/notesMaster1.xml" Id="R3f5d2fc53fbb4d7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968dc6b1c44f4c" /><Relationship Type="http://schemas.openxmlformats.org/officeDocument/2006/relationships/notesMaster" Target="/ppt/notesMasters/notesMaster1.xml" Id="R145544a7c36b47a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05dbb0bdf574b94" /><Relationship Type="http://schemas.openxmlformats.org/officeDocument/2006/relationships/notesMaster" Target="/ppt/notesMasters/notesMaster1.xml" Id="R9d461a753e75449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afb9a6dc1ee4a9d" /><Relationship Type="http://schemas.openxmlformats.org/officeDocument/2006/relationships/notesMaster" Target="/ppt/notesMasters/notesMaster1.xml" Id="Ra64f730c9d0a42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Tên đề tài đã đổi theo phạm vi 11 nhóm. Phải nói rõ đây là phân tích chuyển tiếp: checkpoint vẫn có 19 đầu 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 nhãn gồm bệnh, sinh vật gây hại, cỏ dại và trạng thái bình thường; không gọi chung là 11 bệnh.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 lớp được chọn theo support, không chọn theo F1. Quyết định này xảy ra sau campaign 19 lớp nên phải ghi là thiết kế chuyển tiếp.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lấy trực tiếp từ split_counts trong JSON tái tính.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Quy trình này bảo thủ hơn việc loại 8 logit rồi renormalize vì mọi dự đoán ngoài 11 lớp đều là lỗi.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dùng số tham số dự kiến làm bằng chứng về latency hoặc bộ nhớ mobile.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quy chênh lệch F1 cho một block riêng lẻ nếu chưa ablation.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so sánh FLOPs vì campaign chưa lưu FLOPs thống nhất.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gọi ShuffleNet nhanh nhất khi chưa benchmark cùng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Giữ hồ sơ thực nghiệm đúng với log; không suy diễn cấu hình máy từ lời kể.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lấy từ train_backbone.py và final_evaluate_v2.py.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protocol đề xuất, chưa chạy.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này ngăn người nghe nhầm phần đã hoàn thành và phần kế hoạch.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Protocol chính thức phải được khóa trước huấn luyện.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metric tái tính trực tiếp từ true_label và predicted_label.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Bootstrap dùng đúng 9.376 ảnh đã lọc, giữ cặp dự đoán trên cùng ảnh.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Bar chart dùng aggregate.macro_f1.mean trong JSON 11 lớp.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Mọi ô được đọc tự động từ aggregate trong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điểm là Macro-F1 từng seed sau lọc 11 true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per_class lấy từ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suy luận lớp khó chỉ từ support; cần xem ảnh và confusion matrix.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lớp được chọn để minh họa; bảng đầy đủ ở slide 20–21.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đối chiếu aggregate 19 lớp cũ với sensitivity 11 lớp.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hiệu chỉnh đa so sánh; đây không phải CI của mean qua ba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Lựa chọn deployment cần latency/RAM/năng lượng, chưa chỉ Macro-F1.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dùng tham số để suy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Chưa có inference benchmark cho 11-output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tách chất lượng sensitivity khỏi tài nguyên dự kiến.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 thể audit lại bằng script build_11class_transition_report.py.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chọn hoặc loại thêm lớp dựa vào F1 hiện tại.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Khi thuyết trình, nhắc câu cảnh báo trước khi đọc bảng kết quả.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b2036703649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9d90686ddb44f5" /><Relationship Type="http://schemas.openxmlformats.org/officeDocument/2006/relationships/slideLayout" Target="/ppt/slideLayouts/slideLayout1.xml" Id="R7af27505902044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f27505902044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7d3ae9f824adb" /><Relationship Type="http://schemas.openxmlformats.org/officeDocument/2006/relationships/notesSlide" Target="/ppt/notesSlides/notesSlide1.xml" Id="R938d00f7359a43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329d8872243f8" /><Relationship Type="http://schemas.openxmlformats.org/officeDocument/2006/relationships/notesSlide" Target="/ppt/notesSlides/notesSlide2.xml" Id="Ra531bafa86f64f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e930b79104a0c" /><Relationship Type="http://schemas.openxmlformats.org/officeDocument/2006/relationships/notesSlide" Target="/ppt/notesSlides/notesSlide3.xml" Id="R6ad6389d661d42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f8c21330d4114" /><Relationship Type="http://schemas.openxmlformats.org/officeDocument/2006/relationships/notesSlide" Target="/ppt/notesSlides/notesSlide4.xml" Id="Rbb2f5542bfd647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ffed264d54f09" /><Relationship Type="http://schemas.openxmlformats.org/officeDocument/2006/relationships/notesSlide" Target="/ppt/notesSlides/notesSlide5.xml" Id="R9b6641755c5341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52c7eefb747f7" /><Relationship Type="http://schemas.openxmlformats.org/officeDocument/2006/relationships/notesSlide" Target="/ppt/notesSlides/notesSlide6.xml" Id="R13ffc907f8c545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9e55123764ecb" /><Relationship Type="http://schemas.openxmlformats.org/officeDocument/2006/relationships/notesSlide" Target="/ppt/notesSlides/notesSlide7.xml" Id="Raeb81aa08b634e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8fd16cf6d4ea6" /><Relationship Type="http://schemas.openxmlformats.org/officeDocument/2006/relationships/notesSlide" Target="/ppt/notesSlides/notesSlide8.xml" Id="R15a844d3c7164c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d6b93779c430b" /><Relationship Type="http://schemas.openxmlformats.org/officeDocument/2006/relationships/notesSlide" Target="/ppt/notesSlides/notesSlide9.xml" Id="Rb03e766075674e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8ef1082dd4577" /><Relationship Type="http://schemas.openxmlformats.org/officeDocument/2006/relationships/notesSlide" Target="/ppt/notesSlides/notesSlide10.xml" Id="R79a53259f9d448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c66b3ad2b4d74" /><Relationship Type="http://schemas.openxmlformats.org/officeDocument/2006/relationships/notesSlide" Target="/ppt/notesSlides/notesSlide11.xml" Id="Re179219ea45340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04eca27c14945" /><Relationship Type="http://schemas.openxmlformats.org/officeDocument/2006/relationships/notesSlide" Target="/ppt/notesSlides/notesSlide12.xml" Id="Rff1250c3b17048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3dd0a9d0549cd" /><Relationship Type="http://schemas.openxmlformats.org/officeDocument/2006/relationships/notesSlide" Target="/ppt/notesSlides/notesSlide13.xml" Id="Rf7589e57425f40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2811a80ff4e44" /><Relationship Type="http://schemas.openxmlformats.org/officeDocument/2006/relationships/notesSlide" Target="/ppt/notesSlides/notesSlide14.xml" Id="R3db03d58d1854c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7953bceb044c8" /><Relationship Type="http://schemas.openxmlformats.org/officeDocument/2006/relationships/notesSlide" Target="/ppt/notesSlides/notesSlide15.xml" Id="Rf2b21019a7ec4c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ec9d5bec64b24" /><Relationship Type="http://schemas.openxmlformats.org/officeDocument/2006/relationships/notesSlide" Target="/ppt/notesSlides/notesSlide16.xml" Id="Rdc0719c5dd054b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0aedbcbb744d1" /><Relationship Type="http://schemas.openxmlformats.org/officeDocument/2006/relationships/chart" Target="/ppt/slides/charts/chart1.xml" Id="Rffb3428354714d28" /><Relationship Type="http://schemas.openxmlformats.org/officeDocument/2006/relationships/chart" Target="/ppt/slides/charts/chart2.xml" Id="Ra0543e4a904747ce" /><Relationship Type="http://schemas.openxmlformats.org/officeDocument/2006/relationships/notesSlide" Target="/ppt/notesSlides/notesSlide17.xml" Id="R274cd272b31445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d5e1b4d624d29" /><Relationship Type="http://schemas.openxmlformats.org/officeDocument/2006/relationships/notesSlide" Target="/ppt/notesSlides/notesSlide18.xml" Id="Rec22d8083a1d47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465822f724269" /><Relationship Type="http://schemas.openxmlformats.org/officeDocument/2006/relationships/chart" Target="/ppt/slides/charts/chart3.xml" Id="Rd1c954281c4c4039" /><Relationship Type="http://schemas.openxmlformats.org/officeDocument/2006/relationships/notesSlide" Target="/ppt/notesSlides/notesSlide19.xml" Id="R1727a8b854f845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664d5286244a6" /><Relationship Type="http://schemas.openxmlformats.org/officeDocument/2006/relationships/notesSlide" Target="/ppt/notesSlides/notesSlide20.xml" Id="Rcfe52016cf0f401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ef06ea3444c93" /><Relationship Type="http://schemas.openxmlformats.org/officeDocument/2006/relationships/notesSlide" Target="/ppt/notesSlides/notesSlide21.xml" Id="R7214c9d73e6643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376b4f349433e" /><Relationship Type="http://schemas.openxmlformats.org/officeDocument/2006/relationships/notesSlide" Target="/ppt/notesSlides/notesSlide22.xml" Id="R96fc39b8def8406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d30a338434660" /><Relationship Type="http://schemas.openxmlformats.org/officeDocument/2006/relationships/notesSlide" Target="/ppt/notesSlides/notesSlide23.xml" Id="Re7263e9d19bd4b6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fa8ec2f3f4b83" /><Relationship Type="http://schemas.openxmlformats.org/officeDocument/2006/relationships/notesSlide" Target="/ppt/notesSlides/notesSlide24.xml" Id="R49d745e760034c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cee4f16544ebd" /><Relationship Type="http://schemas.openxmlformats.org/officeDocument/2006/relationships/notesSlide" Target="/ppt/notesSlides/notesSlide25.xml" Id="R07ea82eebe224f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b4a0642bd4614" /><Relationship Type="http://schemas.openxmlformats.org/officeDocument/2006/relationships/notesSlide" Target="/ppt/notesSlides/notesSlide26.xml" Id="R977af27fdb214be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2daaf1b2142ba" /><Relationship Type="http://schemas.openxmlformats.org/officeDocument/2006/relationships/notesSlide" Target="/ppt/notesSlides/notesSlide27.xml" Id="R054c5b5c44ba4d5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0e36a8a2c4f3a" /><Relationship Type="http://schemas.openxmlformats.org/officeDocument/2006/relationships/notesSlide" Target="/ppt/notesSlides/notesSlide28.xml" Id="Rc2ab6f71d10f4a9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0e21b5f2d48b4" /><Relationship Type="http://schemas.openxmlformats.org/officeDocument/2006/relationships/notesSlide" Target="/ppt/notesSlides/notesSlide29.xml" Id="R63752bf5c80f4b9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bfc6fec1b4a9d" /><Relationship Type="http://schemas.openxmlformats.org/officeDocument/2006/relationships/notesSlide" Target="/ppt/notesSlides/notesSlide30.xml" Id="Rc4c54efcb25b429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ae2d84a8b4beb" /><Relationship Type="http://schemas.openxmlformats.org/officeDocument/2006/relationships/notesSlide" Target="/ppt/notesSlides/notesSlide31.xml" Id="R211debc8fa144701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0B1720"/>
                </a:solidFill>
              </a:rPr>
              <a:t>Macro-F1 (%) — trung bình 3 lần train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0B1720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Mean Macro-F1 (%)</c:v>
          </c:tx>
          <c:spPr>
            <a:solidFill xmlns:a="http://schemas.openxmlformats.org/drawingml/2006/main">
              <a:srgbClr val="2176AE"/>
            </a:solidFill>
          </c:spPr>
          <c:cat>
            <c:strLit>
              <c:ptCount val="6"/>
              <c:pt idx="0">
                <c:v>ShuffleNet V2 1.0×</c:v>
              </c:pt>
              <c:pt idx="1">
                <c:v>MobileNetV2</c:v>
              </c:pt>
              <c:pt idx="2">
                <c:v>DenseNet-121</c:v>
              </c:pt>
              <c:pt idx="3">
                <c:v>ResNet-18</c:v>
              </c:pt>
              <c:pt idx="4">
                <c:v>MobileNetV3-Large</c:v>
              </c:pt>
              <c:pt idx="5">
                <c:v>EfficientNet-B0</c:v>
              </c:pt>
            </c:strLit>
          </c:cat>
          <c:val>
            <c:numLit>
              <c:formatCode>0.000</c:formatCode>
              <c:ptCount val="6"/>
              <c:pt idx="0">
                <c:v>90.97099236476556</c:v>
              </c:pt>
              <c:pt idx="1">
                <c:v>96.18440294132978</c:v>
              </c:pt>
              <c:pt idx="2">
                <c:v>96.65765890443086</c:v>
              </c:pt>
              <c:pt idx="3">
                <c:v>96.87756946640208</c:v>
              </c:pt>
              <c:pt idx="4">
                <c:v>97.32337472589396</c:v>
              </c:pt>
              <c:pt idx="5">
                <c:v>97.76437850202622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6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720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Macro-F1 (%)</c:v>
          </c:tx>
          <c:spPr>
            <a:solidFill xmlns:a="http://schemas.openxmlformats.org/drawingml/2006/main">
              <a:srgbClr val="2176AE"/>
            </a:solidFill>
          </c:spPr>
          <c:cat>
            <c:strLit>
              <c:ptCount val="6"/>
              <c:pt idx="0">
                <c:v>EfficientNet-B0</c:v>
              </c:pt>
              <c:pt idx="1">
                <c:v>MobileNetV3-Large</c:v>
              </c:pt>
              <c:pt idx="2">
                <c:v>ResNet-18</c:v>
              </c:pt>
              <c:pt idx="3">
                <c:v>DenseNet-121</c:v>
              </c:pt>
              <c:pt idx="4">
                <c:v>MobileNetV2</c:v>
              </c:pt>
              <c:pt idx="5">
                <c:v>ShuffleNet V2 1.0×</c:v>
              </c:pt>
            </c:strLit>
          </c:cat>
          <c:val>
            <c:numLit>
              <c:formatCode>General</c:formatCode>
              <c:ptCount val="6"/>
              <c:pt idx="0">
                <c:v>97.9944233789705</c:v>
              </c:pt>
              <c:pt idx="1">
                <c:v>97.58542913401828</c:v>
              </c:pt>
              <c:pt idx="2">
                <c:v>97.23352980939364</c:v>
              </c:pt>
              <c:pt idx="3">
                <c:v>97.16256088710949</c:v>
              </c:pt>
              <c:pt idx="4">
                <c:v>96.22735939743478</c:v>
              </c:pt>
              <c:pt idx="5">
                <c:v>91.52388443303346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EfficientNet-B0</c:v>
          </c:tx>
          <c:spPr>
            <a:solidFill xmlns:a="http://schemas.openxmlformats.org/drawingml/2006/main">
              <a:srgbClr val="2F855A"/>
            </a:solidFill>
          </c:spPr>
          <c:marker>
            <c:symbol val="none"/>
          </c:marker>
          <c:cat>
            <c:numLit>
              <c:formatCode>General</c:formatCode>
              <c:ptCount val="3"/>
              <c:pt idx="0">
                <c:v>42</c:v>
              </c:pt>
              <c:pt idx="1">
                <c:v>123</c:v>
              </c:pt>
              <c:pt idx="2">
                <c:v>2026</c:v>
              </c:pt>
            </c:numLit>
          </c:cat>
          <c:val>
            <c:numLit>
              <c:formatCode>General</c:formatCode>
              <c:ptCount val="3"/>
              <c:pt idx="0">
                <c:v>97.87495012564057</c:v>
              </c:pt>
              <c:pt idx="1">
                <c:v>98.17539043828035</c:v>
              </c:pt>
              <c:pt idx="2">
                <c:v>97.93292957299059</c:v>
              </c:pt>
            </c:numLit>
          </c:val>
        </c:ser>
        <c:ser>
          <c:idx val="1"/>
          <c:order val="1"/>
          <c:tx>
            <c:v>MobileNetV3-Large</c:v>
          </c:tx>
          <c:spPr>
            <a:solidFill xmlns:a="http://schemas.openxmlformats.org/drawingml/2006/main">
              <a:srgbClr val="2176AE"/>
            </a:solidFill>
          </c:spPr>
          <c:marker>
            <c:symbol val="none"/>
          </c:marker>
          <c:cat>
            <c:numLit>
              <c:formatCode>General</c:formatCode>
              <c:ptCount val="3"/>
              <c:pt idx="0">
                <c:v>42</c:v>
              </c:pt>
              <c:pt idx="1">
                <c:v>123</c:v>
              </c:pt>
              <c:pt idx="2">
                <c:v>2026</c:v>
              </c:pt>
            </c:numLit>
          </c:cat>
          <c:val>
            <c:numLit>
              <c:formatCode>General</c:formatCode>
              <c:ptCount val="3"/>
              <c:pt idx="0">
                <c:v>97.66594395872733</c:v>
              </c:pt>
              <c:pt idx="1">
                <c:v>97.53918140749516</c:v>
              </c:pt>
              <c:pt idx="2">
                <c:v>97.55116203583235</c:v>
              </c:pt>
            </c:numLit>
          </c:val>
        </c:ser>
        <c:ser>
          <c:idx val="2"/>
          <c:order val="2"/>
          <c:tx>
            <c:v>ResNet-18</c:v>
          </c:tx>
          <c:spPr>
            <a:solidFill xmlns:a="http://schemas.openxmlformats.org/drawingml/2006/main">
              <a:srgbClr val="6D5BD0"/>
            </a:solidFill>
          </c:spPr>
          <c:marker>
            <c:symbol val="none"/>
          </c:marker>
          <c:cat>
            <c:numLit>
              <c:formatCode>General</c:formatCode>
              <c:ptCount val="3"/>
              <c:pt idx="0">
                <c:v>42</c:v>
              </c:pt>
              <c:pt idx="1">
                <c:v>123</c:v>
              </c:pt>
              <c:pt idx="2">
                <c:v>2026</c:v>
              </c:pt>
            </c:numLit>
          </c:cat>
          <c:val>
            <c:numLit>
              <c:formatCode>General</c:formatCode>
              <c:ptCount val="3"/>
              <c:pt idx="0">
                <c:v>97.80173694825046</c:v>
              </c:pt>
              <c:pt idx="1">
                <c:v>97.7511283857384</c:v>
              </c:pt>
              <c:pt idx="2">
                <c:v>96.14772409419209</c:v>
              </c:pt>
            </c:numLit>
          </c:val>
        </c:ser>
        <c:ser>
          <c:idx val="3"/>
          <c:order val="3"/>
          <c:tx>
            <c:v>DenseNet-121</c:v>
          </c:tx>
          <c:spPr>
            <a:solidFill xmlns:a="http://schemas.openxmlformats.org/drawingml/2006/main">
              <a:srgbClr val="008C95"/>
            </a:solidFill>
          </c:spPr>
          <c:marker>
            <c:symbol val="none"/>
          </c:marker>
          <c:cat>
            <c:numLit>
              <c:formatCode>General</c:formatCode>
              <c:ptCount val="3"/>
              <c:pt idx="0">
                <c:v>42</c:v>
              </c:pt>
              <c:pt idx="1">
                <c:v>123</c:v>
              </c:pt>
              <c:pt idx="2">
                <c:v>2026</c:v>
              </c:pt>
            </c:numLit>
          </c:cat>
          <c:val>
            <c:numLit>
              <c:formatCode>General</c:formatCode>
              <c:ptCount val="3"/>
              <c:pt idx="0">
                <c:v>97.11065193234805</c:v>
              </c:pt>
              <c:pt idx="1">
                <c:v>96.87531896542546</c:v>
              </c:pt>
              <c:pt idx="2">
                <c:v>97.50171176355498</c:v>
              </c:pt>
            </c:numLit>
          </c:val>
        </c:ser>
        <c:ser>
          <c:idx val="4"/>
          <c:order val="4"/>
          <c:tx>
            <c:v>MobileNetV2</c:v>
          </c:tx>
          <c:spPr>
            <a:solidFill xmlns:a="http://schemas.openxmlformats.org/drawingml/2006/main">
              <a:srgbClr val="F28E2B"/>
            </a:solidFill>
          </c:spPr>
          <c:marker>
            <c:symbol val="none"/>
          </c:marker>
          <c:cat>
            <c:numLit>
              <c:formatCode>General</c:formatCode>
              <c:ptCount val="3"/>
              <c:pt idx="0">
                <c:v>42</c:v>
              </c:pt>
              <c:pt idx="1">
                <c:v>123</c:v>
              </c:pt>
              <c:pt idx="2">
                <c:v>2026</c:v>
              </c:pt>
            </c:numLit>
          </c:cat>
          <c:val>
            <c:numLit>
              <c:formatCode>General</c:formatCode>
              <c:ptCount val="3"/>
              <c:pt idx="0">
                <c:v>96.89515257288012</c:v>
              </c:pt>
              <c:pt idx="1">
                <c:v>95.10095327308291</c:v>
              </c:pt>
              <c:pt idx="2">
                <c:v>96.68597234634132</c:v>
              </c:pt>
            </c:numLit>
          </c:val>
        </c:ser>
        <c:ser>
          <c:idx val="5"/>
          <c:order val="5"/>
          <c:tx>
            <c:v>ShuffleNet V2 1.0×</c:v>
          </c:tx>
          <c:spPr>
            <a:solidFill xmlns:a="http://schemas.openxmlformats.org/drawingml/2006/main">
              <a:srgbClr val="B5423A"/>
            </a:solidFill>
          </c:spPr>
          <c:marker>
            <c:symbol val="none"/>
          </c:marker>
          <c:cat>
            <c:numLit>
              <c:formatCode>General</c:formatCode>
              <c:ptCount val="3"/>
              <c:pt idx="0">
                <c:v>42</c:v>
              </c:pt>
              <c:pt idx="1">
                <c:v>123</c:v>
              </c:pt>
              <c:pt idx="2">
                <c:v>2026</c:v>
              </c:pt>
            </c:numLit>
          </c:cat>
          <c:val>
            <c:numLit>
              <c:formatCode>General</c:formatCode>
              <c:ptCount val="3"/>
              <c:pt idx="0">
                <c:v>93.39347685135084</c:v>
              </c:pt>
              <c:pt idx="1">
                <c:v>91.30756256383563</c:v>
              </c:pt>
              <c:pt idx="2">
                <c:v>89.87061388391389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"/>
      </c:valAx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5BF6EAE-5A1B-43E9-9DA1-E86E2F06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BÁO CÁO SƠ BỘ • RICEAI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88B9C1A-E172-4BE1-9A07-57C30A27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01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So sánh sáu kiến trúc CNN trong nhận diện 11 nhóm bệnh, sinh vật gây hại và trạng thái cây lúa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AE5E883-AE28-4E1C-AE67-63A4955A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Phân tích chuyển tiếp từ campaign 19 lớp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11 đầu ra chính thức chưa huấn luyện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D90BF6C-5333-4546-BB09-9D9C8CDE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tat">
            <a:extLst xmlns:a="http://schemas.openxmlformats.org/drawingml/2006/main">
              <a:ext uri="{FF2B5EF4-FFF2-40B4-BE49-F238E27FC236}">
                <a16:creationId xmlns:a16="http://schemas.microsoft.com/office/drawing/2014/main" id="{363EF12E-3908-420B-9BA8-22CE140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6 × 3</a:t>
            </a:r>
          </a:p>
        </p:txBody>
      </p:sp>
      <p:sp>
        <p:nvSpPr>
          <p:cNvPr id="6" name="cover-stat-label">
            <a:extLst xmlns:a="http://schemas.openxmlformats.org/drawingml/2006/main">
              <a:ext uri="{FF2B5EF4-FFF2-40B4-BE49-F238E27FC236}">
                <a16:creationId xmlns:a16="http://schemas.microsoft.com/office/drawing/2014/main" id="{B869B542-8D56-48EA-8B1D-09BC07F6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 × lần train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E0A0B49F-CBDB-4B4C-AADC-59FFE4E9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53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V2 • Tập test khóa 9.829 ảnh</a:t>
            </a:r>
          </a:p>
        </p:txBody>
      </p:sp>
    </p:spTree>
    <p:extLst>
      <p:ext uri="{BB962C8B-B14F-4D97-AF65-F5344CB8AC3E}">
        <p14:creationId xmlns:p14="http://schemas.microsoft.com/office/powerpoint/2010/main" val="1419893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 nghiên cứu và phạm vi 11 nhóm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Mục tiêu hiện tại là kiểm tra độ bền của thứ hạng trước khi huấn luyện lại classifier 11 đầu ra.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Accuracy, Macro-Precision, Macro-Recall và Macro-F1 trên 9.376 ảnh thuộc 11 lớp đủ support.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backbone có ba checkpoint từ seed 42, 123 và 2026; báo cáo từng seed, mean và sample SD.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trung thực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Dự đoán rơi vào 8 nhãn bị loại vẫn tính sai; không renormalize xác suất và không gọi đây là mô hình 11 lớp đã train.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Đây là phân tích độ nhạy để thiết kế campaign mới, không phải kết quả cuối của bài báo 11 lớp.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3">
            <a:extLst xmlns:a="http://schemas.openxmlformats.org/drawingml/2006/main">
              <a:ext uri="{FF2B5EF4-FFF2-40B4-BE49-F238E27FC236}">
                <a16:creationId xmlns:a16="http://schemas.microsoft.com/office/drawing/2014/main" id="{555035D6-8F19-43AF-B330-CE8BF609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Từ 65.516 ảnh đến phạm vi 11 lớp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AC9E859D-C866-4ADC-B505-E802B60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BE82A00E-6ED9-48B3-BE84-16DC734C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split-0">
            <a:extLst xmlns:a="http://schemas.openxmlformats.org/drawingml/2006/main">
              <a:ext uri="{FF2B5EF4-FFF2-40B4-BE49-F238E27FC236}">
                <a16:creationId xmlns:a16="http://schemas.microsoft.com/office/drawing/2014/main" id="{A24EDE7E-80F4-4E84-9EA4-8C8FFD4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plit-num-0">
            <a:extLst xmlns:a="http://schemas.openxmlformats.org/drawingml/2006/main">
              <a:ext uri="{FF2B5EF4-FFF2-40B4-BE49-F238E27FC236}">
                <a16:creationId xmlns:a16="http://schemas.microsoft.com/office/drawing/2014/main" id="{178A4369-AE8C-412E-B264-0F2B6303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45.858</a:t>
            </a:r>
          </a:p>
        </p:txBody>
      </p:sp>
      <p:sp>
        <p:nvSpPr>
          <p:cNvPr id="6" name="split-name-0">
            <a:extLst xmlns:a="http://schemas.openxmlformats.org/drawingml/2006/main">
              <a:ext uri="{FF2B5EF4-FFF2-40B4-BE49-F238E27FC236}">
                <a16:creationId xmlns:a16="http://schemas.microsoft.com/office/drawing/2014/main" id="{D7117894-4999-45DF-BC16-A3975A4C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7" name="split-pct-0">
            <a:extLst xmlns:a="http://schemas.openxmlformats.org/drawingml/2006/main">
              <a:ext uri="{FF2B5EF4-FFF2-40B4-BE49-F238E27FC236}">
                <a16:creationId xmlns:a16="http://schemas.microsoft.com/office/drawing/2014/main" id="{0D2DB7B7-5A39-49DD-8170-3A3F8897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Học từ ảnh</a:t>
            </a:r>
          </a:p>
        </p:txBody>
      </p:sp>
      <p:sp>
        <p:nvSpPr>
          <p:cNvPr id="8" name="split-1">
            <a:extLst xmlns:a="http://schemas.openxmlformats.org/drawingml/2006/main">
              <a:ext uri="{FF2B5EF4-FFF2-40B4-BE49-F238E27FC236}">
                <a16:creationId xmlns:a16="http://schemas.microsoft.com/office/drawing/2014/main" id="{BD6FD7A2-6B75-4645-A9B2-1BB450E3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plit-num-1">
            <a:extLst xmlns:a="http://schemas.openxmlformats.org/drawingml/2006/main">
              <a:ext uri="{FF2B5EF4-FFF2-40B4-BE49-F238E27FC236}">
                <a16:creationId xmlns:a16="http://schemas.microsoft.com/office/drawing/2014/main" id="{C99F28A5-C9C2-484D-B5FC-01292FC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0" name="split-name-1">
            <a:extLst xmlns:a="http://schemas.openxmlformats.org/drawingml/2006/main">
              <a:ext uri="{FF2B5EF4-FFF2-40B4-BE49-F238E27FC236}">
                <a16:creationId xmlns:a16="http://schemas.microsoft.com/office/drawing/2014/main" id="{49BB4F87-A31A-4DBB-A3DE-D2C18D27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split-pct-1">
            <a:extLst xmlns:a="http://schemas.openxmlformats.org/drawingml/2006/main">
              <a:ext uri="{FF2B5EF4-FFF2-40B4-BE49-F238E27FC236}">
                <a16:creationId xmlns:a16="http://schemas.microsoft.com/office/drawing/2014/main" id="{BC79830A-FA89-4D77-9705-730CAC4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checkpoint tốt nhất</a:t>
            </a:r>
          </a:p>
        </p:txBody>
      </p:sp>
      <p:sp>
        <p:nvSpPr>
          <p:cNvPr id="12" name="split-2">
            <a:extLst xmlns:a="http://schemas.openxmlformats.org/drawingml/2006/main">
              <a:ext uri="{FF2B5EF4-FFF2-40B4-BE49-F238E27FC236}">
                <a16:creationId xmlns:a16="http://schemas.microsoft.com/office/drawing/2014/main" id="{3EE194D7-0154-42E5-B058-3A2C0F9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plit-num-2">
            <a:extLst xmlns:a="http://schemas.openxmlformats.org/drawingml/2006/main">
              <a:ext uri="{FF2B5EF4-FFF2-40B4-BE49-F238E27FC236}">
                <a16:creationId xmlns:a16="http://schemas.microsoft.com/office/drawing/2014/main" id="{445678F7-E8C7-4FB1-B73A-FDB6286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4" name="split-name-2">
            <a:extLst xmlns:a="http://schemas.openxmlformats.org/drawingml/2006/main">
              <a:ext uri="{FF2B5EF4-FFF2-40B4-BE49-F238E27FC236}">
                <a16:creationId xmlns:a16="http://schemas.microsoft.com/office/drawing/2014/main" id="{6B341295-5A40-4AA5-89A8-C5DF296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5" name="split-pct-2">
            <a:extLst xmlns:a="http://schemas.openxmlformats.org/drawingml/2006/main">
              <a:ext uri="{FF2B5EF4-FFF2-40B4-BE49-F238E27FC236}">
                <a16:creationId xmlns:a16="http://schemas.microsoft.com/office/drawing/2014/main" id="{754799DF-0144-4B96-B80F-FDFA1D4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cuối cùng</a:t>
            </a:r>
          </a:p>
        </p:txBody>
      </p:sp>
      <p:sp>
        <p:nvSpPr>
          <p:cNvPr id="16" name="data-notes">
            <a:extLst xmlns:a="http://schemas.openxmlformats.org/drawingml/2006/main">
              <a:ext uri="{FF2B5EF4-FFF2-40B4-BE49-F238E27FC236}">
                <a16:creationId xmlns:a16="http://schemas.microsoft.com/office/drawing/2014/main" id="{855B28A4-9D28-452F-82A2-5807C26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Split V2 khóa: train 45.858 • validation 9.829 • test 9.829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Quy tắc hậu kiểm: giữ lớp có support test ≥ 100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11 lớp giữ lại: 9.376 ảnh test; 8 lớp tạm loại: 453 ảnh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Không xóa dữ liệu gốc, không sửa checkpoint hay CSV dự đoán</a:t>
            </a:r>
          </a:p>
        </p:txBody>
      </p:sp>
      <p:sp>
        <p:nvSpPr>
          <p:cNvPr id="17" name="data-caveat">
            <a:extLst xmlns:a="http://schemas.openxmlformats.org/drawingml/2006/main">
              <a:ext uri="{FF2B5EF4-FFF2-40B4-BE49-F238E27FC236}">
                <a16:creationId xmlns:a16="http://schemas.microsoft.com/office/drawing/2014/main" id="{241A7699-B643-4D1A-B80F-4079F65C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762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ata-caveat-title">
            <a:extLst xmlns:a="http://schemas.openxmlformats.org/drawingml/2006/main">
              <a:ext uri="{FF2B5EF4-FFF2-40B4-BE49-F238E27FC236}">
                <a16:creationId xmlns:a16="http://schemas.microsoft.com/office/drawing/2014/main" id="{95F4477B-B71B-4659-88A8-A6B31F0D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Giới hạn quan trọng</a:t>
            </a:r>
          </a:p>
        </p:txBody>
      </p:sp>
      <p:sp>
        <p:nvSpPr>
          <p:cNvPr id="19" name="data-caveat-body">
            <a:extLst xmlns:a="http://schemas.openxmlformats.org/drawingml/2006/main">
              <a:ext uri="{FF2B5EF4-FFF2-40B4-BE49-F238E27FC236}">
                <a16:creationId xmlns:a16="http://schemas.microsoft.com/office/drawing/2014/main" id="{0D3795B5-3CE6-4690-8D76-7390009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9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Chưa tách theo cây, ruộng hoặc phiên chụp. Đây là test nội bộ.</a:t>
            </a:r>
          </a:p>
        </p:txBody>
      </p:sp>
    </p:spTree>
    <p:extLst>
      <p:ext uri="{BB962C8B-B14F-4D97-AF65-F5344CB8AC3E}">
        <p14:creationId xmlns:p14="http://schemas.microsoft.com/office/powerpoint/2010/main" val="385806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Mười một lớp được giữ theo ngưỡng support test ≥ 100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Tổng test: 9.376 ảnh. Hai lớp lớn nhất: sâu đục thân 2.973 và rầy nâu 2.786 ảnh.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Nhóm nhỏ nhất còn giữ: ốc bươu vàng 122 ảnh; dữ liệu vẫn mất cân bằng.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257300"/>
          <a:ext xmlns:a="http://schemas.openxmlformats.org/drawingml/2006/main" cx="1095375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857375"/>
                <a:gridCol w="1857375"/>
                <a:gridCol w="1857375"/>
                <a:gridCol w="2047875"/>
              </a:tblGrid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1800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1674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13001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18573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1540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1434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566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8232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1756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13875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19821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759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1114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1592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5">
            <a:extLst xmlns:a="http://schemas.openxmlformats.org/drawingml/2006/main"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Luồng tái tính: giữ nguyên dự đoán 19 đầu ra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flow-line-0">
            <a:extLst xmlns:a="http://schemas.openxmlformats.org/drawingml/2006/main"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line-2">
            <a:extLst xmlns:a="http://schemas.openxmlformats.org/drawingml/2006/main"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line-3">
            <a:extLst xmlns:a="http://schemas.openxmlformats.org/drawingml/2006/main"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um-0">
            <a:extLst xmlns:a="http://schemas.openxmlformats.org/drawingml/2006/main"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LỌC NHÃN THẬT</a:t>
            </a:r>
          </a:p>
        </p:txBody>
      </p:sp>
      <p:sp>
        <p:nvSpPr>
          <p:cNvPr id="11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Chỉ giữ hàng test có true_label thuộc 11 lớp.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GIỮ DỰ ĐOÁN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ép predicted_label vào 11 lớp; dự đoán sang lớp loại = sai.</a:t>
            </a:r>
          </a:p>
        </p:txBody>
      </p:sp>
      <p:sp>
        <p:nvSpPr>
          <p:cNvPr id="1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num-2">
            <a:extLst xmlns:a="http://schemas.openxmlformats.org/drawingml/2006/main"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LẠI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Accuracy, Macro-P/R/F1 cho 11 nhãn.</a:t>
            </a:r>
          </a:p>
        </p:txBody>
      </p:sp>
      <p:sp>
        <p:nvSpPr>
          <p:cNvPr id="2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num-3">
            <a:extLst xmlns:a="http://schemas.openxmlformats.org/drawingml/2006/main"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GỘP 3 SEED</a:t>
            </a:r>
          </a:p>
        </p:txBody>
      </p:sp>
      <p:sp>
        <p:nvSpPr>
          <p:cNvPr id="2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Mean, sample SD và paired bootstrap 2.000 mẫu.</a:t>
            </a:r>
          </a:p>
        </p:txBody>
      </p:sp>
      <p:sp>
        <p:nvSpPr>
          <p:cNvPr id="24" name="flow-node-4">
            <a:extLst xmlns:a="http://schemas.openxmlformats.org/drawingml/2006/main"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num-4">
            <a:extLst xmlns:a="http://schemas.openxmlformats.org/drawingml/2006/main"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ĐỊNH HƯỚNG</a:t>
            </a:r>
          </a:p>
        </p:txBody>
      </p:sp>
      <p:sp>
        <p:nvSpPr>
          <p:cNvPr id="2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Chốt protocol để train lại classifier 11 đầu ra.</a:t>
            </a:r>
          </a:p>
        </p:txBody>
      </p:sp>
      <p:sp>
        <p:nvSpPr>
          <p:cNvPr id="28" name="protocol-config">
            <a:extLst xmlns:a="http://schemas.openxmlformats.org/drawingml/2006/main"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Nguồn: 18 file test_predictions.csv của campaign V2 (6 mô hình × 3 seed).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 sửa checkpoint, run manifest, history hoặc file dự đoán gốc.</a:t>
            </a:r>
          </a:p>
        </p:txBody>
      </p:sp>
      <p:sp>
        <p:nvSpPr>
          <p:cNvPr id="29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rotocol-lock">
            <a:extLst xmlns:a="http://schemas.openxmlformats.org/drawingml/2006/main"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Kết quả dưới đây là sensitivity analysis, không phải test của mô hình 11 đầu ra.</a:t>
            </a: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Sáu backbone giữ nguyên; đầu 11 lớp mới chỉ là dự kiến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*Số tham số dự kiến = backbone hiện tại + classifier 11 đầu ra; chưa có checkpoint 11 lớp.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Thứ tự mô hình và pretrained recipe giữ nguyên để campaign mới so sánh công bằng.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857750"/>
                <a:gridCol w="295275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Cấu trúc chính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Tham số đầu 11 lớp*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MBConv + SE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4,022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Inverted residual + SE + h-swish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4,216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Residual basic blocks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11,182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 connectivity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6,965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Inverted residual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2,238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Channel split + shuffle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1,265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 và MobileNetV3-Large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mạng hướng mobile nhưng V3-Large lớn hơn và có SE/hard-swish.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Inverted residual: mở rộng → depthwise → chiếu tuyến tính; đầu 11 lớp dự kiến 2,238 triệu tham số.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Inverted residual kết hợp SE và hard-swish; đầu 11 lớp dự kiến 4,216 triệu tham số.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Vai trò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V2 là baseline nhẹ; V3-Large là ứng viên mobile chính. Chưa benchmark latency/pin trên cùng điện thoại.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Chất lượng chuyển tiếp V3 cao hơn V2, nhưng deployment vẫn phải đo trên thiết bị thật.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 và DenseNet-121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baseline cổ điển đối chiếu shortcut cộng và kết nối đặc trưng dày.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Residual shortcut hỗ trợ dòng gradient; đầu 11 lớp dự kiến 11,182 triệu tham số, lớn nhất nhóm.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Nối đặc trưng từ nhiều lớp trước; đầu 11 lớp dự kiến 6,965 triệu tham số.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Vai trò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Kiểm tra liệu backbone nhiều tham số hoặc tái sử dụng đặc trưng có vượt các mạng mobile hay không.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Trong phân tích chuyển tiếp, quy mô tham số không quyết định thứ hạng Macro-F1.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và ShuffleNet V2 1.0×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cực của bài toán chất lượng–độ gọn.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MBConv + SE; đầu 11 lớp dự kiến 4,022 triệu tham số và hiện dẫn đầu Macro-F1 chuyển tiếp.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Channel split và channel shuffle; đầu 11 lớp dự kiến 1,265 triệu tham số, nhỏ nhất nhóm.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Mô hình nhỏ nhất có giữ được chất lượng đủ dùng không? Kết quả hiện tại cho thấy khoảng cách còn lớn.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Mạng gọn chỉ có ý nghĩa triển khai khi chất lượng, latency, RAM và năng lượng đều được đo.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Môi trường và bằng chứng tái lập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Tên GPU không được dùng làm biến giải thích kết quả trong bản 11 lớp.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11 lớp sau này phải ghi tự động GPU, driver, CUDA, VRAM và thời gian từng run.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2000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Thông tin có bằng chứng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Framework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Python 3.11.9 • PyTorch 2.2.1+cu121 • TorchVision 0.17.1+cu121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Nền tảng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Windows • CUDA; run manifest không lưu tên model GPU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Seed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42, 123, 2026; khóa Python / NumPy / Torch / CUDA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Chế độ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Deterministic algorithms; tắt cuDNN benchmark và TF32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Dữ liệu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Split/manifest khóa SHA-256; cùng danh sách ảnh cho mọi run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Lưu ý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Không đổi tên GPU thành phần cứng không được log trong run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Tiền xử lý phải giữ nguyên khi train lại 11 lớp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Thay số đầu ra, không đổi pipeline để bảo đảm phép so sánh còn cùng điều kiện.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Chuẩn hóa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RGB → resize 224×224 bilinear, antialias → tensor [0,1] → ImageNet mean/std.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Lật ngang, xoay, dịch, scale và color jitter theo recipe V2; class weights chỉ tính từ train.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 / test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Chỉ resize và chuẩn hóa; không TTA, không augmentation ngẫu nhiên và không shuffle test.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Nếu đổi augmentation hoặc resolution, phải coi là campaign khác và không trộn với bảng hiện tại.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Protocol train 11 lớp đề xuất: giữ nguyên ngân sách V2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best checkpoint theo validation Macro-F1; test chỉ mở sau khi đủ 18 run.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Tính lại class weight trên 11 lớp train; khóa manifest mới và SHA-256 trước khi chạy.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05250"/>
                <a:gridCol w="390525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Thiết lập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Fine-tune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Số đầu ra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Epoch tối đa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Optimizer / LR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Adam / 10⁻³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Adam / 10⁻⁵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Batch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Weighted cross-entropy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Weighted cross-entropy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Điều khiển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Early stop 5; Reduce LR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Early stop 5; Reduce LR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Trạng thái hiện tại và công việc chưa làm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dùng thời gian train, checkpoint size hoặc latency của campaign 19 lớp như số đo chính thức cho 11 lớp.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00500"/>
                <a:gridCol w="4000500"/>
              </a:tblGrid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Đã có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Chưa có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Dữ liệu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Danh sách 11 lớp và split counts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Manifest V3 chỉ gồm 11 lớp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 checkpoint 19 đầu 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 checkpoint 11 đầu 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Kết quả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Sensitivity analysis 9.376 ảnh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Final test chính thức 11 lớp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Triển khai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Tham số đầu 11 lớp dự kiến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Latency/RAM/năng lượng trên mobile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Bài báo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Kết luận sơ bộ về thứ hạng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Kết luận cuối và kiểm định đã chốt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5">
            <a:extLst xmlns:a="http://schemas.openxmlformats.org/drawingml/2006/main"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Đánh giá 11 lớp sau khi train lại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flow-line-0">
            <a:extLst xmlns:a="http://schemas.openxmlformats.org/drawingml/2006/main"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line-2">
            <a:extLst xmlns:a="http://schemas.openxmlformats.org/drawingml/2006/main"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line-3">
            <a:extLst xmlns:a="http://schemas.openxmlformats.org/drawingml/2006/main"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um-0">
            <a:extLst xmlns:a="http://schemas.openxmlformats.org/drawingml/2006/main"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KHÓA MANIFEST</a:t>
            </a:r>
          </a:p>
        </p:txBody>
      </p:sp>
      <p:sp>
        <p:nvSpPr>
          <p:cNvPr id="11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lớp; SHA-256; cố định split.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 18 RUN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6 backbone × 3 seed; cùng recipe.</a:t>
            </a:r>
          </a:p>
        </p:txBody>
      </p:sp>
      <p:sp>
        <p:nvSpPr>
          <p:cNvPr id="1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num-2">
            <a:extLst xmlns:a="http://schemas.openxmlformats.org/drawingml/2006/main"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CHỌN BẰNG VAL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Best validation Macro-F1, không nhìn test.</a:t>
            </a:r>
          </a:p>
        </p:txBody>
      </p:sp>
      <p:sp>
        <p:nvSpPr>
          <p:cNvPr id="2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num-3">
            <a:extLst xmlns:a="http://schemas.openxmlformats.org/drawingml/2006/main"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MỞ TEST 1 LẦN</a:t>
            </a:r>
          </a:p>
        </p:txBody>
      </p:sp>
      <p:sp>
        <p:nvSpPr>
          <p:cNvPr id="2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từng checkpoint trên 9.376 ảnh.</a:t>
            </a:r>
          </a:p>
        </p:txBody>
      </p:sp>
      <p:sp>
        <p:nvSpPr>
          <p:cNvPr id="24" name="flow-node-4">
            <a:extLst xmlns:a="http://schemas.openxmlformats.org/drawingml/2006/main"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num-4">
            <a:extLst xmlns:a="http://schemas.openxmlformats.org/drawingml/2006/main"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BÁO CÁO</a:t>
            </a:r>
          </a:p>
        </p:txBody>
      </p:sp>
      <p:sp>
        <p:nvSpPr>
          <p:cNvPr id="2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± SD, từng lớp, bootstrap và mobile benchmark.</a:t>
            </a:r>
          </a:p>
        </p:txBody>
      </p:sp>
      <p:sp>
        <p:nvSpPr>
          <p:cNvPr id="28" name="protocol-config">
            <a:extLst xmlns:a="http://schemas.openxmlformats.org/drawingml/2006/main"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Campaign mới phải tạo thư mục output riêng, không ghi đè runs/final_test_v2.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Các con số chuyển tiếp hiện tại chỉ dùng làm mốc kiểm tra hợp lý.</a:t>
            </a:r>
          </a:p>
        </p:txBody>
      </p:sp>
      <p:sp>
        <p:nvSpPr>
          <p:cNvPr id="29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rotocol-lock">
            <a:extLst xmlns:a="http://schemas.openxmlformats.org/drawingml/2006/main"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Không chọn lớp, siêu tham số hoặc mô hình sau khi xem test mới.</a:t>
            </a: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Thước đo so sánh với C = 11 lớp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 = 9.376 trong phân tích chuyển tiếp. Macro-F1 không phải F1 tính từ Macro-P và Macro-R.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4000500"/>
              </a:tblGrid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Chỉ số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thức / cách tính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Σ TPc / 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Chỉ số bổ sung; dễ bị lớp lớn chi phối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Precision_c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FPc)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đúng của dự đoán lớp 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Recall_c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FNc)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Khả năng tìm đủ ảnh lớp c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F1_c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2PR / (P + R)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Cân bằng precision và recall lớp 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(1/11) Σ F1_c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Tiêu chí xếp hạng chính; mỗi lớp trọng số bằng nhau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6">
            <a:extLst xmlns:a="http://schemas.openxmlformats.org/drawingml/2006/main">
              <a:ext uri="{FF2B5EF4-FFF2-40B4-BE49-F238E27FC236}">
                <a16:creationId xmlns:a16="http://schemas.microsoft.com/office/drawing/2014/main" id="{96E14A23-0A52-4EF1-9AD1-56051477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bất định: SD qua seed và paired bootstrap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03E3599-F1EE-4269-BEA2-219C0A5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C26CE9D2-F4A4-42BE-B121-C8E729A1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macro-formula">
            <a:extLst xmlns:a="http://schemas.openxmlformats.org/drawingml/2006/main">
              <a:ext uri="{FF2B5EF4-FFF2-40B4-BE49-F238E27FC236}">
                <a16:creationId xmlns:a16="http://schemas.microsoft.com/office/drawing/2014/main" id="{F3888F8C-0B11-4FF3-815C-C8ADAA9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61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Mean ± sample SD: ba lần train</a:t>
            </a:r>
          </a:p>
        </p:txBody>
      </p:sp>
      <p:sp>
        <p:nvSpPr>
          <p:cNvPr id="5" name="macro-desc">
            <a:extLst xmlns:a="http://schemas.openxmlformats.org/drawingml/2006/main">
              <a:ext uri="{FF2B5EF4-FFF2-40B4-BE49-F238E27FC236}">
                <a16:creationId xmlns:a16="http://schemas.microsoft.com/office/drawing/2014/main" id="{6DAEDAC0-E61C-468A-9B78-908B6706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05075"/>
            <a:ext cx="5524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mô tả mức trung tâm; SD mẫu mô tả dao động giữa seed 42/123/2026.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Ba seed vẫn ít, không gọi mean ± SD là khoảng tin cậy 95%.</a:t>
            </a:r>
          </a:p>
        </p:txBody>
      </p:sp>
      <p:sp>
        <p:nvSpPr>
          <p:cNvPr id="6" name="metric-separator">
            <a:extLst xmlns:a="http://schemas.openxmlformats.org/drawingml/2006/main">
              <a:ext uri="{FF2B5EF4-FFF2-40B4-BE49-F238E27FC236}">
                <a16:creationId xmlns:a16="http://schemas.microsoft.com/office/drawing/2014/main" id="{C4DDB1E3-1010-4318-8ABC-83051683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h-0">
            <a:extLst xmlns:a="http://schemas.openxmlformats.org/drawingml/2006/main">
              <a:ext uri="{FF2B5EF4-FFF2-40B4-BE49-F238E27FC236}">
                <a16:creationId xmlns:a16="http://schemas.microsoft.com/office/drawing/2014/main" id="{5F451F6D-B4E2-48FC-87C2-52DB0D92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Lấy mẫu cặp</a:t>
            </a:r>
          </a:p>
        </p:txBody>
      </p:sp>
      <p:sp>
        <p:nvSpPr>
          <p:cNvPr id="8" name="metric-b-0">
            <a:extLst xmlns:a="http://schemas.openxmlformats.org/drawingml/2006/main">
              <a:ext uri="{FF2B5EF4-FFF2-40B4-BE49-F238E27FC236}">
                <a16:creationId xmlns:a16="http://schemas.microsoft.com/office/drawing/2014/main" id="{3D6E8497-CCFF-4576-AC23-9DE00F48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mô hình dùng cùng ảnh resample.</a:t>
            </a:r>
          </a:p>
        </p:txBody>
      </p:sp>
      <p:sp>
        <p:nvSpPr>
          <p:cNvPr id="9" name="metric-h-1">
            <a:extLst xmlns:a="http://schemas.openxmlformats.org/drawingml/2006/main">
              <a:ext uri="{FF2B5EF4-FFF2-40B4-BE49-F238E27FC236}">
                <a16:creationId xmlns:a16="http://schemas.microsoft.com/office/drawing/2014/main" id="{93DCD0E7-CC31-4DCC-A325-1D3DDB94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2.000 lần</a:t>
            </a:r>
          </a:p>
        </p:txBody>
      </p:sp>
      <p:sp>
        <p:nvSpPr>
          <p:cNvPr id="10" name="metric-b-1">
            <a:extLst xmlns:a="http://schemas.openxmlformats.org/drawingml/2006/main">
              <a:ext uri="{FF2B5EF4-FFF2-40B4-BE49-F238E27FC236}">
                <a16:creationId xmlns:a16="http://schemas.microsoft.com/office/drawing/2014/main" id="{2AE959E7-2A09-46E7-949B-91DEDFC3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Tính Δ Macro-F1 từng lần.</a:t>
            </a:r>
          </a:p>
        </p:txBody>
      </p:sp>
      <p:sp>
        <p:nvSpPr>
          <p:cNvPr id="11" name="metric-h-2">
            <a:extLst xmlns:a="http://schemas.openxmlformats.org/drawingml/2006/main">
              <a:ext uri="{FF2B5EF4-FFF2-40B4-BE49-F238E27FC236}">
                <a16:creationId xmlns:a16="http://schemas.microsoft.com/office/drawing/2014/main" id="{71A16988-B3D3-47D2-9D48-8D21C7BA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290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CI 95%</a:t>
            </a:r>
          </a:p>
        </p:txBody>
      </p:sp>
      <p:sp>
        <p:nvSpPr>
          <p:cNvPr id="12" name="metric-b-2">
            <a:extLst xmlns:a="http://schemas.openxmlformats.org/drawingml/2006/main">
              <a:ext uri="{FF2B5EF4-FFF2-40B4-BE49-F238E27FC236}">
                <a16:creationId xmlns:a16="http://schemas.microsoft.com/office/drawing/2014/main" id="{660E03A3-2B0F-49B4-A81D-3EE4AC8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Percentile 2,5%–97,5%.</a:t>
            </a:r>
          </a:p>
        </p:txBody>
      </p:sp>
      <p:sp>
        <p:nvSpPr>
          <p:cNvPr id="13" name="metric-h-3">
            <a:extLst xmlns:a="http://schemas.openxmlformats.org/drawingml/2006/main">
              <a:ext uri="{FF2B5EF4-FFF2-40B4-BE49-F238E27FC236}">
                <a16:creationId xmlns:a16="http://schemas.microsoft.com/office/drawing/2014/main" id="{33563656-2291-485E-9CBB-E5954816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Giới hạn</a:t>
            </a:r>
          </a:p>
        </p:txBody>
      </p:sp>
      <p:sp>
        <p:nvSpPr>
          <p:cNvPr id="14" name="metric-b-3">
            <a:extLst xmlns:a="http://schemas.openxmlformats.org/drawingml/2006/main">
              <a:ext uri="{FF2B5EF4-FFF2-40B4-BE49-F238E27FC236}">
                <a16:creationId xmlns:a16="http://schemas.microsoft.com/office/drawing/2014/main" id="{DE82B339-4412-48CD-B78E-B82A3D9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Checkpoint cố định; chưa gộp biến thiên train.</a:t>
            </a:r>
          </a:p>
        </p:txBody>
      </p:sp>
      <p:sp>
        <p:nvSpPr>
          <p:cNvPr id="15" name="metric-warning">
            <a:extLst xmlns:a="http://schemas.openxmlformats.org/drawingml/2006/main">
              <a:ext uri="{FF2B5EF4-FFF2-40B4-BE49-F238E27FC236}">
                <a16:creationId xmlns:a16="http://schemas.microsoft.com/office/drawing/2014/main" id="{3AFEDA18-8AEE-4858-80D9-7FCDA08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81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warning-text">
            <a:extLst xmlns:a="http://schemas.openxmlformats.org/drawingml/2006/main">
              <a:ext uri="{FF2B5EF4-FFF2-40B4-BE49-F238E27FC236}">
                <a16:creationId xmlns:a16="http://schemas.microsoft.com/office/drawing/2014/main" id="{E60BA53E-7D9B-44C5-80BA-10B47B02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CI chứa 0: chưa có bằng chứng tách biệt rõ trong phép so sánh và seed đó.</a:t>
            </a:r>
          </a:p>
        </p:txBody>
      </p:sp>
    </p:spTree>
    <p:extLst>
      <p:ext uri="{BB962C8B-B14F-4D97-AF65-F5344CB8AC3E}">
        <p14:creationId xmlns:p14="http://schemas.microsoft.com/office/powerpoint/2010/main" val="6631504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7">
            <a:extLst xmlns:a="http://schemas.openxmlformats.org/drawingml/2006/main">
              <a:ext uri="{FF2B5EF4-FFF2-40B4-BE49-F238E27FC236}">
                <a16:creationId xmlns:a16="http://schemas.microsoft.com/office/drawing/2014/main" id="{2F68A621-E262-45DC-996E-1F9213AE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dẫn đầu Macro-F1 chuyển tiếp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1D371C98-60FA-435C-8EE4-4383C67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9E4222E4-E1F1-498F-B414-ADC2D08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733425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b3428354714d28"/>
          </a:graphicData>
        </a:graphic>
      </p:graphicFrame>
      <p:sp>
        <p:nvSpPr>
          <p:cNvPr id="5" name="winner-panel">
            <a:extLst xmlns:a="http://schemas.openxmlformats.org/drawingml/2006/main">
              <a:ext uri="{FF2B5EF4-FFF2-40B4-BE49-F238E27FC236}">
                <a16:creationId xmlns:a16="http://schemas.microsoft.com/office/drawing/2014/main" id="{91AFFC93-0C8D-4DAD-B964-3853599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inner-label">
            <a:extLst xmlns:a="http://schemas.openxmlformats.org/drawingml/2006/main">
              <a:ext uri="{FF2B5EF4-FFF2-40B4-BE49-F238E27FC236}">
                <a16:creationId xmlns:a16="http://schemas.microsoft.com/office/drawing/2014/main" id="{C4730370-8013-4352-9FF4-FD256F3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MEAN ± SD</a:t>
            </a:r>
          </a:p>
        </p:txBody>
      </p:sp>
      <p:sp>
        <p:nvSpPr>
          <p:cNvPr id="7" name="winner-value">
            <a:extLst xmlns:a="http://schemas.openxmlformats.org/drawingml/2006/main">
              <a:ext uri="{FF2B5EF4-FFF2-40B4-BE49-F238E27FC236}">
                <a16:creationId xmlns:a16="http://schemas.microsoft.com/office/drawing/2014/main" id="{86DCCA80-BD1C-490A-9A5C-FBEB390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81225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97,76%</a:t>
            </a:r>
          </a:p>
        </p:txBody>
      </p:sp>
      <p:sp>
        <p:nvSpPr>
          <p:cNvPr id="8" name="winner-name">
            <a:extLst xmlns:a="http://schemas.openxmlformats.org/drawingml/2006/main">
              <a:ext uri="{FF2B5EF4-FFF2-40B4-BE49-F238E27FC236}">
                <a16:creationId xmlns:a16="http://schemas.microsoft.com/office/drawing/2014/main" id="{3E0C195A-9CCB-4ED7-9E05-BCAD047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F855A"/>
                </a:solidFill>
                <a:latin typeface="Arial"/>
                <a:ea typeface="Arial"/>
                <a:cs typeface="Arial"/>
              </a:rPr>
              <a:t>SD = 0,064 điểm %</a:t>
            </a:r>
          </a:p>
        </p:txBody>
      </p:sp>
      <p:sp>
        <p:nvSpPr>
          <p:cNvPr id="9" name="overall-gap">
            <a:extLst xmlns:a="http://schemas.openxmlformats.org/drawingml/2006/main">
              <a:ext uri="{FF2B5EF4-FFF2-40B4-BE49-F238E27FC236}">
                <a16:creationId xmlns:a16="http://schemas.microsoft.com/office/drawing/2014/main" id="{7A6F7D83-9ED0-4F41-BB30-F98E7E0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14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V3-Large: 97,32%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Chênh lệch B0 − V3: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+0,441 điểm %</a:t>
            </a:r>
          </a:p>
        </p:txBody>
      </p:sp>
      <p:sp>
        <p:nvSpPr>
          <p:cNvPr id="10" name="axis-note">
            <a:extLst xmlns:a="http://schemas.openxmlformats.org/drawingml/2006/main">
              <a:ext uri="{FF2B5EF4-FFF2-40B4-BE49-F238E27FC236}">
                <a16:creationId xmlns:a16="http://schemas.microsoft.com/office/drawing/2014/main" id="{4BBBFF0D-168E-46A6-89D7-F92D0E21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Thanh bắt đầu từ 0%.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Đây là điểm test nội bộ, không phải độ chính xác thực địa.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E7AFB-C967-47B1-8B55-10F91BCC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D8C8E-B006-4516-94E7-C5C59CD0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95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F855A"/>
            </a:solidFill>
          </a:ln>
        </p:spPr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666750" y="1362075"/>
          <a:ext xmlns:a="http://schemas.openxmlformats.org/drawingml/2006/main" cx="10572750" cy="38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Lưu ý: checkpoint 19 đầu ra; đây chưa phải kết quả của classifier 11 đầu ra.</a:t>
                      </a:r>
                    </a:p>
                  </a:txBody>
                  <a:tcPr marL="91440" marR="91440" marT="45720" marB="45720" anchor="ctr">
                    <a:solidFill>
                      <a:srgbClr val="EAF6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00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543e4a904747ce"/>
          </a:graphicData>
        </a:graphic>
      </p:graphicFrame>
    </p:spTree>
    <p:extLst>
      <p:ext uri="{BB962C8B-B14F-4D97-AF65-F5344CB8AC3E}">
        <p14:creationId xmlns:p14="http://schemas.microsoft.com/office/powerpoint/2010/main" val="8157861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quả tổng thể trên 9.376 ảnh của 11 lớp</a:t>
            </a:r>
          </a:p>
        </p:txBody>
      </p:sp>
      <p:sp>
        <p:nvSpPr>
          <p:cNvPr id="2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resource-insight">
            <a:extLst xmlns:a="http://schemas.openxmlformats.org/drawingml/2006/main"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B0 đứng đầu mean Macro-F1 97,994%; V3-Large đứng thứ hai 97,585%.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Thứ hạng sáu mô hình không đổi so với phân tích 19 lớp.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19300"/>
                <a:gridCol w="2019300"/>
                <a:gridCol w="2019300"/>
                <a:gridCol w="203835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± SD (%)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Macro-R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99,335 ± 0,048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98,288 ± 0,195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97,717 ± 0,146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 ± 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99,189 ± 0,046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97,985 ± 0,079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97,219 ± 0,110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 ± 0,070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98,941 ± 0,386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97,576 ± 0,837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96,917 ± 1,031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 ± 0,941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98,948 ± 0,137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97,630 ± 0,320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96,711 ± 0,349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 ± 0,316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98,617 ± 0,374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96,790 ± 0,828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95,719 ± 1,110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 ± 0,981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96,551 ± 0,838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93,074 ± 1,401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90,312 ± 2,041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 ± 1,771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4589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8">
            <a:extLst xmlns:a="http://schemas.openxmlformats.org/drawingml/2006/main">
              <a:ext uri="{FF2B5EF4-FFF2-40B4-BE49-F238E27FC236}">
                <a16:creationId xmlns:a16="http://schemas.microsoft.com/office/drawing/2014/main" id="{1C597C3A-AA3D-48C1-88A3-B3FA6D03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 Macro-F1 qua ba seed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3735F3D6-BCD0-4EBC-97DE-D3418EE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6AC4793F-CB2D-4903-B7DD-D4C4FC75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stable-head">
            <a:extLst xmlns:a="http://schemas.openxmlformats.org/drawingml/2006/main">
              <a:ext uri="{FF2B5EF4-FFF2-40B4-BE49-F238E27FC236}">
                <a16:creationId xmlns:a16="http://schemas.microsoft.com/office/drawing/2014/main" id="{8A349C82-EDE3-4D9E-92A7-55717BCF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SD nhỏ nhất</a:t>
            </a:r>
          </a:p>
        </p:txBody>
      </p:sp>
      <p:sp>
        <p:nvSpPr>
          <p:cNvPr id="6" name="stable-value">
            <a:extLst xmlns:a="http://schemas.openxmlformats.org/drawingml/2006/main">
              <a:ext uri="{FF2B5EF4-FFF2-40B4-BE49-F238E27FC236}">
                <a16:creationId xmlns:a16="http://schemas.microsoft.com/office/drawing/2014/main" id="{4F9F4B29-FBB4-4D1C-9799-AE8257D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0,064 điểm %</a:t>
            </a:r>
          </a:p>
        </p:txBody>
      </p:sp>
      <p:sp>
        <p:nvSpPr>
          <p:cNvPr id="7" name="stable-body">
            <a:extLst xmlns:a="http://schemas.openxmlformats.org/drawingml/2006/main">
              <a:ext uri="{FF2B5EF4-FFF2-40B4-BE49-F238E27FC236}">
                <a16:creationId xmlns:a16="http://schemas.microsoft.com/office/drawing/2014/main" id="{42F607AF-21D1-4BE5-89A8-EFEED79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527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EfficientNet-B0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Cao nhất cả 3 seed.</a:t>
            </a:r>
          </a:p>
        </p:txBody>
      </p:sp>
      <p:sp>
        <p:nvSpPr>
          <p:cNvPr id="8" name="unstable-head">
            <a:extLst xmlns:a="http://schemas.openxmlformats.org/drawingml/2006/main">
              <a:ext uri="{FF2B5EF4-FFF2-40B4-BE49-F238E27FC236}">
                <a16:creationId xmlns:a16="http://schemas.microsoft.com/office/drawing/2014/main" id="{163DA5F6-DDF9-4CCD-990C-1208751C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05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64B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64B46"/>
                </a:solidFill>
                <a:latin typeface="Arial"/>
                <a:ea typeface="Arial"/>
                <a:cs typeface="Arial"/>
              </a:rPr>
              <a:t>SD lớn nhất</a:t>
            </a:r>
          </a:p>
        </p:txBody>
      </p:sp>
      <p:sp>
        <p:nvSpPr>
          <p:cNvPr id="9" name="unstable-value">
            <a:extLst xmlns:a="http://schemas.openxmlformats.org/drawingml/2006/main">
              <a:ext uri="{FF2B5EF4-FFF2-40B4-BE49-F238E27FC236}">
                <a16:creationId xmlns:a16="http://schemas.microsoft.com/office/drawing/2014/main" id="{4FFB0D62-D52A-4E84-9C11-2659262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81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1,691 điểm %</a:t>
            </a:r>
          </a:p>
        </p:txBody>
      </p:sp>
      <p:sp>
        <p:nvSpPr>
          <p:cNvPr id="10" name="unstable-body">
            <a:extLst xmlns:a="http://schemas.openxmlformats.org/drawingml/2006/main">
              <a:ext uri="{FF2B5EF4-FFF2-40B4-BE49-F238E27FC236}">
                <a16:creationId xmlns:a16="http://schemas.microsoft.com/office/drawing/2014/main" id="{377148ED-4FEE-4FB8-8064-9E1324B0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911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V2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Dao động nhiều hơn.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7905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1571625"/>
                <a:gridCol w="1571625"/>
                <a:gridCol w="1571625"/>
              </a:tblGrid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(%)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97,78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97,69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97,82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97,06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97,59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95,84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96,99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96,60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92,70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89,32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D98C6-4531-42A8-8E66-487C1459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09625" y="1524000"/>
          <a:ext xmlns:a="http://schemas.openxmlformats.org/drawingml/2006/main" cx="10287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c954281c4c4039"/>
          </a:graphicData>
        </a:graphic>
      </p:graphicFrame>
    </p:spTree>
    <p:extLst>
      <p:ext uri="{BB962C8B-B14F-4D97-AF65-F5344CB8AC3E}">
        <p14:creationId xmlns:p14="http://schemas.microsoft.com/office/powerpoint/2010/main" val="8884193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sáu lớp đầu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9BA0E-E797-4899-BA5A-F241B196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371600"/>
                <a:gridCol w="1371600"/>
                <a:gridCol w="1371600"/>
                <a:gridCol w="1371600"/>
                <a:gridCol w="1371600"/>
                <a:gridCol w="1381125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 (270)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 (251)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 (2786)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 (330)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 (215)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 (122)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Đơn vị: %, mean F1 lớp qua ba seed. Mỗi cột mô hình dùng đúng cùng ảnh test.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A91A3-F717-4653-AF66-7E5E5370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143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năm lớp còn lại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2D408-8B1D-4D27-8AF7-1FFAD2E6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1095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371600"/>
                <a:gridCol w="1371600"/>
                <a:gridCol w="1371600"/>
                <a:gridCol w="1371600"/>
                <a:gridCol w="1371600"/>
                <a:gridCol w="1381125"/>
              </a:tblGrid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 (1764)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 (263)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 (2973)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 (163)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 (239)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19125" y="53816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Các lớp lớn gần bão hòa; Tungro và cỏ dại phân hóa mô hình rõ hơn.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CE76B-0664-4188-AB50-7F8A038C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143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8CF66D40-498E-4AA9-9A44-E7B99DA8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Lớp khó nhất cho thấy khoảng cách giữa các backbone</a:t>
            </a:r>
          </a:p>
        </p:txBody>
      </p:sp>
      <p:sp>
        <p:nvSpPr>
          <p:cNvPr id="2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922FE490-3233-4692-BA70-3690BE3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E0B54F9D-451E-4D39-93DC-A5F1D9FA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class-callout-title">
            <a:extLst xmlns:a="http://schemas.openxmlformats.org/drawingml/2006/main">
              <a:ext uri="{FF2B5EF4-FFF2-40B4-BE49-F238E27FC236}">
                <a16:creationId xmlns:a16="http://schemas.microsoft.com/office/drawing/2014/main" id="{E917EE6A-8DA4-4BAB-9D3D-D99D2273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71625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Đọc theo từng lớp</a:t>
            </a:r>
          </a:p>
        </p:txBody>
      </p:sp>
      <p:sp>
        <p:nvSpPr>
          <p:cNvPr id="6" name="class-callout">
            <a:extLst xmlns:a="http://schemas.openxmlformats.org/drawingml/2006/main">
              <a:ext uri="{FF2B5EF4-FFF2-40B4-BE49-F238E27FC236}">
                <a16:creationId xmlns:a16="http://schemas.microsoft.com/office/drawing/2014/main" id="{038B23F7-0713-464A-8DCE-7DC92611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5742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Sương mai: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92,9% • V3 91,9%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Sọc lá vi khuẩn: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71,2%</a:t>
            </a:r>
          </a:p>
        </p:txBody>
      </p:sp>
      <p:sp>
        <p:nvSpPr>
          <p:cNvPr id="7" name="class-small">
            <a:extLst xmlns:a="http://schemas.openxmlformats.org/drawingml/2006/main">
              <a:ext uri="{FF2B5EF4-FFF2-40B4-BE49-F238E27FC236}">
                <a16:creationId xmlns:a16="http://schemas.microsoft.com/office/drawing/2014/main" id="{B940AFDE-1B3F-4F7F-ABA2-9345C1B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524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ass-small-text">
            <a:extLst xmlns:a="http://schemas.openxmlformats.org/drawingml/2006/main">
              <a:ext uri="{FF2B5EF4-FFF2-40B4-BE49-F238E27FC236}">
                <a16:creationId xmlns:a16="http://schemas.microsoft.com/office/drawing/2014/main" id="{6D07E430-C17A-4630-8299-A55AFF40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05300"/>
            <a:ext cx="2266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n: số ảnh của lớp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F1: mean 3 seed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Đủ 19 lớp: phụ lục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37504-6DE3-4951-AADD-1CB4FF37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09537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952625"/>
                <a:gridCol w="1952625"/>
                <a:gridCol w="1952625"/>
                <a:gridCol w="1952625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"/>
          <p:cNvGraphicFramePr/>
          <p:nvPr/>
        </p:nvGraphicFramePr>
        <p:xfrm>
          <a:off xmlns:a="http://schemas.openxmlformats.org/drawingml/2006/main" x="619125" y="53816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ShuffleNet suy giảm rõ ở Tungro (76,7%) và cỏ dại (82,1%); bảng đầy đủ ở slide 20–21.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943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0">
            <a:extLst xmlns:a="http://schemas.openxmlformats.org/drawingml/2006/main">
              <a:ext uri="{FF2B5EF4-FFF2-40B4-BE49-F238E27FC236}">
                <a16:creationId xmlns:a16="http://schemas.microsoft.com/office/drawing/2014/main" id="{E10E2226-76B8-4DD1-8376-82F56B4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Thứ hạng giữ nguyên khi bỏ tám lớp support thấp</a:t>
            </a:r>
          </a:p>
        </p:txBody>
      </p:sp>
      <p:sp>
        <p:nvSpPr>
          <p:cNvPr id="2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A95F6E64-9507-43C0-B33C-36B3B02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7F77577C-2527-4653-A96B-60128AB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error-read-title">
            <a:extLst xmlns:a="http://schemas.openxmlformats.org/drawingml/2006/main">
              <a:ext uri="{FF2B5EF4-FFF2-40B4-BE49-F238E27FC236}">
                <a16:creationId xmlns:a16="http://schemas.microsoft.com/office/drawing/2014/main" id="{95142EA5-F43E-454F-B653-08333BBC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Cách đọc ví dụ</a:t>
            </a:r>
          </a:p>
        </p:txBody>
      </p:sp>
      <p:sp>
        <p:nvSpPr>
          <p:cNvPr id="6" name="error-read">
            <a:extLst xmlns:a="http://schemas.openxmlformats.org/drawingml/2006/main">
              <a:ext uri="{FF2B5EF4-FFF2-40B4-BE49-F238E27FC236}">
                <a16:creationId xmlns:a16="http://schemas.microsoft.com/office/drawing/2014/main" id="{BB020F84-6BB3-4E28-AC1E-053A007B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Leaf smut → bạc lá:</a:t>
            </a:r>
          </a:p>
          <a:p xmlns:a="http://schemas.openxmlformats.org/drawingml/2006/main">
            <a:pPr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 lượt nhầm / (21 ảnh × 3 seed) = 4,76%.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Cùng 21 ảnh được đánh giá bởi 3 mô hình đã train.</a:t>
            </a:r>
          </a:p>
        </p:txBody>
      </p:sp>
      <p:sp>
        <p:nvSpPr>
          <p:cNvPr id="7" name="error-example">
            <a:extLst xmlns:a="http://schemas.openxmlformats.org/drawingml/2006/main">
              <a:ext uri="{FF2B5EF4-FFF2-40B4-BE49-F238E27FC236}">
                <a16:creationId xmlns:a16="http://schemas.microsoft.com/office/drawing/2014/main" id="{1C73C4A9-987A-4C42-9B9F-BF38A8D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rror-example-text">
            <a:extLst xmlns:a="http://schemas.openxmlformats.org/drawingml/2006/main">
              <a:ext uri="{FF2B5EF4-FFF2-40B4-BE49-F238E27FC236}">
                <a16:creationId xmlns:a16="http://schemas.microsoft.com/office/drawing/2014/main" id="{7E0AF6CA-A544-4883-ADAB-84B29094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958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 coi 63 lượt dự đoán là 63 ảnh độc lập.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5D4E2-963F-4423-8884-23C02659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2667000"/>
                <a:gridCol w="238125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19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Chuyển tiếp 11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Chênh lệch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+0,230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+0,262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96,878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+0,356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96,658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96,184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+0,043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+0,553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Điểm tăng do đổi phạm vi true-label; checkpoint không đổi và dự đoán sang nhãn bị loại vẫn tính sai.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3116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Paired bootstrap: V3-Large so với năm mô hình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điểm %. Δ dương nghiêng về V3. CI là percentile 95%, 2.000 lần resample theo ảnh.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2714625"/>
                <a:gridCol w="2714625"/>
                <a:gridCol w="2714625"/>
              </a:tblGrid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F1: V3 − đối chiếu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-0,209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[-0,835; 0,412]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-0,636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[-1,220; -0,074]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-0,382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[-0,970; 0,189]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-0,136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[-0,741; 0,492]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-0,212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[-0,851; 0,418]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1,403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[0,737; 2,124]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0,555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[-0,083; 1,208]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[0,071; 1,332]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0,049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[-0,565; 0,676]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0,771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[0,099; 1,458]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2,438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[1,654; 3,227]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0,865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[0,189; 1,570]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4,272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[3,417; 5,152]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6,232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[5,249; 7,222]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7,681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[6,729; 8,723]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Hai mô hình dẫn đầu: B0 và V3-Large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Chênh lệch nhỏ về mean nhưng không đồng nhất qua từng seed.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97,994 ± 0,159%; hạng 1. Điểm từng seed: 97,875 / 98,175 / 97,933.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97,585 ± 0,070%; hạng 2, thấp hơn B0 0,409 điểm % theo mean.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Bootstrap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V3−B0: CI chứa 0 ở seed 42 và 2026; hoàn toàn âm ở seed 123. Không tuyên bố B0 vượt trội thống kê toàn cục.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B0 là mốc chất lượng; V3-Large vẫn đáng ưu tiên khi mục tiêu cuối là mobile.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 và DenseNet-121: hạng giữa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kiến trúc đạt chất lượng cao nhưng không có lợi thế rõ về quy mô.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97,234 ± 0,941%; SD lớn hơn DenseNet do seed 2026 giảm còn 96,148%.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97,163 ± 0,316%; ổn định hơn ResNet trong sensitivity analysis.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Quy mô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Đầu 11 lớp dự kiến: ResNet 11,182M; DenseNet 6,965M.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Chưa có paired bootstrap trực tiếp ResNet–DenseNet; thứ hạng 3–4 chỉ mang tính mô tả.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 và ShuffleNet: độ gọn đổi lấy chất lượng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baseline nhẹ giúp nhìn rõ đường biên triển khai.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96,227 ± 0,981%; V3-Large hơn 1,358 điểm % theo mean.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91,524 ± 1,771%; SD lớn nhất và giảm liên tục từ seed 42 đến 2026.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Triển khai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nhỏ nhất 1,265M tham số dự kiến, nhưng chất lượng lớp Tungro và cỏ dại giảm mạnh.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Không chọn mô hình chỉ vì nhỏ nhất; cần ngưỡng chất lượng tối thiểu và benchmark mobile thật.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 chuyển tiếp và số tham số dự kiến</a:t>
            </a:r>
          </a:p>
        </p:txBody>
      </p:sp>
      <p:sp>
        <p:nvSpPr>
          <p:cNvPr id="2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resource-insight">
            <a:extLst xmlns:a="http://schemas.openxmlformats.org/drawingml/2006/main"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nhỏ nhất nhưng Macro-F1 thấp nhất.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Chưa đo độ trễ, RAM hoặc năng lượng trên điện thoại.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FD4A8-64F4-49FE-B07F-91D69BCB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2571750"/>
                <a:gridCol w="2000250"/>
                <a:gridCol w="2762250"/>
              </a:tblGrid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mean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Tham số 11 đầu ra*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4,022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0,070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4,216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0,941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11,182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0,316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6,965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0,981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2,238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1,771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1,265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*Tham số là phép tính cấu trúc; chưa có checkpoint, thời gian train hoặc latency chính thức của 11 lớp.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3B844-9A46-46E7-B04D-B2A90F7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150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10824589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3">
            <a:extLst xmlns:a="http://schemas.openxmlformats.org/drawingml/2006/main">
              <a:ext uri="{FF2B5EF4-FFF2-40B4-BE49-F238E27FC236}">
                <a16:creationId xmlns:a16="http://schemas.microsoft.com/office/drawing/2014/main" id="{91B1FC95-FEC2-4E8A-8CCC-1C087915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Kiểm toán phép tính và provenance</a:t>
            </a:r>
          </a:p>
        </p:txBody>
      </p:sp>
      <p:sp>
        <p:nvSpPr>
          <p:cNvPr id="2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3EFD848A-6809-415A-ACBE-0773DB59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09273645-C816-449B-8BF9-B8EE5C4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high-score">
            <a:extLst xmlns:a="http://schemas.openxmlformats.org/drawingml/2006/main">
              <a:ext uri="{FF2B5EF4-FFF2-40B4-BE49-F238E27FC236}">
                <a16:creationId xmlns:a16="http://schemas.microsoft.com/office/drawing/2014/main" id="{1E73B4F9-2DB7-4349-87C8-E22D411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18 / 18 file</a:t>
            </a:r>
          </a:p>
        </p:txBody>
      </p:sp>
      <p:sp>
        <p:nvSpPr>
          <p:cNvPr id="5" name="high-score-label">
            <a:extLst xmlns:a="http://schemas.openxmlformats.org/drawingml/2006/main">
              <a:ext uri="{FF2B5EF4-FFF2-40B4-BE49-F238E27FC236}">
                <a16:creationId xmlns:a16="http://schemas.microsoft.com/office/drawing/2014/main" id="{5250DC14-68C7-4F3D-B786-7FD98D8F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3905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 CSV × 9.376 hàng sau lọc; cùng danh sách ảnh.</a:t>
            </a:r>
          </a:p>
        </p:txBody>
      </p:sp>
      <p:sp>
        <p:nvSpPr>
          <p:cNvPr id="6" name="limit-rule">
            <a:extLst xmlns:a="http://schemas.openxmlformats.org/drawingml/2006/main">
              <a:ext uri="{FF2B5EF4-FFF2-40B4-BE49-F238E27FC236}">
                <a16:creationId xmlns:a16="http://schemas.microsoft.com/office/drawing/2014/main" id="{36087144-6432-4CA7-8BFE-9520860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imit-num-0">
            <a:extLst xmlns:a="http://schemas.openxmlformats.org/drawingml/2006/main">
              <a:ext uri="{FF2B5EF4-FFF2-40B4-BE49-F238E27FC236}">
                <a16:creationId xmlns:a16="http://schemas.microsoft.com/office/drawing/2014/main" id="{A10774EB-94E4-444B-A0AF-24126A2F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mit-title-0">
            <a:extLst xmlns:a="http://schemas.openxmlformats.org/drawingml/2006/main">
              <a:ext uri="{FF2B5EF4-FFF2-40B4-BE49-F238E27FC236}">
                <a16:creationId xmlns:a16="http://schemas.microsoft.com/office/drawing/2014/main" id="{3FE1F188-6A11-4AAD-B545-FBD95BD1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nhãn</a:t>
            </a:r>
          </a:p>
        </p:txBody>
      </p:sp>
      <p:sp>
        <p:nvSpPr>
          <p:cNvPr id="9" name="limit-body-0">
            <a:extLst xmlns:a="http://schemas.openxmlformats.org/drawingml/2006/main">
              <a:ext uri="{FF2B5EF4-FFF2-40B4-BE49-F238E27FC236}">
                <a16:creationId xmlns:a16="http://schemas.microsoft.com/office/drawing/2014/main" id="{DF347633-AC8E-4BB5-B0E4-9ABC4A3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true_label từ split V2; chỉ lọc theo danh sách 11 lớp.</a:t>
            </a:r>
          </a:p>
        </p:txBody>
      </p:sp>
      <p:sp>
        <p:nvSpPr>
          <p:cNvPr id="10" name="limit-num-1">
            <a:extLst xmlns:a="http://schemas.openxmlformats.org/drawingml/2006/main">
              <a:ext uri="{FF2B5EF4-FFF2-40B4-BE49-F238E27FC236}">
                <a16:creationId xmlns:a16="http://schemas.microsoft.com/office/drawing/2014/main" id="{5880ECD1-21EE-4972-AC18-21239A73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9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limit-title-1">
            <a:extLst xmlns:a="http://schemas.openxmlformats.org/drawingml/2006/main">
              <a:ext uri="{FF2B5EF4-FFF2-40B4-BE49-F238E27FC236}">
                <a16:creationId xmlns:a16="http://schemas.microsoft.com/office/drawing/2014/main" id="{160C83C0-B1D1-414B-8E15-BDEAF599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955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dự đoán</a:t>
            </a:r>
          </a:p>
        </p:txBody>
      </p:sp>
      <p:sp>
        <p:nvSpPr>
          <p:cNvPr id="12" name="limit-body-1">
            <a:extLst xmlns:a="http://schemas.openxmlformats.org/drawingml/2006/main">
              <a:ext uri="{FF2B5EF4-FFF2-40B4-BE49-F238E27FC236}">
                <a16:creationId xmlns:a16="http://schemas.microsoft.com/office/drawing/2014/main" id="{AAA64AFD-7FA0-4F45-9275-62877AE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predicted_label giữ nguyên từ classifier 19 đầu ra.</a:t>
            </a:r>
          </a:p>
        </p:txBody>
      </p:sp>
      <p:sp>
        <p:nvSpPr>
          <p:cNvPr id="13" name="limit-num-2">
            <a:extLst xmlns:a="http://schemas.openxmlformats.org/drawingml/2006/main">
              <a:ext uri="{FF2B5EF4-FFF2-40B4-BE49-F238E27FC236}">
                <a16:creationId xmlns:a16="http://schemas.microsoft.com/office/drawing/2014/main" id="{E5114A80-CA6F-4DBA-89E3-4FC61347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62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limit-title-2">
            <a:extLst xmlns:a="http://schemas.openxmlformats.org/drawingml/2006/main">
              <a:ext uri="{FF2B5EF4-FFF2-40B4-BE49-F238E27FC236}">
                <a16:creationId xmlns:a16="http://schemas.microsoft.com/office/drawing/2014/main" id="{9AF12744-88D0-48D1-A583-4C48806C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623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Phép tính</a:t>
            </a:r>
          </a:p>
        </p:txBody>
      </p:sp>
      <p:sp>
        <p:nvSpPr>
          <p:cNvPr id="15" name="limit-body-2">
            <a:extLst xmlns:a="http://schemas.openxmlformats.org/drawingml/2006/main">
              <a:ext uri="{FF2B5EF4-FFF2-40B4-BE49-F238E27FC236}">
                <a16:creationId xmlns:a16="http://schemas.microsoft.com/office/drawing/2014/main" id="{654393D0-6288-41F9-AA10-6262E6B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Tái lập Accuracy, Macro-P/R/F1, per-class, mean, sample SD và bootstrap.</a:t>
            </a:r>
          </a:p>
        </p:txBody>
      </p:sp>
      <p:sp>
        <p:nvSpPr>
          <p:cNvPr id="16" name="limit-num-3">
            <a:extLst xmlns:a="http://schemas.openxmlformats.org/drawingml/2006/main">
              <a:ext uri="{FF2B5EF4-FFF2-40B4-BE49-F238E27FC236}">
                <a16:creationId xmlns:a16="http://schemas.microsoft.com/office/drawing/2014/main" id="{5A9A4FAE-7E4D-4EA3-B595-268314B1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291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limit-title-3">
            <a:extLst xmlns:a="http://schemas.openxmlformats.org/drawingml/2006/main">
              <a:ext uri="{FF2B5EF4-FFF2-40B4-BE49-F238E27FC236}">
                <a16:creationId xmlns:a16="http://schemas.microsoft.com/office/drawing/2014/main" id="{2BE5482D-DDA4-4AC8-AF0D-AB3E60F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291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Tệp kết quả</a:t>
            </a:r>
          </a:p>
        </p:txBody>
      </p:sp>
      <p:sp>
        <p:nvSpPr>
          <p:cNvPr id="18" name="limit-body-3">
            <a:extLst xmlns:a="http://schemas.openxmlformats.org/drawingml/2006/main">
              <a:ext uri="{FF2B5EF4-FFF2-40B4-BE49-F238E27FC236}">
                <a16:creationId xmlns:a16="http://schemas.microsoft.com/office/drawing/2014/main" id="{9BC74C7A-17C1-4547-AF29-D31F8C01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recalculated_11class_metrics.json là nguồn số duy nhất cho Word, hình và PowerPoint.</a:t>
            </a:r>
          </a:p>
        </p:txBody>
      </p:sp>
      <p:sp>
        <p:nvSpPr>
          <p:cNvPr id="19" name="high-conclusion">
            <a:extLst xmlns:a="http://schemas.openxmlformats.org/drawingml/2006/main">
              <a:ext uri="{FF2B5EF4-FFF2-40B4-BE49-F238E27FC236}">
                <a16:creationId xmlns:a16="http://schemas.microsoft.com/office/drawing/2014/main" id="{19F101A9-9A9A-4D71-B840-DFD4C592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385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igh-conclusion-text">
            <a:extLst xmlns:a="http://schemas.openxmlformats.org/drawingml/2006/main">
              <a:ext uri="{FF2B5EF4-FFF2-40B4-BE49-F238E27FC236}">
                <a16:creationId xmlns:a16="http://schemas.microsoft.com/office/drawing/2014/main" id="{64DD71C4-6C58-496A-8351-A38E663E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3381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thay checkpoint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renormalize xác suất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xóa dữ liệu gốc</a:t>
            </a:r>
          </a:p>
        </p:txBody>
      </p:sp>
    </p:spTree>
    <p:extLst>
      <p:ext uri="{BB962C8B-B14F-4D97-AF65-F5344CB8AC3E}">
        <p14:creationId xmlns:p14="http://schemas.microsoft.com/office/powerpoint/2010/main" val="4833257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Giới hạn bắt buộc khi trình bày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Điểm cao không biến sensitivity analysis thành một thí nghiệm 11 lớp hoàn chỉnh.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Hậu kiểm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 được chốt sau campaign 19 lớp; có nguy cơ quyết định thiết kế chịu ảnh hưởng bởi kết quả đã xem.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Classifier vẫn có 19 logit; số liệu không phản ánh chính xác việc huấn luyện lại đầu 11 lớp và class weights mới.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Tổng quát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Dữ liệu mất cân bằng; chưa có external test, group split theo ruộng/cây/phiên chụp hay mobile benchmark.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Chỉ sau khi khóa protocol và train đủ 18 run 11 lớp mới được cập nhật kết luận chính thức.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4">
            <a:extLst xmlns:a="http://schemas.openxmlformats.org/drawingml/2006/main">
              <a:ext uri="{FF2B5EF4-FFF2-40B4-BE49-F238E27FC236}">
                <a16:creationId xmlns:a16="http://schemas.microsoft.com/office/drawing/2014/main" id="{5FDB4365-AB47-4A4B-9673-7A7036BB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luận sơ bộ và bước tiếp theo</a:t>
            </a:r>
          </a:p>
        </p:txBody>
      </p:sp>
      <p:sp>
        <p:nvSpPr>
          <p:cNvPr id="2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DD379C15-C89C-4FFC-9AFB-844BD68D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4">
            <a:extLst xmlns:a="http://schemas.openxmlformats.org/drawingml/2006/main">
              <a:ext uri="{FF2B5EF4-FFF2-40B4-BE49-F238E27FC236}">
                <a16:creationId xmlns:a16="http://schemas.microsoft.com/office/drawing/2014/main" id="{275C531F-FC6B-4598-8CE6-D44CE9AE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final-claim">
            <a:extLst xmlns:a="http://schemas.openxmlformats.org/drawingml/2006/main">
              <a:ext uri="{FF2B5EF4-FFF2-40B4-BE49-F238E27FC236}">
                <a16:creationId xmlns:a16="http://schemas.microsoft.com/office/drawing/2014/main" id="{1B671FD6-F5A9-41F0-A137-DAC2BC08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Thứ hạng ổn định; bằng chứng 11 lớp vẫn chưa hoàn tất.</a:t>
            </a:r>
          </a:p>
        </p:txBody>
      </p:sp>
      <p:sp>
        <p:nvSpPr>
          <p:cNvPr id="5" name="rec-label-0">
            <a:extLst xmlns:a="http://schemas.openxmlformats.org/drawingml/2006/main">
              <a:ext uri="{FF2B5EF4-FFF2-40B4-BE49-F238E27FC236}">
                <a16:creationId xmlns:a16="http://schemas.microsoft.com/office/drawing/2014/main" id="{5D9A0ACA-8BB3-46E9-88B3-8AC1CA3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6" name="rec-body-0">
            <a:extLst xmlns:a="http://schemas.openxmlformats.org/drawingml/2006/main">
              <a:ext uri="{FF2B5EF4-FFF2-40B4-BE49-F238E27FC236}">
                <a16:creationId xmlns:a16="http://schemas.microsoft.com/office/drawing/2014/main" id="{D85B99F4-B4FD-40B7-B12B-7EE39E6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dẫn đầu 97,994% Macro-F1; V3-Large thứ hai 97,585%; ShuffleNet thấp nhất 91,524%.</a:t>
            </a:r>
          </a:p>
        </p:txBody>
      </p:sp>
      <p:sp>
        <p:nvSpPr>
          <p:cNvPr id="7" name="rec-rule-0">
            <a:extLst xmlns:a="http://schemas.openxmlformats.org/drawingml/2006/main">
              <a:ext uri="{FF2B5EF4-FFF2-40B4-BE49-F238E27FC236}">
                <a16:creationId xmlns:a16="http://schemas.microsoft.com/office/drawing/2014/main" id="{F6B77484-81C7-4BE2-8E3A-D1822B45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-label-1">
            <a:extLst xmlns:a="http://schemas.openxmlformats.org/drawingml/2006/main">
              <a:ext uri="{FF2B5EF4-FFF2-40B4-BE49-F238E27FC236}">
                <a16:creationId xmlns:a16="http://schemas.microsoft.com/office/drawing/2014/main" id="{2EE58283-4101-4386-8A7C-3BE08599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Ý NGHĨA</a:t>
            </a:r>
          </a:p>
        </p:txBody>
      </p:sp>
      <p:sp>
        <p:nvSpPr>
          <p:cNvPr id="9" name="rec-body-1">
            <a:extLst xmlns:a="http://schemas.openxmlformats.org/drawingml/2006/main">
              <a:ext uri="{FF2B5EF4-FFF2-40B4-BE49-F238E27FC236}">
                <a16:creationId xmlns:a16="http://schemas.microsoft.com/office/drawing/2014/main" id="{C73C4BDE-562F-4D97-8548-77FB3FCF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76625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Loại tám true-label support thấp không làm đảo thứ hạng; kết luận backbone có độ bền mô tả trong sensitivity analysis.</a:t>
            </a:r>
          </a:p>
        </p:txBody>
      </p:sp>
      <p:sp>
        <p:nvSpPr>
          <p:cNvPr id="10" name="rec-rule-1">
            <a:extLst xmlns:a="http://schemas.openxmlformats.org/drawingml/2006/main">
              <a:ext uri="{FF2B5EF4-FFF2-40B4-BE49-F238E27FC236}">
                <a16:creationId xmlns:a16="http://schemas.microsoft.com/office/drawing/2014/main" id="{4BAA5F34-8230-44C2-8DE1-FD66627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3862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-label-2">
            <a:extLst xmlns:a="http://schemas.openxmlformats.org/drawingml/2006/main">
              <a:ext uri="{FF2B5EF4-FFF2-40B4-BE49-F238E27FC236}">
                <a16:creationId xmlns:a16="http://schemas.microsoft.com/office/drawing/2014/main" id="{7F9CF0F5-5E75-43D7-9C5D-3916720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TIẾP THEO</a:t>
            </a:r>
          </a:p>
        </p:txBody>
      </p:sp>
      <p:sp>
        <p:nvSpPr>
          <p:cNvPr id="12" name="rec-body-2">
            <a:extLst xmlns:a="http://schemas.openxmlformats.org/drawingml/2006/main">
              <a:ext uri="{FF2B5EF4-FFF2-40B4-BE49-F238E27FC236}">
                <a16:creationId xmlns:a16="http://schemas.microsoft.com/office/drawing/2014/main" id="{217D1F94-BDD3-4A28-B5C7-7058B780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Khóa manifest 11 lớp → train lại 6 mô hình × 3 seed → mở final test → benchmark mobile cùng thiết bị/runtime.</a:t>
            </a:r>
          </a:p>
        </p:txBody>
      </p:sp>
      <p:sp>
        <p:nvSpPr>
          <p:cNvPr id="13" name="rec-rule-2">
            <a:extLst xmlns:a="http://schemas.openxmlformats.org/drawingml/2006/main">
              <a:ext uri="{FF2B5EF4-FFF2-40B4-BE49-F238E27FC236}">
                <a16:creationId xmlns:a16="http://schemas.microsoft.com/office/drawing/2014/main" id="{ABE0F5C2-7B12-4CB1-B7CF-B223EDA2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inal-close">
            <a:extLst xmlns:a="http://schemas.openxmlformats.org/drawingml/2006/main">
              <a:ext uri="{FF2B5EF4-FFF2-40B4-BE49-F238E27FC236}">
                <a16:creationId xmlns:a16="http://schemas.microsoft.com/office/drawing/2014/main" id="{14B26AA6-943B-4958-A27F-9D3D1BAB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Không dùng số liệu chuyển tiếp làm kết quả cuối của bài báo 11 lớp.</a:t>
            </a:r>
          </a:p>
        </p:txBody>
      </p:sp>
    </p:spTree>
    <p:extLst>
      <p:ext uri="{BB962C8B-B14F-4D97-AF65-F5344CB8AC3E}">
        <p14:creationId xmlns:p14="http://schemas.microsoft.com/office/powerpoint/2010/main" val="2082982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2026-09-03T19:03:26.6180000Z</dcterms:created>
  <dcterms:modified xsi:type="dcterms:W3CDTF">2026-09-03T19:03:26.6180000Z</dcterms:modified>
</coreProperties>
</file>