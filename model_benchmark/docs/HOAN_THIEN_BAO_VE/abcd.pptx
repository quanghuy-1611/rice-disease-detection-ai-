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2697a776c045fc" /><Relationship Type="http://schemas.openxmlformats.org/officeDocument/2006/relationships/extended-properties" Target="/docProps/app.xml" Id="Rba0e88b0ae304036" /><Relationship Type="http://schemas.openxmlformats.org/officeDocument/2006/relationships/officeDocument" Target="/ppt/presentation.xml" Id="R48d44ace237144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13870c35a74b32"/>
  </p:sldMasterIdLst>
  <p:notesMasterIdLst>
    <p:notesMasterId xmlns:r="http://schemas.openxmlformats.org/officeDocument/2006/relationships" r:id="Rc8866693ecc04b96"/>
  </p:notesMasterIdLst>
  <p:sldIdLst>
    <p:sldId xmlns:r="http://schemas.openxmlformats.org/officeDocument/2006/relationships" id="256" r:id="Rfece22a2db504b31"/>
    <p:sldId xmlns:r="http://schemas.openxmlformats.org/officeDocument/2006/relationships" id="257" r:id="R9c3174377da343c2"/>
    <p:sldId xmlns:r="http://schemas.openxmlformats.org/officeDocument/2006/relationships" id="258" r:id="R8fa70c1f3db247e7"/>
    <p:sldId xmlns:r="http://schemas.openxmlformats.org/officeDocument/2006/relationships" id="259" r:id="Rbe56d3f1c40f45de"/>
    <p:sldId xmlns:r="http://schemas.openxmlformats.org/officeDocument/2006/relationships" id="260" r:id="Rd2e29b45f50046ab"/>
    <p:sldId xmlns:r="http://schemas.openxmlformats.org/officeDocument/2006/relationships" id="261" r:id="R6d921ba8fe8a4ae5"/>
    <p:sldId xmlns:r="http://schemas.openxmlformats.org/officeDocument/2006/relationships" id="262" r:id="R7a55be5c456643ff"/>
    <p:sldId xmlns:r="http://schemas.openxmlformats.org/officeDocument/2006/relationships" id="263" r:id="Rbf4e18685bfc4cca"/>
    <p:sldId xmlns:r="http://schemas.openxmlformats.org/officeDocument/2006/relationships" id="264" r:id="Re09aca536e1545a9"/>
    <p:sldId xmlns:r="http://schemas.openxmlformats.org/officeDocument/2006/relationships" id="265" r:id="R1c7951f99dcc4298"/>
    <p:sldId xmlns:r="http://schemas.openxmlformats.org/officeDocument/2006/relationships" id="266" r:id="R0c8380299eab4234"/>
    <p:sldId xmlns:r="http://schemas.openxmlformats.org/officeDocument/2006/relationships" id="267" r:id="R1960413581d549e3"/>
    <p:sldId xmlns:r="http://schemas.openxmlformats.org/officeDocument/2006/relationships" id="268" r:id="R31143658fff242c3"/>
    <p:sldId xmlns:r="http://schemas.openxmlformats.org/officeDocument/2006/relationships" id="269" r:id="R2180013f8e904b38"/>
    <p:sldId xmlns:r="http://schemas.openxmlformats.org/officeDocument/2006/relationships" id="270" r:id="R471e459dd44b431b"/>
    <p:sldId xmlns:r="http://schemas.openxmlformats.org/officeDocument/2006/relationships" id="271" r:id="Rfd81b11b8dfb4d31"/>
    <p:sldId xmlns:r="http://schemas.openxmlformats.org/officeDocument/2006/relationships" id="272" r:id="Rfdbbe65eee17420f"/>
    <p:sldId xmlns:r="http://schemas.openxmlformats.org/officeDocument/2006/relationships" id="273" r:id="Ra345d4fb38fb47dd"/>
    <p:sldId xmlns:r="http://schemas.openxmlformats.org/officeDocument/2006/relationships" id="274" r:id="R4cf365ed86684ef6"/>
    <p:sldId xmlns:r="http://schemas.openxmlformats.org/officeDocument/2006/relationships" id="275" r:id="R7217cf9b6c9e48fa"/>
    <p:sldId xmlns:r="http://schemas.openxmlformats.org/officeDocument/2006/relationships" id="276" r:id="R1fb54a678f774a6c"/>
    <p:sldId xmlns:r="http://schemas.openxmlformats.org/officeDocument/2006/relationships" id="277" r:id="R1ab1a5a9e7344a79"/>
    <p:sldId xmlns:r="http://schemas.openxmlformats.org/officeDocument/2006/relationships" id="278" r:id="R42d128eab6e047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a15db259a4443c" /><Relationship Type="http://schemas.openxmlformats.org/officeDocument/2006/relationships/slideMaster" Target="/ppt/slideMasters/slideMaster1.xml" Id="R8613870c35a74b32" /><Relationship Type="http://schemas.openxmlformats.org/officeDocument/2006/relationships/notesMaster" Target="/ppt/notesMasters/notesMaster1.xml" Id="Rc8866693ecc04b96" /><Relationship Type="http://schemas.openxmlformats.org/officeDocument/2006/relationships/presProps" Target="/ppt/presProps.xml" Id="Rca368def05e24c81" /><Relationship Type="http://schemas.openxmlformats.org/officeDocument/2006/relationships/viewProps" Target="/ppt/viewProps.xml" Id="Rbcec3f60942145d1" /><Relationship Type="http://schemas.openxmlformats.org/officeDocument/2006/relationships/tableStyles" Target="/ppt/tableStyles.xml" Id="R2431fcd3412d4ee1" /><Relationship Type="http://schemas.openxmlformats.org/officeDocument/2006/relationships/slide" Target="/ppt/slides/slide1.xml" Id="Rfece22a2db504b31" /><Relationship Type="http://schemas.openxmlformats.org/officeDocument/2006/relationships/slide" Target="/ppt/slides/slide2.xml" Id="R9c3174377da343c2" /><Relationship Type="http://schemas.openxmlformats.org/officeDocument/2006/relationships/slide" Target="/ppt/slides/slide3.xml" Id="R8fa70c1f3db247e7" /><Relationship Type="http://schemas.openxmlformats.org/officeDocument/2006/relationships/slide" Target="/ppt/slides/slide4.xml" Id="Rbe56d3f1c40f45de" /><Relationship Type="http://schemas.openxmlformats.org/officeDocument/2006/relationships/slide" Target="/ppt/slides/slide5.xml" Id="Rd2e29b45f50046ab" /><Relationship Type="http://schemas.openxmlformats.org/officeDocument/2006/relationships/slide" Target="/ppt/slides/slide6.xml" Id="R6d921ba8fe8a4ae5" /><Relationship Type="http://schemas.openxmlformats.org/officeDocument/2006/relationships/slide" Target="/ppt/slides/slide7.xml" Id="R7a55be5c456643ff" /><Relationship Type="http://schemas.openxmlformats.org/officeDocument/2006/relationships/slide" Target="/ppt/slides/slide8.xml" Id="Rbf4e18685bfc4cca" /><Relationship Type="http://schemas.openxmlformats.org/officeDocument/2006/relationships/slide" Target="/ppt/slides/slide9.xml" Id="Re09aca536e1545a9" /><Relationship Type="http://schemas.openxmlformats.org/officeDocument/2006/relationships/slide" Target="/ppt/slides/slide10.xml" Id="R1c7951f99dcc4298" /><Relationship Type="http://schemas.openxmlformats.org/officeDocument/2006/relationships/slide" Target="/ppt/slides/slide11.xml" Id="R0c8380299eab4234" /><Relationship Type="http://schemas.openxmlformats.org/officeDocument/2006/relationships/slide" Target="/ppt/slides/slide12.xml" Id="R1960413581d549e3" /><Relationship Type="http://schemas.openxmlformats.org/officeDocument/2006/relationships/slide" Target="/ppt/slides/slide13.xml" Id="R31143658fff242c3" /><Relationship Type="http://schemas.openxmlformats.org/officeDocument/2006/relationships/slide" Target="/ppt/slides/slide14.xml" Id="R2180013f8e904b38" /><Relationship Type="http://schemas.openxmlformats.org/officeDocument/2006/relationships/slide" Target="/ppt/slides/slide15.xml" Id="R471e459dd44b431b" /><Relationship Type="http://schemas.openxmlformats.org/officeDocument/2006/relationships/slide" Target="/ppt/slides/slide16.xml" Id="Rfd81b11b8dfb4d31" /><Relationship Type="http://schemas.openxmlformats.org/officeDocument/2006/relationships/slide" Target="/ppt/slides/slide17.xml" Id="Rfdbbe65eee17420f" /><Relationship Type="http://schemas.openxmlformats.org/officeDocument/2006/relationships/slide" Target="/ppt/slides/slide18.xml" Id="Ra345d4fb38fb47dd" /><Relationship Type="http://schemas.openxmlformats.org/officeDocument/2006/relationships/slide" Target="/ppt/slides/slide19.xml" Id="R4cf365ed86684ef6" /><Relationship Type="http://schemas.openxmlformats.org/officeDocument/2006/relationships/slide" Target="/ppt/slides/slide20.xml" Id="R7217cf9b6c9e48fa" /><Relationship Type="http://schemas.openxmlformats.org/officeDocument/2006/relationships/slide" Target="/ppt/slides/slide21.xml" Id="R1fb54a678f774a6c" /><Relationship Type="http://schemas.openxmlformats.org/officeDocument/2006/relationships/slide" Target="/ppt/slides/slide22.xml" Id="R1ab1a5a9e7344a79" /><Relationship Type="http://schemas.openxmlformats.org/officeDocument/2006/relationships/slide" Target="/ppt/slides/slide23.xml" Id="R42d128eab6e047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5101469b5549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46345f7e4b460f" /><Relationship Type="http://schemas.openxmlformats.org/officeDocument/2006/relationships/notesMaster" Target="/ppt/notesMasters/notesMaster1.xml" Id="Rbd221997c0874b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010d5d3985480d" /><Relationship Type="http://schemas.openxmlformats.org/officeDocument/2006/relationships/notesMaster" Target="/ppt/notesMasters/notesMaster1.xml" Id="R54576fd665cf42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1b4d3305df412c" /><Relationship Type="http://schemas.openxmlformats.org/officeDocument/2006/relationships/notesMaster" Target="/ppt/notesMasters/notesMaster1.xml" Id="Re567f3aecee64e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68a5af329b4da5" /><Relationship Type="http://schemas.openxmlformats.org/officeDocument/2006/relationships/notesMaster" Target="/ppt/notesMasters/notesMaster1.xml" Id="R48af1713d83c4c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d5c0310d0d4510" /><Relationship Type="http://schemas.openxmlformats.org/officeDocument/2006/relationships/notesMaster" Target="/ppt/notesMasters/notesMaster1.xml" Id="R33ff9891e7714f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9a206ba82d42d7" /><Relationship Type="http://schemas.openxmlformats.org/officeDocument/2006/relationships/notesMaster" Target="/ppt/notesMasters/notesMaster1.xml" Id="R201da8753cf141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09d6d3727942b5" /><Relationship Type="http://schemas.openxmlformats.org/officeDocument/2006/relationships/notesMaster" Target="/ppt/notesMasters/notesMaster1.xml" Id="Rff5380a9224343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27b089a3bb41c1" /><Relationship Type="http://schemas.openxmlformats.org/officeDocument/2006/relationships/notesMaster" Target="/ppt/notesMasters/notesMaster1.xml" Id="Rbec9a0bf5fdd4d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0ba5594d7c4d35" /><Relationship Type="http://schemas.openxmlformats.org/officeDocument/2006/relationships/notesMaster" Target="/ppt/notesMasters/notesMaster1.xml" Id="R145f177693b04e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383e01c50b4bae" /><Relationship Type="http://schemas.openxmlformats.org/officeDocument/2006/relationships/notesMaster" Target="/ppt/notesMasters/notesMaster1.xml" Id="R99272937a36c47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4c1da0b4b44fd0" /><Relationship Type="http://schemas.openxmlformats.org/officeDocument/2006/relationships/notesMaster" Target="/ppt/notesMasters/notesMaster1.xml" Id="R908f3051008447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c0020f042f4e2a" /><Relationship Type="http://schemas.openxmlformats.org/officeDocument/2006/relationships/notesMaster" Target="/ppt/notesMasters/notesMaster1.xml" Id="R72eb16313a2842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08dc4acc2b4fe9" /><Relationship Type="http://schemas.openxmlformats.org/officeDocument/2006/relationships/notesMaster" Target="/ppt/notesMasters/notesMaster1.xml" Id="R22312157068e42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0d89c39d754f6f" /><Relationship Type="http://schemas.openxmlformats.org/officeDocument/2006/relationships/notesMaster" Target="/ppt/notesMasters/notesMaster1.xml" Id="R691f557974b849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bca1f663b54bfe" /><Relationship Type="http://schemas.openxmlformats.org/officeDocument/2006/relationships/notesMaster" Target="/ppt/notesMasters/notesMaster1.xml" Id="R0b5d92912c0044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ae1ee983ad4c4f" /><Relationship Type="http://schemas.openxmlformats.org/officeDocument/2006/relationships/notesMaster" Target="/ppt/notesMasters/notesMaster1.xml" Id="Re2764aa8d9b041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b264130a56949e4" /><Relationship Type="http://schemas.openxmlformats.org/officeDocument/2006/relationships/notesMaster" Target="/ppt/notesMasters/notesMaster1.xml" Id="R454889e95eb24c8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66e3e3f4c94862" /><Relationship Type="http://schemas.openxmlformats.org/officeDocument/2006/relationships/notesMaster" Target="/ppt/notesMasters/notesMaster1.xml" Id="R416d131391e94b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89bd6ad7e2b4d65" /><Relationship Type="http://schemas.openxmlformats.org/officeDocument/2006/relationships/notesMaster" Target="/ppt/notesMasters/notesMaster1.xml" Id="R6a0bfa4f20ed4cd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5b347a8814847ce" /><Relationship Type="http://schemas.openxmlformats.org/officeDocument/2006/relationships/notesMaster" Target="/ppt/notesMasters/notesMaster1.xml" Id="R22b023e69427446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96669114bdc4f06" /><Relationship Type="http://schemas.openxmlformats.org/officeDocument/2006/relationships/notesMaster" Target="/ppt/notesMasters/notesMaster1.xml" Id="Rc4670e14f7d84c5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f06727f4d114521" /><Relationship Type="http://schemas.openxmlformats.org/officeDocument/2006/relationships/notesMaster" Target="/ppt/notesMasters/notesMaster1.xml" Id="R3e9c61ac60ff4f7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488ba54a4ad4c92" /><Relationship Type="http://schemas.openxmlformats.org/officeDocument/2006/relationships/notesMaster" Target="/ppt/notesMasters/notesMaster1.xml" Id="Rbd524a4211124d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Tên đề tài đã đổi theo phạm vi 11 nhóm. Phải nói rõ đây là phân tích chuyển tiếp: checkpoint vẫn có 19 đầu ra.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Phạm vi nhãn gồm bệnh, sinh vật gây hại, cỏ dại và trạng thái bình thường; không gọi chung là 11 bệnh.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 lớp được chọn theo support, không chọn theo F1. Quyết định này xảy ra sau campaign 19 lớp nên phải ghi là thiết kế chuyển tiếp.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Bảng lấy trực tiếp từ split_counts trong JSON tái tính.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Quy trình này bảo thủ hơn việc loại 8 logit rồi renormalize vì mọi dự đoán ngoài 11 lớp đều là lỗi.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Giữ hồ sơ thực nghiệm đúng với log; không suy diễn cấu hình máy từ lời kể.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tổng hợp vai trò của toàn bộ thước đo. Các slide 15–16 giải thích chi tiết metric và độ bất định; slide 20–24 trình bày kết quả từng lớp và bootstrap.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phương pháp chính thức:</a:t>
            </a:r>
          </a:p>
          <a:p xmlns:a="http://schemas.openxmlformats.org/drawingml/2006/main">
            <a:r>
              <a:t>https://scikit-learn.org/stable/modules/generated/sklearn.metrics.accuracy_score.html</a:t>
            </a:r>
          </a:p>
          <a:p xmlns:a="http://schemas.openxmlformats.org/drawingml/2006/main">
            <a:r>
              <a:t>https://scikit-learn.org/stable/modules/generated/sklearn.metrics.precision_score.html</a:t>
            </a:r>
          </a:p>
          <a:p xmlns:a="http://schemas.openxmlformats.org/drawingml/2006/main">
            <a:r>
              <a:t>https://scikit-learn.org/stable/modules/generated/sklearn.metrics.recall_score.html</a:t>
            </a:r>
          </a:p>
          <a:p xmlns:a="http://schemas.openxmlformats.org/drawingml/2006/main">
            <a:r>
              <a:t>https://scikit-learn.org/stable/modules/generated/sklearn.metrics.f1_score.html</a:t>
            </a:r>
          </a:p>
          <a:p xmlns:a="http://schemas.openxmlformats.org/drawingml/2006/main">
            <a:r>
              <a:t>Giá trị được tái tính từ 18 file test_predictions.csv trên 9.376 ảnh.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phương pháp:</a:t>
            </a:r>
          </a:p>
          <a:p xmlns:a="http://schemas.openxmlformats.org/drawingml/2006/main">
            <a:r>
              <a:t>NIST Measures of Scale: https://www.itl.nist.gov/div898/handbook/eda/section3/eda356.htm</a:t>
            </a:r>
          </a:p>
          <a:p xmlns:a="http://schemas.openxmlformats.org/drawingml/2006/main">
            <a:r>
              <a:t>Efron, B. 1979. Bootstrap Methods: Another Look at the Jackknife. DOI: https://doi.org/10.1214/aos/1176344552</a:t>
            </a:r>
          </a:p>
          <a:p xmlns:a="http://schemas.openxmlformats.org/drawingml/2006/main">
            <a:r>
              <a:t>scikit-learn resample: https://scikit-learn.org/stable/modules/generated/sklearn.utils.resample.html</a:t>
            </a:r>
          </a:p>
          <a:p xmlns:a="http://schemas.openxmlformats.org/drawingml/2006/main">
            <a:r>
              <a:t>Bootstrap giữ cặp dự đoán trên cùng 9.376 ảnh.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Bar chart dùng aggregate.macro_f1.mean trong JSON 11 lớp.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Mọi ô được đọc tự động từ aggregate trong JSON.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điểm là Macro-F1 từng seed sau lọc 11 true labels.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Bảng per_class lấy từ JSON.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suy luận lớp khó chỉ từ support; cần xem ảnh và confusion matrix.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Bốn lớp được chọn để minh họa; bảng đầy đủ ở slide 20–21.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Bảng đối chiếu aggregate 19 lớp cũ với sensitivity 11 lớp.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hiệu chỉnh đa so sánh; đây không phải CI của mean qua ba seed.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Lựa chọn deployment cần latency/RAM/năng lượng, chưa chỉ Macro-F1.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dùng tham số để suy latency.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Chưa có benchmark suy luận trên thiết bị thật cho các checkpoint 19 đầu ra.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 thể audit lại bằng script build_11class_transition_report.py.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chọn hoặc loại thêm lớp dựa vào F1 hiện tại.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Khi thuyết trình, nhắc câu cảnh báo trước khi đọc bảng kết quả.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10413219147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2d026c586a4561" /><Relationship Type="http://schemas.openxmlformats.org/officeDocument/2006/relationships/slideLayout" Target="/ppt/slideLayouts/slideLayout1.xml" Id="Ra0debc8e7f9c43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debc8e7f9c43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b0e623c124a55" /><Relationship Type="http://schemas.openxmlformats.org/officeDocument/2006/relationships/notesSlide" Target="/ppt/notesSlides/notesSlide1.xml" Id="R72bd27d698884f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3487322154f6d" /><Relationship Type="http://schemas.openxmlformats.org/officeDocument/2006/relationships/notesSlide" Target="/ppt/notesSlides/notesSlide2.xml" Id="R6afa07e8a74c4d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25c8860654131" /><Relationship Type="http://schemas.openxmlformats.org/officeDocument/2006/relationships/notesSlide" Target="/ppt/notesSlides/notesSlide3.xml" Id="R71c19e389fef41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e4aaa21534d6d" /><Relationship Type="http://schemas.openxmlformats.org/officeDocument/2006/relationships/notesSlide" Target="/ppt/notesSlides/notesSlide4.xml" Id="Ra6ef1192cfde4e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b02fa277e490c" /><Relationship Type="http://schemas.openxmlformats.org/officeDocument/2006/relationships/notesSlide" Target="/ppt/notesSlides/notesSlide5.xml" Id="Re5b70db65ba64c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5c14108484fa8" /><Relationship Type="http://schemas.openxmlformats.org/officeDocument/2006/relationships/notesSlide" Target="/ppt/notesSlides/notesSlide6.xml" Id="R6d336292608546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cb85f545245e5" /><Relationship Type="http://schemas.openxmlformats.org/officeDocument/2006/relationships/notesSlide" Target="/ppt/notesSlides/notesSlide7.xml" Id="Rddededc9a57c49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ee4030ad24c66" /><Relationship Type="http://schemas.openxmlformats.org/officeDocument/2006/relationships/notesSlide" Target="/ppt/notesSlides/notesSlide8.xml" Id="R69096afa9cec43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89f59f9464e5d" /><Relationship Type="http://schemas.openxmlformats.org/officeDocument/2006/relationships/notesSlide" Target="/ppt/notesSlides/notesSlide9.xml" Id="R11b51fa440b444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af94cc2df4f0b" /><Relationship Type="http://schemas.openxmlformats.org/officeDocument/2006/relationships/notesSlide" Target="/ppt/notesSlides/notesSlide10.xml" Id="Re3455dbee9504e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1e981cfbf43ff" /><Relationship Type="http://schemas.openxmlformats.org/officeDocument/2006/relationships/notesSlide" Target="/ppt/notesSlides/notesSlide11.xml" Id="R1486a4bff5b04b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8e030886e419b" /><Relationship Type="http://schemas.openxmlformats.org/officeDocument/2006/relationships/notesSlide" Target="/ppt/notesSlides/notesSlide12.xml" Id="Rf9cf4f36a9244a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83d1db4d0434c" /><Relationship Type="http://schemas.openxmlformats.org/officeDocument/2006/relationships/notesSlide" Target="/ppt/notesSlides/notesSlide13.xml" Id="R2a53b512dbaf42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3708209324754" /><Relationship Type="http://schemas.openxmlformats.org/officeDocument/2006/relationships/notesSlide" Target="/ppt/notesSlides/notesSlide14.xml" Id="R625bb575533644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68a4503b44cb8" /><Relationship Type="http://schemas.openxmlformats.org/officeDocument/2006/relationships/notesSlide" Target="/ppt/notesSlides/notesSlide15.xml" Id="Rcc7ed5bfb99349d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ce0550e234d8d" /><Relationship Type="http://schemas.openxmlformats.org/officeDocument/2006/relationships/notesSlide" Target="/ppt/notesSlides/notesSlide16.xml" Id="R23c42eea722148d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86c30df66461f" /><Relationship Type="http://schemas.openxmlformats.org/officeDocument/2006/relationships/notesSlide" Target="/ppt/notesSlides/notesSlide17.xml" Id="R966b264d158047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7548c156c434f" /><Relationship Type="http://schemas.openxmlformats.org/officeDocument/2006/relationships/notesSlide" Target="/ppt/notesSlides/notesSlide18.xml" Id="R3e4b52d8e66844e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5d911e5824234" /><Relationship Type="http://schemas.openxmlformats.org/officeDocument/2006/relationships/notesSlide" Target="/ppt/notesSlides/notesSlide19.xml" Id="R765f745d4e6a457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a4f2608de401b" /><Relationship Type="http://schemas.openxmlformats.org/officeDocument/2006/relationships/notesSlide" Target="/ppt/notesSlides/notesSlide20.xml" Id="Re80b4733dd024f2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9b44c83554ab9" /><Relationship Type="http://schemas.openxmlformats.org/officeDocument/2006/relationships/notesSlide" Target="/ppt/notesSlides/notesSlide21.xml" Id="Raf0d21c9b6a94b7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739618cd24621" /><Relationship Type="http://schemas.openxmlformats.org/officeDocument/2006/relationships/notesSlide" Target="/ppt/notesSlides/notesSlide22.xml" Id="Rf159bbc2eedd4ee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3c687fcbf4564" /><Relationship Type="http://schemas.openxmlformats.org/officeDocument/2006/relationships/notesSlide" Target="/ppt/notesSlides/notesSlide23.xml" Id="R0eba9d01372946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5BF6EAE-5A1B-43E9-9DA1-E86E2F06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BÁO CÁO SƠ BỘ • RICEAI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88B9C1A-E172-4BE1-9A07-57C30A27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7620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01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So sánh sáu kiến trúc CNN trong nhận diện 11 nhóm bệnh, sinh vật gây hại và trạng thái cây lúa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AE5E883-AE28-4E1C-AE67-63A4955A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95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Tái tính trên 11 lớp từ checkpoint 19 đầu ra đã huấn luyện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Giữ nguyên checkpoint và predicted_label của campaign V2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D90BF6C-5333-4546-BB09-9D9C8CDE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ver-stat">
            <a:extLst xmlns:a="http://schemas.openxmlformats.org/drawingml/2006/main">
              <a:ext uri="{FF2B5EF4-FFF2-40B4-BE49-F238E27FC236}">
                <a16:creationId xmlns:a16="http://schemas.microsoft.com/office/drawing/2014/main" id="{363EF12E-3908-420B-9BA8-22CE1407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4312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6 × 3</a:t>
            </a:r>
          </a:p>
        </p:txBody>
      </p:sp>
      <p:sp>
        <p:nvSpPr>
          <p:cNvPr id="6" name="cover-stat-label">
            <a:extLst xmlns:a="http://schemas.openxmlformats.org/drawingml/2006/main">
              <a:ext uri="{FF2B5EF4-FFF2-40B4-BE49-F238E27FC236}">
                <a16:creationId xmlns:a16="http://schemas.microsoft.com/office/drawing/2014/main" id="{B869B542-8D56-48EA-8B1D-09BC07F6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mô hình × lần train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E0A0B49F-CBDB-4B4C-AADC-59FFE4E9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531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Campaign V2 • Tập test khóa 9.829 ảnh</a:t>
            </a:r>
          </a:p>
        </p:txBody>
      </p:sp>
    </p:spTree>
    <p:extLst>
      <p:ext uri="{BB962C8B-B14F-4D97-AF65-F5344CB8AC3E}">
        <p14:creationId xmlns:p14="http://schemas.microsoft.com/office/powerpoint/2010/main" val="14198930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Câu hỏi nghiên cứu và phạm vi 11 nhóm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Đánh giá sáu checkpoint 19 đầu ra trên 9.376 ảnh thuộc 11 lớp được giữ lại.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Chất lượng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So sánh Accuracy, Macro-Precision, Macro-Recall và Macro-F1 trên 9.376 ảnh thuộc </a:t>
            </a: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 lớp có đủ số mẫu</a:t>
            </a: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Độ ổn định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Mỗi backbone có ba checkpoint từ seed 42, 123 và 2026; báo cáo từng seed, mean và sample SD.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Tính trung thực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Dự đoán rơi vào 8 nhãn bị loại vẫn tính sai. Giữ nguyên predicted_label và xác suất.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Kết quả được tái tính từ checkpoint 19 lớp, không phát sinh lần huấn luyện mới.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3">
            <a:extLst xmlns:a="http://schemas.openxmlformats.org/drawingml/2006/main">
              <a:ext uri="{FF2B5EF4-FFF2-40B4-BE49-F238E27FC236}">
                <a16:creationId xmlns:a16="http://schemas.microsoft.com/office/drawing/2014/main" id="{555035D6-8F19-43AF-B330-CE8BF609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Từ 65.516 ảnh đến phạm vi 11 lớp</a:t>
            </a:r>
          </a:p>
        </p:txBody>
      </p:sp>
      <p:sp>
        <p:nvSpPr>
          <p:cNvPr id="2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AC9E859D-C866-4ADC-B505-E802B609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3">
            <a:extLst xmlns:a="http://schemas.openxmlformats.org/drawingml/2006/main">
              <a:ext uri="{FF2B5EF4-FFF2-40B4-BE49-F238E27FC236}">
                <a16:creationId xmlns:a16="http://schemas.microsoft.com/office/drawing/2014/main" id="{BE82A00E-6ED9-48B3-BE84-16DC734C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split-0">
            <a:extLst xmlns:a="http://schemas.openxmlformats.org/drawingml/2006/main">
              <a:ext uri="{FF2B5EF4-FFF2-40B4-BE49-F238E27FC236}">
                <a16:creationId xmlns:a16="http://schemas.microsoft.com/office/drawing/2014/main" id="{A24EDE7E-80F4-4E84-9EA4-8C8FFD44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plit-num-0">
            <a:extLst xmlns:a="http://schemas.openxmlformats.org/drawingml/2006/main">
              <a:ext uri="{FF2B5EF4-FFF2-40B4-BE49-F238E27FC236}">
                <a16:creationId xmlns:a16="http://schemas.microsoft.com/office/drawing/2014/main" id="{178A4369-AE8C-412E-B264-0F2B6303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57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45.858</a:t>
            </a:r>
          </a:p>
        </p:txBody>
      </p:sp>
      <p:sp>
        <p:nvSpPr>
          <p:cNvPr id="6" name="split-name-0">
            <a:extLst xmlns:a="http://schemas.openxmlformats.org/drawingml/2006/main">
              <a:ext uri="{FF2B5EF4-FFF2-40B4-BE49-F238E27FC236}">
                <a16:creationId xmlns:a16="http://schemas.microsoft.com/office/drawing/2014/main" id="{D7117894-4999-45DF-BC16-A3975A4C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7" name="split-pct-0">
            <a:extLst xmlns:a="http://schemas.openxmlformats.org/drawingml/2006/main">
              <a:ext uri="{FF2B5EF4-FFF2-40B4-BE49-F238E27FC236}">
                <a16:creationId xmlns:a16="http://schemas.microsoft.com/office/drawing/2014/main" id="{0D2DB7B7-5A39-49DD-8170-3A3F8897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Học từ ảnh</a:t>
            </a:r>
          </a:p>
        </p:txBody>
      </p:sp>
      <p:sp>
        <p:nvSpPr>
          <p:cNvPr id="8" name="split-1">
            <a:extLst xmlns:a="http://schemas.openxmlformats.org/drawingml/2006/main">
              <a:ext uri="{FF2B5EF4-FFF2-40B4-BE49-F238E27FC236}">
                <a16:creationId xmlns:a16="http://schemas.microsoft.com/office/drawing/2014/main" id="{BD6FD7A2-6B75-4645-A9B2-1BB450E3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24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plit-num-1">
            <a:extLst xmlns:a="http://schemas.openxmlformats.org/drawingml/2006/main">
              <a:ext uri="{FF2B5EF4-FFF2-40B4-BE49-F238E27FC236}">
                <a16:creationId xmlns:a16="http://schemas.microsoft.com/office/drawing/2014/main" id="{C99F28A5-C9C2-484D-B5FC-01292FCA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57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9.829</a:t>
            </a:r>
          </a:p>
        </p:txBody>
      </p:sp>
      <p:sp>
        <p:nvSpPr>
          <p:cNvPr id="10" name="split-name-1">
            <a:extLst xmlns:a="http://schemas.openxmlformats.org/drawingml/2006/main">
              <a:ext uri="{FF2B5EF4-FFF2-40B4-BE49-F238E27FC236}">
                <a16:creationId xmlns:a16="http://schemas.microsoft.com/office/drawing/2014/main" id="{49BB4F87-A31A-4DBB-A3DE-D2C18D27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1" name="split-pct-1">
            <a:extLst xmlns:a="http://schemas.openxmlformats.org/drawingml/2006/main">
              <a:ext uri="{FF2B5EF4-FFF2-40B4-BE49-F238E27FC236}">
                <a16:creationId xmlns:a16="http://schemas.microsoft.com/office/drawing/2014/main" id="{BC79830A-FA89-4D77-9705-730CAC4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813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Chọn checkpoint tốt nhất</a:t>
            </a:r>
          </a:p>
        </p:txBody>
      </p:sp>
      <p:sp>
        <p:nvSpPr>
          <p:cNvPr id="12" name="split-2">
            <a:extLst xmlns:a="http://schemas.openxmlformats.org/drawingml/2006/main">
              <a:ext uri="{FF2B5EF4-FFF2-40B4-BE49-F238E27FC236}">
                <a16:creationId xmlns:a16="http://schemas.microsoft.com/office/drawing/2014/main" id="{3EE194D7-0154-42E5-B058-3A2C0F9C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24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plit-num-2">
            <a:extLst xmlns:a="http://schemas.openxmlformats.org/drawingml/2006/main">
              <a:ext uri="{FF2B5EF4-FFF2-40B4-BE49-F238E27FC236}">
                <a16:creationId xmlns:a16="http://schemas.microsoft.com/office/drawing/2014/main" id="{445678F7-E8C7-4FB1-B73A-FDB62860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57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9.829</a:t>
            </a:r>
          </a:p>
        </p:txBody>
      </p:sp>
      <p:sp>
        <p:nvSpPr>
          <p:cNvPr id="14" name="split-name-2">
            <a:extLst xmlns:a="http://schemas.openxmlformats.org/drawingml/2006/main">
              <a:ext uri="{FF2B5EF4-FFF2-40B4-BE49-F238E27FC236}">
                <a16:creationId xmlns:a16="http://schemas.microsoft.com/office/drawing/2014/main" id="{6B341295-5A40-4AA5-89A8-C5DF2962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5" name="split-pct-2">
            <a:extLst xmlns:a="http://schemas.openxmlformats.org/drawingml/2006/main">
              <a:ext uri="{FF2B5EF4-FFF2-40B4-BE49-F238E27FC236}">
                <a16:creationId xmlns:a16="http://schemas.microsoft.com/office/drawing/2014/main" id="{754799DF-0144-4B96-B80F-FDFA1D4F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813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Đánh giá cuối cùng</a:t>
            </a:r>
          </a:p>
        </p:txBody>
      </p:sp>
      <p:sp>
        <p:nvSpPr>
          <p:cNvPr id="16" name="data-notes">
            <a:extLst xmlns:a="http://schemas.openxmlformats.org/drawingml/2006/main">
              <a:ext uri="{FF2B5EF4-FFF2-40B4-BE49-F238E27FC236}">
                <a16:creationId xmlns:a16="http://schemas.microsoft.com/office/drawing/2014/main" id="{855B28A4-9D28-452F-82A2-5807C26B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67125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Split V2 khóa: train 45.858 • validation 9.829 • test 9.829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Quy tắc hậu kiểm: giữ lớp có support test ≥ 100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11 lớp giữ lại: 9.376 ảnh test; 8 lớp tạm loại: 453 ảnh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Không xóa dữ liệu gốc, không sửa checkpoint hay CSV dự đoán</a:t>
            </a:r>
          </a:p>
        </p:txBody>
      </p:sp>
      <p:sp>
        <p:nvSpPr>
          <p:cNvPr id="17" name="data-caveat">
            <a:extLst xmlns:a="http://schemas.openxmlformats.org/drawingml/2006/main">
              <a:ext uri="{FF2B5EF4-FFF2-40B4-BE49-F238E27FC236}">
                <a16:creationId xmlns:a16="http://schemas.microsoft.com/office/drawing/2014/main" id="{241A7699-B643-4D1A-B80F-4079F65C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3762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data-caveat-title">
            <a:extLst xmlns:a="http://schemas.openxmlformats.org/drawingml/2006/main">
              <a:ext uri="{FF2B5EF4-FFF2-40B4-BE49-F238E27FC236}">
                <a16:creationId xmlns:a16="http://schemas.microsoft.com/office/drawing/2014/main" id="{95F4477B-B71B-4659-88A8-A6B31F0D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10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Giới hạn quan trọng</a:t>
            </a:r>
          </a:p>
        </p:txBody>
      </p:sp>
      <p:sp>
        <p:nvSpPr>
          <p:cNvPr id="19" name="data-caveat-body">
            <a:extLst xmlns:a="http://schemas.openxmlformats.org/drawingml/2006/main">
              <a:ext uri="{FF2B5EF4-FFF2-40B4-BE49-F238E27FC236}">
                <a16:creationId xmlns:a16="http://schemas.microsoft.com/office/drawing/2014/main" id="{0D3795B5-3CE6-4690-8D76-73900092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196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Chưa tách theo cây, ruộng hoặc phiên chụp. Đây là test nội bộ.</a:t>
            </a:r>
          </a:p>
        </p:txBody>
      </p:sp>
    </p:spTree>
    <p:extLst>
      <p:ext uri="{BB962C8B-B14F-4D97-AF65-F5344CB8AC3E}">
        <p14:creationId xmlns:p14="http://schemas.microsoft.com/office/powerpoint/2010/main" val="385806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Mười một lớp được giữ theo ngưỡng support test ≥ 100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Tổng test: 9.376 ảnh. Hai lớp lớn nhất: sâu đục thân 2.973 và rầy nâu 2.786 ảnh.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Nhóm nhỏ nhất còn giữ: ốc bươu vàng 122 ảnh; dữ liệu vẫn mất cân bằng.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mlns:a="http://schemas.openxmlformats.org/drawingml/2006/main" x="457200" y="1257300"/>
          <a:ext xmlns:a="http://schemas.openxmlformats.org/drawingml/2006/main" cx="10953750" cy="46196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857375"/>
                <a:gridCol w="1857375"/>
                <a:gridCol w="1857375"/>
                <a:gridCol w="2047875"/>
              </a:tblGrid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Tổng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Bạc lá vi khuẩn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1260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1800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Đạo ôn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1172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251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251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1674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Rầy nâu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13001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2786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2786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18573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Đốm nâu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1540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Dảnh héo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215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215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1434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Ốc bươu vàng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566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cuốn lá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8232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1764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1764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11760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Bình thường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1756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đục thân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13875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2973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2973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19821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Tungro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759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1085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Cỏ dại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1114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239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239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1592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-5">
            <a:extLst xmlns:a="http://schemas.openxmlformats.org/drawingml/2006/main">
              <a:ext uri="{FF2B5EF4-FFF2-40B4-BE49-F238E27FC236}">
                <a16:creationId xmlns:a16="http://schemas.microsoft.com/office/drawing/2014/main" id="{826D2D10-15D5-452D-B731-5EBF6E7A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Luồng tái tính: giữ nguyên dự đoán 19 đầu ra</a:t>
            </a:r>
          </a:p>
        </p:txBody>
      </p:sp>
      <p:sp>
        <p:nvSpPr>
          <p:cNvPr id="2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095EAF37-935E-4FB6-9C76-4FA2BAF9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524D11A2-9F59-4EE5-BBD3-E439F06C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flow-line-0">
            <a:extLst xmlns:a="http://schemas.openxmlformats.org/drawingml/2006/main">
              <a:ext uri="{FF2B5EF4-FFF2-40B4-BE49-F238E27FC236}">
                <a16:creationId xmlns:a16="http://schemas.microsoft.com/office/drawing/2014/main" id="{197F315F-B670-4E8E-985B-B7D695D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low-line-1">
            <a:extLst xmlns:a="http://schemas.openxmlformats.org/drawingml/2006/main">
              <a:ext uri="{FF2B5EF4-FFF2-40B4-BE49-F238E27FC236}">
                <a16:creationId xmlns:a16="http://schemas.microsoft.com/office/drawing/2014/main" id="{9955E7A9-4ABE-4C71-8EF7-7CFFC467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low-line-2">
            <a:extLst xmlns:a="http://schemas.openxmlformats.org/drawingml/2006/main">
              <a:ext uri="{FF2B5EF4-FFF2-40B4-BE49-F238E27FC236}">
                <a16:creationId xmlns:a16="http://schemas.microsoft.com/office/drawing/2014/main" id="{850E141A-735C-4773-9423-A37A3F03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flow-line-3">
            <a:extLst xmlns:a="http://schemas.openxmlformats.org/drawingml/2006/main">
              <a:ext uri="{FF2B5EF4-FFF2-40B4-BE49-F238E27FC236}">
                <a16:creationId xmlns:a16="http://schemas.microsoft.com/office/drawing/2014/main" id="{7E862339-4B30-45C6-9078-DFA0A718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low-node-0">
            <a:extLst xmlns:a="http://schemas.openxmlformats.org/drawingml/2006/main">
              <a:ext uri="{FF2B5EF4-FFF2-40B4-BE49-F238E27FC236}">
                <a16:creationId xmlns:a16="http://schemas.microsoft.com/office/drawing/2014/main" id="{E8451528-C4BB-434E-9812-B76DF08B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flow-num-0">
            <a:extLst xmlns:a="http://schemas.openxmlformats.org/drawingml/2006/main">
              <a:ext uri="{FF2B5EF4-FFF2-40B4-BE49-F238E27FC236}">
                <a16:creationId xmlns:a16="http://schemas.microsoft.com/office/drawing/2014/main" id="{9C30586C-E89B-491C-B61A-70ED2077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6912F287-618A-4139-A66E-CC513133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LỌC NHÃN THẬT</a:t>
            </a:r>
          </a:p>
        </p:txBody>
      </p:sp>
      <p:sp>
        <p:nvSpPr>
          <p:cNvPr id="11" name="flow-body-0">
            <a:extLst xmlns:a="http://schemas.openxmlformats.org/drawingml/2006/main">
              <a:ext uri="{FF2B5EF4-FFF2-40B4-BE49-F238E27FC236}">
                <a16:creationId xmlns:a16="http://schemas.microsoft.com/office/drawing/2014/main" id="{C7A906C4-ABB5-434D-B9BD-154A4B67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Chỉ giữ hàng test có true_label thuộc 11 lớp.</a:t>
            </a:r>
          </a:p>
        </p:txBody>
      </p:sp>
      <p:sp>
        <p:nvSpPr>
          <p:cNvPr id="12" name="flow-node-1">
            <a:extLst xmlns:a="http://schemas.openxmlformats.org/drawingml/2006/main">
              <a:ext uri="{FF2B5EF4-FFF2-40B4-BE49-F238E27FC236}">
                <a16:creationId xmlns:a16="http://schemas.microsoft.com/office/drawing/2014/main" id="{E2092F7E-8E8E-4FE5-AD6D-5B8F853C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flow-num-1">
            <a:extLst xmlns:a="http://schemas.openxmlformats.org/drawingml/2006/main">
              <a:ext uri="{FF2B5EF4-FFF2-40B4-BE49-F238E27FC236}">
                <a16:creationId xmlns:a16="http://schemas.microsoft.com/office/drawing/2014/main" id="{43D33EC6-CD2E-4EDE-9442-B91E6805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500E1CE1-7DE6-4DC5-863A-5B3DA66E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GIỮ DỰ ĐOÁN</a:t>
            </a:r>
          </a:p>
        </p:txBody>
      </p:sp>
      <p:sp>
        <p:nvSpPr>
          <p:cNvPr id="15" name="flow-body-1">
            <a:extLst xmlns:a="http://schemas.openxmlformats.org/drawingml/2006/main">
              <a:ext uri="{FF2B5EF4-FFF2-40B4-BE49-F238E27FC236}">
                <a16:creationId xmlns:a16="http://schemas.microsoft.com/office/drawing/2014/main" id="{A5397EFE-07CC-4C3C-B1B1-8A49EEBA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1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Không ép predicted_label vào 11 lớp; dự đoán sang lớp loại = sai.</a:t>
            </a:r>
          </a:p>
        </p:txBody>
      </p:sp>
      <p:sp>
        <p:nvSpPr>
          <p:cNvPr id="16" name="flow-node-2">
            <a:extLst xmlns:a="http://schemas.openxmlformats.org/drawingml/2006/main">
              <a:ext uri="{FF2B5EF4-FFF2-40B4-BE49-F238E27FC236}">
                <a16:creationId xmlns:a16="http://schemas.microsoft.com/office/drawing/2014/main" id="{F2A7B1F3-D503-4BFE-A28E-DB9F1362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low-num-2">
            <a:extLst xmlns:a="http://schemas.openxmlformats.org/drawingml/2006/main">
              <a:ext uri="{FF2B5EF4-FFF2-40B4-BE49-F238E27FC236}">
                <a16:creationId xmlns:a16="http://schemas.microsoft.com/office/drawing/2014/main" id="{CBBB98E1-4640-43AD-BB6C-11FFAE22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4A899F44-C1DE-4FC8-AA74-3C0CF3A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TÍNH LẠI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A7A68D0E-8FFE-46AC-BF05-E0EA45E6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Accuracy, Macro-P/R/F1 cho 11 nhãn.</a:t>
            </a:r>
          </a:p>
        </p:txBody>
      </p:sp>
      <p:sp>
        <p:nvSpPr>
          <p:cNvPr id="20" name="flow-node-3">
            <a:extLst xmlns:a="http://schemas.openxmlformats.org/drawingml/2006/main">
              <a:ext uri="{FF2B5EF4-FFF2-40B4-BE49-F238E27FC236}">
                <a16:creationId xmlns:a16="http://schemas.microsoft.com/office/drawing/2014/main" id="{D6D607B9-3475-41F0-8D41-C5FD9664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flow-num-3">
            <a:extLst xmlns:a="http://schemas.openxmlformats.org/drawingml/2006/main">
              <a:ext uri="{FF2B5EF4-FFF2-40B4-BE49-F238E27FC236}">
                <a16:creationId xmlns:a16="http://schemas.microsoft.com/office/drawing/2014/main" id="{675031EE-2B60-4BC7-B621-4A4E1393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78AF04A5-BE93-4402-B212-75FB4EAB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GỘP 3 SEED</a:t>
            </a:r>
          </a:p>
        </p:txBody>
      </p:sp>
      <p:sp>
        <p:nvSpPr>
          <p:cNvPr id="23" name="flow-body-3">
            <a:extLst xmlns:a="http://schemas.openxmlformats.org/drawingml/2006/main">
              <a:ext uri="{FF2B5EF4-FFF2-40B4-BE49-F238E27FC236}">
                <a16:creationId xmlns:a16="http://schemas.microsoft.com/office/drawing/2014/main" id="{8F73A9D0-19E3-4398-8BC7-11F26BA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5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Mean, sample SD và paired bootstrap 2.000 mẫu.</a:t>
            </a:r>
          </a:p>
        </p:txBody>
      </p:sp>
      <p:sp>
        <p:nvSpPr>
          <p:cNvPr id="24" name="flow-node-4">
            <a:extLst xmlns:a="http://schemas.openxmlformats.org/drawingml/2006/main">
              <a:ext uri="{FF2B5EF4-FFF2-40B4-BE49-F238E27FC236}">
                <a16:creationId xmlns:a16="http://schemas.microsoft.com/office/drawing/2014/main" id="{03774E36-FED8-42F1-A131-8EE4857C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flow-num-4">
            <a:extLst xmlns:a="http://schemas.openxmlformats.org/drawingml/2006/main">
              <a:ext uri="{FF2B5EF4-FFF2-40B4-BE49-F238E27FC236}">
                <a16:creationId xmlns:a16="http://schemas.microsoft.com/office/drawing/2014/main" id="{E219C0E6-8470-42D2-87C3-2DF72FC8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F3C4AE49-A0C5-4269-88D8-47A60EFE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TỔNG HỢP</a:t>
            </a:r>
          </a:p>
        </p:txBody>
      </p:sp>
      <p:sp>
        <p:nvSpPr>
          <p:cNvPr id="27" name="flow-body-4">
            <a:extLst xmlns:a="http://schemas.openxmlformats.org/drawingml/2006/main">
              <a:ext uri="{FF2B5EF4-FFF2-40B4-BE49-F238E27FC236}">
                <a16:creationId xmlns:a16="http://schemas.microsoft.com/office/drawing/2014/main" id="{49176CD5-1EFF-4267-B888-4F99A2C1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So sánh thứ hạng, độ ổn định và F1 theo lớp.</a:t>
            </a:r>
          </a:p>
        </p:txBody>
      </p:sp>
      <p:sp>
        <p:nvSpPr>
          <p:cNvPr id="28" name="protocol-config">
            <a:extLst xmlns:a="http://schemas.openxmlformats.org/drawingml/2006/main">
              <a:ext uri="{FF2B5EF4-FFF2-40B4-BE49-F238E27FC236}">
                <a16:creationId xmlns:a16="http://schemas.microsoft.com/office/drawing/2014/main" id="{704DADBD-8717-44B3-9670-A4C2C098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339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Nguồn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: 18 file test_predictions.csv 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của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campaign V2 (6 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mô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hình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× 3 seed).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Không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sửa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checkpoint, run manifest, history 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hoặc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file 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dự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đoán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gốc</a:t>
            </a: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9" name="protocol-rule">
            <a:extLst xmlns:a="http://schemas.openxmlformats.org/drawingml/2006/main">
              <a:ext uri="{FF2B5EF4-FFF2-40B4-BE49-F238E27FC236}">
                <a16:creationId xmlns:a16="http://schemas.microsoft.com/office/drawing/2014/main" id="{8E156611-7A19-42D2-AA64-9D43A123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72125"/>
            <a:ext cx="762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protocol-lock">
            <a:extLst xmlns:a="http://schemas.openxmlformats.org/drawingml/2006/main">
              <a:ext uri="{FF2B5EF4-FFF2-40B4-BE49-F238E27FC236}">
                <a16:creationId xmlns:a16="http://schemas.microsoft.com/office/drawing/2014/main" id="{69B59003-1EEC-4F08-846A-B7DEC729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721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endParaRPr sz="1650" b="1">
              <a:solidFill>
                <a:srgbClr val="2176A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86662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Môi trường và bằng chứng tái lập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Tên GPU không được dùng làm biến giải thích kết quả trong bản 11 lớp.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Campaign 11 lớp sau này phải ghi tự động GPU, driver, CUDA, VRAM và thời gian từng run.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099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20000"/>
              </a:tblGrid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Hạng mục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Thông tin có bằng chứng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Framework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Python 3.11.9 • PyTorch 2.2.1+cu121 • TorchVision 0.17.1+cu121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Nền tảng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Windows • CUDA; run manifest không lưu tên model GPU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Seed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42, 123, 2026; khóa Python / NumPy / Torch / CUDA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Chế độ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Deterministic algorithms; tắt cuDNN benchmark và TF32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Dữ liệu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Split/manifest khóa SHA-256; cùng danh sách ảnh cho mọi run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Lưu ý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Không đổi tên GPU thành phần cứng không được log trong run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Khung tiêu chí so sánh sáu mô hình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Quy tắc đọc: xếp hạng bằng Macro-F1 mean. Nếu điểm gần nhau, đọc thêm SD và bootstrap.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Không chọn mô hình triển khai chỉ từ Accuracy hoặc số tham số.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mlns:a="http://schemas.openxmlformats.org/drawingml/2006/main" x="457200" y="1219200"/>
          <a:ext xmlns:a="http://schemas.openxmlformats.org/drawingml/2006/main" cx="10953750" cy="453485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000375"/>
                <a:gridCol w="5238750"/>
              </a:tblGrid>
              <a:tr h="5643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Thước đo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Cách sử dụng trong kết luận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Xếp hạng chất lượng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Macro-F1 mean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Tiêu chí chính. Mỗi lớp có trọng số ngang nhau dù số ảnh khác nhau.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Kiểm tra độ đúng chung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Accuracy mean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Chỉ số bổ sung. Không dùng riêng vì các lớp lớn có thể chi phối kết quả.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Giải thích kiểu sai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Macro-Precision và Macro-Recall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Precision phản ánh dự đoán nhầm vào lớp. Recall phản ánh ảnh thật bị bỏ sót.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Độ ổn định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Sample SD qua ba seed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SD nhỏ cho thấy metric ít dao động hơn khi huấn luyện lại.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Chất lượng từng lớp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F1 lớp kèm support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Xác định lớp yếu và kiểm tra điểm tổng thể có che khuất lớp khó hay không.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Độ chắc chắn của chênh lệch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Paired bootstrap 95% CI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So sánh chênh lệch Macro-F1 trên cùng ảnh. CI chứa 0 nghĩa là chưa tách biệt rõ.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Khả năng triển khai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Tham số, sau đó latency, RAM và năng lượng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Tham số chỉ phản ánh quy mô. Quyết định mobile cần phép đo trên cùng thiết bị.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Cách tính và kết quả của các thước đo chất lượng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Thước đo được tính xác định từ nhãn thật và dự đoán; chúng không có một “% chính xác” riêng.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Nguồn: scikit-learn official docs — accuracy_score, precision_score, recall_score và f1_score.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mlns:a="http://schemas.openxmlformats.org/drawingml/2006/main" x="457200" y="1238250"/>
          <a:ext xmlns:a="http://schemas.openxmlformats.org/drawingml/2006/main" cx="1095375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714625"/>
                <a:gridCol w="3000375"/>
                <a:gridCol w="3095625"/>
              </a:tblGrid>
              <a:tr h="746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Thước đo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Công thức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Kết quả mean sáu 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Cách đọc và giới hạn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Số dự đoán đúng / 9.376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96,551% đến 99,335%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B0: 99,335% ± 0,048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Độ đúng chung. Lớp lớn có thể chi phối.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Macro-Precision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Trung bình 11 giá trị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TPc / (TPc + FPc)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93,074% đến 98,288%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B0: 98,288% ± 0,195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Thấp khi mô hình gọi nhầm ảnh lớp khác vào lớp c.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Macro-Recall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Trung bình 11 giá trị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TPc / (TPc + FNc)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90,312% đến 97,717%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B0: 97,717% ± 0,146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Thấp khi mô hình bỏ sót ảnh thật của lớp c.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F1 lớp c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2TPc / (2TPc + FPc + FNc)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Theo lớp và mô hình: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76,711% đến 100,000%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Đọc kèm support. Không dùng true negative.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Trung bình không trọng số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của 11 F1 lớp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91,524% đến 97,994%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B0: 97,994% ± 0,159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Tiêu chí xếp hạng chính cho dữ liệu mất cân bằng.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6">
            <a:extLst xmlns:a="http://schemas.openxmlformats.org/drawingml/2006/main">
              <a:ext uri="{FF2B5EF4-FFF2-40B4-BE49-F238E27FC236}">
                <a16:creationId xmlns:a16="http://schemas.microsoft.com/office/drawing/2014/main" id="{96E14A23-0A52-4EF1-9AD1-56051477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Độ tin cậy của SD và paired bootstrap</a:t>
            </a:r>
          </a:p>
        </p:txBody>
      </p:sp>
      <p:sp>
        <p:nvSpPr>
          <p:cNvPr id="2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303E3599-F1EE-4269-BEA2-219C0A51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6">
            <a:extLst xmlns:a="http://schemas.openxmlformats.org/drawingml/2006/main">
              <a:ext uri="{FF2B5EF4-FFF2-40B4-BE49-F238E27FC236}">
                <a16:creationId xmlns:a16="http://schemas.microsoft.com/office/drawing/2014/main" id="{C26CE9D2-F4A4-42BE-B121-C8E729A1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macro-formula">
            <a:extLst xmlns:a="http://schemas.openxmlformats.org/drawingml/2006/main">
              <a:ext uri="{FF2B5EF4-FFF2-40B4-BE49-F238E27FC236}">
                <a16:creationId xmlns:a16="http://schemas.microsoft.com/office/drawing/2014/main" id="{F3888F8C-0B11-4FF3-815C-C8ADAA9B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667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3 lớp lớn chiếm 76,54%</a:t>
            </a:r>
          </a:p>
        </p:txBody>
      </p:sp>
      <p:sp>
        <p:nvSpPr>
          <p:cNvPr id="5" name="macro-desc">
            <a:extLst xmlns:a="http://schemas.openxmlformats.org/drawingml/2006/main">
              <a:ext uri="{FF2B5EF4-FFF2-40B4-BE49-F238E27FC236}">
                <a16:creationId xmlns:a16="http://schemas.microsoft.com/office/drawing/2014/main" id="{6DAEDAC0-E61C-468A-9B78-908B6706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765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Rầy nâu, sâu cuốn lá và sâu đục thân chiếm 7.523 / 9.829 ảnh.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endParaRPr sz="1950" b="0">
              <a:solidFill>
                <a:srgbClr val="52616B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9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Accuracy cao vẫn có thể che khuất lỗi ở những lớp ít ảnh.</a:t>
            </a:r>
          </a:p>
        </p:txBody>
      </p:sp>
      <p:sp>
        <p:nvSpPr>
          <p:cNvPr id="6" name="metric-separator">
            <a:extLst xmlns:a="http://schemas.openxmlformats.org/drawingml/2006/main">
              <a:ext uri="{FF2B5EF4-FFF2-40B4-BE49-F238E27FC236}">
                <a16:creationId xmlns:a16="http://schemas.microsoft.com/office/drawing/2014/main" id="{C4DDB1E3-1010-4318-8ABC-83051683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etric-h-0">
            <a:extLst xmlns:a="http://schemas.openxmlformats.org/drawingml/2006/main">
              <a:ext uri="{FF2B5EF4-FFF2-40B4-BE49-F238E27FC236}">
                <a16:creationId xmlns:a16="http://schemas.microsoft.com/office/drawing/2014/main" id="{5F451F6D-B4E2-48FC-87C2-52DB0D92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240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8" name="metric-b-0">
            <a:extLst xmlns:a="http://schemas.openxmlformats.org/drawingml/2006/main">
              <a:ext uri="{FF2B5EF4-FFF2-40B4-BE49-F238E27FC236}">
                <a16:creationId xmlns:a16="http://schemas.microsoft.com/office/drawing/2014/main" id="{3D6E8497-CCFF-4576-AC23-9DE00F48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Mỗi ảnh có trọng số như nhau.</a:t>
            </a:r>
          </a:p>
        </p:txBody>
      </p:sp>
      <p:sp>
        <p:nvSpPr>
          <p:cNvPr id="9" name="metric-h-1">
            <a:extLst xmlns:a="http://schemas.openxmlformats.org/drawingml/2006/main">
              <a:ext uri="{FF2B5EF4-FFF2-40B4-BE49-F238E27FC236}">
                <a16:creationId xmlns:a16="http://schemas.microsoft.com/office/drawing/2014/main" id="{93DCD0E7-CC31-4DCC-A325-1D3DDB94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76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Macro-F1</a:t>
            </a:r>
          </a:p>
        </p:txBody>
      </p:sp>
      <p:sp>
        <p:nvSpPr>
          <p:cNvPr id="10" name="metric-b-1">
            <a:extLst xmlns:a="http://schemas.openxmlformats.org/drawingml/2006/main">
              <a:ext uri="{FF2B5EF4-FFF2-40B4-BE49-F238E27FC236}">
                <a16:creationId xmlns:a16="http://schemas.microsoft.com/office/drawing/2014/main" id="{2AE959E7-2A09-46E7-949B-91DEDFC3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Mỗi lớp có trọng số như nhau.</a:t>
            </a:r>
          </a:p>
        </p:txBody>
      </p:sp>
      <p:sp>
        <p:nvSpPr>
          <p:cNvPr id="11" name="metric-h-2">
            <a:extLst xmlns:a="http://schemas.openxmlformats.org/drawingml/2006/main">
              <a:ext uri="{FF2B5EF4-FFF2-40B4-BE49-F238E27FC236}">
                <a16:creationId xmlns:a16="http://schemas.microsoft.com/office/drawing/2014/main" id="{71A16988-B3D3-47D2-9D48-8D21C7BA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290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SD qua seed</a:t>
            </a:r>
          </a:p>
        </p:txBody>
      </p:sp>
      <p:sp>
        <p:nvSpPr>
          <p:cNvPr id="12" name="metric-b-2">
            <a:extLst xmlns:a="http://schemas.openxmlformats.org/drawingml/2006/main">
              <a:ext uri="{FF2B5EF4-FFF2-40B4-BE49-F238E27FC236}">
                <a16:creationId xmlns:a16="http://schemas.microsoft.com/office/drawing/2014/main" id="{660E03A3-2B0F-49B4-A81D-3EE4AC86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29000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Mức dao động giữa ba seed.</a:t>
            </a:r>
          </a:p>
        </p:txBody>
      </p:sp>
      <p:sp>
        <p:nvSpPr>
          <p:cNvPr id="13" name="metric-h-3">
            <a:extLst xmlns:a="http://schemas.openxmlformats.org/drawingml/2006/main">
              <a:ext uri="{FF2B5EF4-FFF2-40B4-BE49-F238E27FC236}">
                <a16:creationId xmlns:a16="http://schemas.microsoft.com/office/drawing/2014/main" id="{33563656-2291-485E-9CBB-E5954816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81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CI bootstrap</a:t>
            </a:r>
          </a:p>
        </p:txBody>
      </p:sp>
      <p:sp>
        <p:nvSpPr>
          <p:cNvPr id="14" name="metric-b-3">
            <a:extLst xmlns:a="http://schemas.openxmlformats.org/drawingml/2006/main">
              <a:ext uri="{FF2B5EF4-FFF2-40B4-BE49-F238E27FC236}">
                <a16:creationId xmlns:a16="http://schemas.microsoft.com/office/drawing/2014/main" id="{DE82B339-4412-48CD-B78E-B82A3D92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Bất định do tập ảnh kiểm thử.</a:t>
            </a:r>
          </a:p>
        </p:txBody>
      </p:sp>
      <p:sp>
        <p:nvSpPr>
          <p:cNvPr id="15" name="metric-warning">
            <a:extLst xmlns:a="http://schemas.openxmlformats.org/drawingml/2006/main">
              <a:ext uri="{FF2B5EF4-FFF2-40B4-BE49-F238E27FC236}">
                <a16:creationId xmlns:a16="http://schemas.microsoft.com/office/drawing/2014/main" id="{3AFEDA18-8AEE-4858-80D9-7FCDA083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810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metric-warning-text">
            <a:extLst xmlns:a="http://schemas.openxmlformats.org/drawingml/2006/main">
              <a:ext uri="{FF2B5EF4-FFF2-40B4-BE49-F238E27FC236}">
                <a16:creationId xmlns:a16="http://schemas.microsoft.com/office/drawing/2014/main" id="{E60BA53E-7D9B-44C5-80BA-10B47B02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Tiêu chí chính: Macro-F1. Accuracy bổ sung; SD và CI không thay thế nhau.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41839AF-6BEE-47AA-A2ED-10F358CA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40" name="Table 38"/>
          <p:cNvGraphicFramePr/>
          <p:nvPr/>
        </p:nvGraphicFramePr>
        <p:xfrm>
          <a:off xmlns:a="http://schemas.openxmlformats.org/drawingml/2006/main" x="457200" y="1352550"/>
          <a:ext xmlns:a="http://schemas.openxmlformats.org/drawingml/2006/main" cx="10953750" cy="356377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000375"/>
                <a:gridCol w="2857500"/>
                <a:gridCol w="3000375"/>
              </a:tblGrid>
              <a:tr h="869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Thước đo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Cách tính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Kết quả hiện tại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Độ tin cậy và giới hạn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Sample SD qua seed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 = căn bậc hai của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Σ(xi - x̄)² / (n - 1), n = 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SD Macro-F1: 0,070 đến 1,771 điểm %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V3-L nhỏ nhất; Shuffle lớn nhất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Mô tả dao động của ba lần train. Mean ± SD không phải CI 95%.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Paired bootstrap 95% CI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Lấy mẫu có hoàn lại cùng chỉ số ảnh.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 = 2.000; percentile 2,5% đến 97,5%.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 so sánh V3 với năm mô hình × ba seed.</a:t>
                      </a:r>
                    </a:p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6 CI chứa 0; 9 CI không chứa 0.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Phản ánh biến thiên do tập ảnh của checkpoint cố định. Chưa gộp biến thiên train và chưa hiệu chỉnh đa so sánh.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Cách diễn giải CI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Tính Δ Macro-F1 cho từng mẫu bootstrap.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CI chứa 0: chênh lệch chưa tách biệt rõ ở seed đó.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CI 95% không có nghĩa mô hình đúng 95% và không chứng minh quan hệ nhân quả.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29F17D7-4DAB-493F-A20F-443581B2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00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Nguồn và mức độ tin cậy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AE27D96-882C-4E9D-B178-CCE4D04A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05425"/>
            <a:ext cx="1071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NIST SEMATECH e-Handbook cung cấp công thức sample SD. Efron 1979 là bài bootstrap gốc đã bình duyệt trên The Annals of Statistics. scikit-learn resample xác nhận cơ chế lấy mẫu có hoàn lại.</a:t>
            </a:r>
          </a:p>
        </p:txBody>
      </p:sp>
    </p:spTree>
    <p:extLst>
      <p:ext uri="{BB962C8B-B14F-4D97-AF65-F5344CB8AC3E}">
        <p14:creationId xmlns:p14="http://schemas.microsoft.com/office/powerpoint/2010/main" val="6631504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7">
            <a:extLst xmlns:a="http://schemas.openxmlformats.org/drawingml/2006/main">
              <a:ext uri="{FF2B5EF4-FFF2-40B4-BE49-F238E27FC236}">
                <a16:creationId xmlns:a16="http://schemas.microsoft.com/office/drawing/2014/main" id="{2F68A621-E262-45DC-996E-1F9213AE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 dẫn đầu Macro-F1 trên 11 lớp sau lọc</a:t>
            </a:r>
          </a:p>
        </p:txBody>
      </p:sp>
      <p:sp>
        <p:nvSpPr>
          <p:cNvPr id="2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1D371C98-60FA-435C-8EE4-4383C67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7">
            <a:extLst xmlns:a="http://schemas.openxmlformats.org/drawingml/2006/main">
              <a:ext uri="{FF2B5EF4-FFF2-40B4-BE49-F238E27FC236}">
                <a16:creationId xmlns:a16="http://schemas.microsoft.com/office/drawing/2014/main" id="{9E4222E4-E1F1-498F-B414-ADC2D088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winner-panel">
            <a:extLst xmlns:a="http://schemas.openxmlformats.org/drawingml/2006/main">
              <a:ext uri="{FF2B5EF4-FFF2-40B4-BE49-F238E27FC236}">
                <a16:creationId xmlns:a16="http://schemas.microsoft.com/office/drawing/2014/main" id="{91AFFC93-0C8D-4DAD-B964-3853599B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winner-label">
            <a:extLst xmlns:a="http://schemas.openxmlformats.org/drawingml/2006/main">
              <a:ext uri="{FF2B5EF4-FFF2-40B4-BE49-F238E27FC236}">
                <a16:creationId xmlns:a16="http://schemas.microsoft.com/office/drawing/2014/main" id="{C4730370-8013-4352-9FF4-FD256F3D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97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MEAN ± SD</a:t>
            </a:r>
          </a:p>
        </p:txBody>
      </p:sp>
      <p:sp>
        <p:nvSpPr>
          <p:cNvPr id="7" name="winner-value">
            <a:extLst xmlns:a="http://schemas.openxmlformats.org/drawingml/2006/main">
              <a:ext uri="{FF2B5EF4-FFF2-40B4-BE49-F238E27FC236}">
                <a16:creationId xmlns:a16="http://schemas.microsoft.com/office/drawing/2014/main" id="{86DCCA80-BD1C-490A-9A5C-FBEB3906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81225"/>
            <a:ext cx="252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97,994%</a:t>
            </a:r>
          </a:p>
        </p:txBody>
      </p:sp>
      <p:sp>
        <p:nvSpPr>
          <p:cNvPr id="8" name="winner-name">
            <a:extLst xmlns:a="http://schemas.openxmlformats.org/drawingml/2006/main">
              <a:ext uri="{FF2B5EF4-FFF2-40B4-BE49-F238E27FC236}">
                <a16:creationId xmlns:a16="http://schemas.microsoft.com/office/drawing/2014/main" id="{3E0C195A-9CCB-4ED7-9E05-BCAD0475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813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F855A"/>
                </a:solidFill>
                <a:latin typeface="Arial"/>
                <a:ea typeface="Arial"/>
                <a:cs typeface="Arial"/>
              </a:rPr>
              <a:t>SD = 0,159 điểm %</a:t>
            </a:r>
          </a:p>
        </p:txBody>
      </p:sp>
      <p:sp>
        <p:nvSpPr>
          <p:cNvPr id="9" name="overall-gap">
            <a:extLst xmlns:a="http://schemas.openxmlformats.org/drawingml/2006/main">
              <a:ext uri="{FF2B5EF4-FFF2-40B4-BE49-F238E27FC236}">
                <a16:creationId xmlns:a16="http://schemas.microsoft.com/office/drawing/2014/main" id="{7A6F7D83-9ED0-4F41-BB30-F98E7E04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314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V3-Large: 97,32%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endParaRPr sz="1875" b="0">
              <a:solidFill>
                <a:srgbClr val="0B172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Chênh lệch B0 − V3: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+0,441 điểm %</a:t>
            </a:r>
          </a:p>
        </p:txBody>
      </p:sp>
      <p:sp>
        <p:nvSpPr>
          <p:cNvPr id="10" name="axis-note">
            <a:extLst xmlns:a="http://schemas.openxmlformats.org/drawingml/2006/main">
              <a:ext uri="{FF2B5EF4-FFF2-40B4-BE49-F238E27FC236}">
                <a16:creationId xmlns:a16="http://schemas.microsoft.com/office/drawing/2014/main" id="{4BBBFF0D-168E-46A6-89D7-F92D0E21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387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Thanh bắt đầu từ 0%.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Đây là điểm test nội bộ, không phải độ chính xác thực địa.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26FA711-4BCF-4FF3-912C-2E3319FA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B78AEEA-42DA-4DE3-AD27-0B0AE3B1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0953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2F855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61" name="Table 59"/>
          <p:cNvGraphicFramePr/>
          <p:nvPr/>
        </p:nvGraphicFramePr>
        <p:xfrm>
          <a:off xmlns:a="http://schemas.openxmlformats.org/drawingml/2006/main" x="666750" y="1362075"/>
          <a:ext xmlns:a="http://schemas.openxmlformats.org/drawingml/2006/main" cx="10572750" cy="38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Kết quả tái tính trên 11 lớp từ checkpoint 19 đầu ra.</a:t>
                      </a:r>
                    </a:p>
                  </a:txBody>
                  <a:tcPr marL="91440" marR="91440" marT="45720" marB="45720" anchor="ctr">
                    <a:solidFill>
                      <a:srgbClr val="EAF6F0"/>
                    </a:solidFill>
                  </a:tcPr>
                </a:tc>
              </a:tr>
            </a:tbl>
          </a:graphicData>
        </a:graphic>
      </p:graphicFrame>
      <p:sp>
        <p:nvSpPr>
          <p:cNvPr id="16" name="Straight Connector 15">
            <a:extLst xmlns:a="http://schemas.openxmlformats.org/drawingml/2006/main">
              <a:ext uri="{FF2B5EF4-FFF2-40B4-BE49-F238E27FC236}">
                <a16:creationId xmlns:a16="http://schemas.microsoft.com/office/drawing/2014/main" id="{C4AC22B0-EE8B-475A-AADA-14920175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BEA5E11-95AD-4B52-830B-6D71D5DC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88</a:t>
            </a:r>
          </a:p>
        </p:txBody>
      </p:sp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C395F3B7-8346-41BE-BB7D-7E020D8A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B5A5173-CDCC-4A81-B3DD-E7BB0AE6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7EE7ECE8-CE23-4887-8441-6F6491F9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25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16425C9-8525-4326-B497-ABE980A6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6D596E11-92AA-4BDC-B5A4-A49514E4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7F5E658-BCFA-4BA5-A6E9-60543357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94</a:t>
            </a:r>
          </a:p>
        </p:txBody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B96F15D2-B2F4-4F2E-A6EA-5DCC3DAE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6D55E79-38CB-436E-A040-6437D987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  <p:sp>
        <p:nvSpPr>
          <p:cNvPr id="26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F94DEF26-1F8B-4241-A4CB-8B32ACB8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85D1895-47E8-4471-BED2-D28581C4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28" name="Straight Connector 27">
            <a:extLst xmlns:a="http://schemas.openxmlformats.org/drawingml/2006/main">
              <a:ext uri="{FF2B5EF4-FFF2-40B4-BE49-F238E27FC236}">
                <a16:creationId xmlns:a16="http://schemas.microsoft.com/office/drawing/2014/main" id="{4BDF169F-530E-4A43-93A3-897D8752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45CBDC0-5D99-404C-B7F3-9C9372DC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1F93661-0D33-4544-B36D-0C158FE1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A0DA782-0D4E-460F-A4DD-530F8DB5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5553151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5424CCA-F9B7-4796-B44C-0B16A74D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101" y="2095500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97,994%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D6A9A5FA-D648-4F11-83C9-471B3D10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5563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MobileNetV3-Large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FB4B2791-3EA7-4941-B5F6-725FEC97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52713"/>
            <a:ext cx="5325904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27BC1795-5333-4F71-B870-BDA54D7F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5854" y="2595563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97,585%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7EC101BB-56F3-4765-ADEE-0B58A42F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3DAF0B87-CF3B-47CD-8D4B-669D704F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52775"/>
            <a:ext cx="5130380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F5763E8B-D91D-48D0-B7CF-F422E4C3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330" y="3095625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97,234%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9FE535F7-C456-45AB-990D-ED5BF6E5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5688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5CF9F217-6996-43FB-B57B-145466CC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52838"/>
            <a:ext cx="5090948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5859050B-19AA-4CE9-85C3-0CAFDAA3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98" y="3595688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97,163%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555D9987-4445-4A9F-90D0-E6369609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186CDD94-E59C-4AC6-809A-8203ED4E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52900"/>
            <a:ext cx="4571327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BB885B13-16D1-4CFA-908B-02BA0927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277" y="4095750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96,227%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D373DE2A-DEFA-4A82-B6C6-1797BEBC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5813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 1.0×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5B2EC982-07A8-4FE6-82F8-4F01FF2A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52963"/>
            <a:ext cx="1957958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2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AF41934A-DD0A-41E6-B9B6-6673CA76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908" y="4595813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91,524%</a:t>
            </a: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088CD952-1AD0-4A32-B027-8713CB3A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95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mean qua 3 seed (%)</a:t>
            </a:r>
          </a:p>
        </p:txBody>
      </p:sp>
    </p:spTree>
    <p:extLst>
      <p:ext uri="{BB962C8B-B14F-4D97-AF65-F5344CB8AC3E}">
        <p14:creationId xmlns:p14="http://schemas.microsoft.com/office/powerpoint/2010/main" val="8157861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2">
            <a:extLst xmlns:a="http://schemas.openxmlformats.org/drawingml/2006/main">
              <a:ext uri="{FF2B5EF4-FFF2-40B4-BE49-F238E27FC236}">
                <a16:creationId xmlns:a16="http://schemas.microsoft.com/office/drawing/2014/main" id="{43B0008C-E08E-4F23-AB42-B7E9CA3D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Kết quả tổng thể trên 9.376 ảnh của 11 lớp</a:t>
            </a:r>
          </a:p>
        </p:txBody>
      </p:sp>
      <p:sp>
        <p:nvSpPr>
          <p:cNvPr id="2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AF43F4CA-8D37-478C-91B1-3467BDEA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12">
            <a:extLst xmlns:a="http://schemas.openxmlformats.org/drawingml/2006/main">
              <a:ext uri="{FF2B5EF4-FFF2-40B4-BE49-F238E27FC236}">
                <a16:creationId xmlns:a16="http://schemas.microsoft.com/office/drawing/2014/main" id="{1151569E-AD51-4E80-A10A-5873A758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resource-insight">
            <a:extLst xmlns:a="http://schemas.openxmlformats.org/drawingml/2006/main">
              <a:ext uri="{FF2B5EF4-FFF2-40B4-BE49-F238E27FC236}">
                <a16:creationId xmlns:a16="http://schemas.microsoft.com/office/drawing/2014/main" id="{0F6D3110-6DE2-459E-8881-F25FF0ED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B0 đứng đầu mean Macro-F1 97,994%; V3-Large đứng thứ hai 97,585%.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Thứ hạng sáu mô hình không đổi so với phân tích 19 lớp.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099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019300"/>
                <a:gridCol w="2019300"/>
                <a:gridCol w="2019300"/>
                <a:gridCol w="2038350"/>
              </a:tblGrid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± SD (%)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Macro-R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99,335 ± 0,048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98,288 ± 0,195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97,717 ± 0,146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97,994 ± 0,159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99,189 ± 0,046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97,985 ± 0,079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97,219 ± 0,110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97,585 ± 0,070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98,941 ± 0,386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97,576 ± 0,837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96,917 ± 1,031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97,234 ± 0,941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98,948 ± 0,137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97,630 ± 0,320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96,711 ± 0,349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97,163 ± 0,316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98,617 ± 0,374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96,790 ± 0,828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95,719 ± 1,110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96,227 ± 0,981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96,551 ± 0,838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93,074 ± 1,401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90,312 ± 2,041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 ± 1,771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4589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8">
            <a:extLst xmlns:a="http://schemas.openxmlformats.org/drawingml/2006/main">
              <a:ext uri="{FF2B5EF4-FFF2-40B4-BE49-F238E27FC236}">
                <a16:creationId xmlns:a16="http://schemas.microsoft.com/office/drawing/2014/main" id="{1C597C3A-AA3D-48C1-88A3-B3FA6D03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Độ ổn định Macro-F1 qua ba seed</a:t>
            </a:r>
          </a:p>
        </p:txBody>
      </p:sp>
      <p:sp>
        <p:nvSpPr>
          <p:cNvPr id="2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3735F3D6-BCD0-4EBC-97DE-D3418EED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8">
            <a:extLst xmlns:a="http://schemas.openxmlformats.org/drawingml/2006/main">
              <a:ext uri="{FF2B5EF4-FFF2-40B4-BE49-F238E27FC236}">
                <a16:creationId xmlns:a16="http://schemas.microsoft.com/office/drawing/2014/main" id="{6AC4793F-CB2D-4903-B7DD-D4C4FC75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stable-head">
            <a:extLst xmlns:a="http://schemas.openxmlformats.org/drawingml/2006/main">
              <a:ext uri="{FF2B5EF4-FFF2-40B4-BE49-F238E27FC236}">
                <a16:creationId xmlns:a16="http://schemas.microsoft.com/office/drawing/2014/main" id="{8A349C82-EDE3-4D9E-92A7-55717BCF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66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SD nhỏ nhất</a:t>
            </a:r>
          </a:p>
        </p:txBody>
      </p:sp>
      <p:sp>
        <p:nvSpPr>
          <p:cNvPr id="6" name="stable-value">
            <a:extLst xmlns:a="http://schemas.openxmlformats.org/drawingml/2006/main">
              <a:ext uri="{FF2B5EF4-FFF2-40B4-BE49-F238E27FC236}">
                <a16:creationId xmlns:a16="http://schemas.microsoft.com/office/drawing/2014/main" id="{4F9F4B29-FBB4-4D1C-9799-AE8257D3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431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0,064 điểm %</a:t>
            </a:r>
          </a:p>
        </p:txBody>
      </p:sp>
      <p:sp>
        <p:nvSpPr>
          <p:cNvPr id="7" name="stable-body">
            <a:extLst xmlns:a="http://schemas.openxmlformats.org/drawingml/2006/main">
              <a:ext uri="{FF2B5EF4-FFF2-40B4-BE49-F238E27FC236}">
                <a16:creationId xmlns:a16="http://schemas.microsoft.com/office/drawing/2014/main" id="{42F607AF-21D1-4BE5-89A8-EFEED79C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527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EfficientNet-B0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Cao nhất cả 3 seed.</a:t>
            </a:r>
          </a:p>
        </p:txBody>
      </p:sp>
      <p:sp>
        <p:nvSpPr>
          <p:cNvPr id="8" name="unstable-head">
            <a:extLst xmlns:a="http://schemas.openxmlformats.org/drawingml/2006/main">
              <a:ext uri="{FF2B5EF4-FFF2-40B4-BE49-F238E27FC236}">
                <a16:creationId xmlns:a16="http://schemas.microsoft.com/office/drawing/2014/main" id="{163DA5F6-DDF9-4CCD-990C-1208751C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05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64B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64B46"/>
                </a:solidFill>
                <a:latin typeface="Arial"/>
                <a:ea typeface="Arial"/>
                <a:cs typeface="Arial"/>
              </a:rPr>
              <a:t>SD lớn nhất</a:t>
            </a:r>
          </a:p>
        </p:txBody>
      </p:sp>
      <p:sp>
        <p:nvSpPr>
          <p:cNvPr id="9" name="unstable-value">
            <a:extLst xmlns:a="http://schemas.openxmlformats.org/drawingml/2006/main">
              <a:ext uri="{FF2B5EF4-FFF2-40B4-BE49-F238E27FC236}">
                <a16:creationId xmlns:a16="http://schemas.microsoft.com/office/drawing/2014/main" id="{4FFB0D62-D52A-4E84-9C11-26592623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81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1,691 điểm %</a:t>
            </a:r>
          </a:p>
        </p:txBody>
      </p:sp>
      <p:sp>
        <p:nvSpPr>
          <p:cNvPr id="10" name="unstable-body">
            <a:extLst xmlns:a="http://schemas.openxmlformats.org/drawingml/2006/main">
              <a:ext uri="{FF2B5EF4-FFF2-40B4-BE49-F238E27FC236}">
                <a16:creationId xmlns:a16="http://schemas.microsoft.com/office/drawing/2014/main" id="{377148ED-4FEE-4FB8-8064-9E1324B0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911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ShuffleNet V2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Dao động nhiều hơn.</a:t>
            </a:r>
          </a:p>
        </p:txBody>
      </p:sp>
      <p:graphicFrame>
        <p:nvGraphicFramePr>
          <p:cNvPr id="89" name="Table 87"/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7905750" cy="4095749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1571625"/>
                <a:gridCol w="1571625"/>
                <a:gridCol w="1571625"/>
              </a:tblGrid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 (%)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42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123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2026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97,78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97,69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97,82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97,55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97,36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97,06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97,59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97,21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95,84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96,36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96,62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96,99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96,83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95,13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96,60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92,70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90,90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89,32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187E205-AFE7-4B7E-8A97-439DD769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D20526F1-C2E4-427F-B14A-FE2D896C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E1A1E16-F729-474A-AE85-4806F206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005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88</a:t>
            </a:r>
          </a:p>
        </p:txBody>
      </p:sp>
      <p:sp>
        <p:nvSpPr>
          <p:cNvPr id="16" name="Straight Connector 15">
            <a:extLst xmlns:a="http://schemas.openxmlformats.org/drawingml/2006/main">
              <a:ext uri="{FF2B5EF4-FFF2-40B4-BE49-F238E27FC236}">
                <a16:creationId xmlns:a16="http://schemas.microsoft.com/office/drawing/2014/main" id="{29F0AC08-2960-45AE-85F0-34DDD82C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D97BB58-81E1-4CBD-AA99-23E02AA2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290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1D1E21A9-F767-4DCA-9333-A93CF469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718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48114D5-6B4F-44E9-AF36-7A2C8180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575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978511C6-85EB-4BA2-8FBA-E59F8B9E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03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DEA91E1-F52B-43A0-A837-D444BD84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860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94</a:t>
            </a:r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ECB4CD8A-4F7B-4276-A3C1-7D826F65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288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0E20C9D-C5CF-498C-9E86-5F5266D3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145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56671EDA-31DD-4BEB-B7A8-493A8E4E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573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94FB929F-4211-475D-9AC7-33584F99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430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61AE50E6-6AA4-4502-9FEE-A6351915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D4E7DDA-4FF5-4E0D-A1AC-05B3E920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62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123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428A273-0A1B-420B-B7B5-8CA2DE45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09C7A2A-5F70-4A7E-8F0A-DE8CC2FE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(%)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F1E7CF50-F066-48E6-A97F-8147F584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90750" y="1807257"/>
            <a:ext cx="3857625" cy="858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F855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traight Connector 30">
            <a:extLst xmlns:a="http://schemas.openxmlformats.org/drawingml/2006/main">
              <a:ext uri="{FF2B5EF4-FFF2-40B4-BE49-F238E27FC236}">
                <a16:creationId xmlns:a16="http://schemas.microsoft.com/office/drawing/2014/main" id="{B3B79434-E750-43F0-AF86-EB85BC50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07257"/>
            <a:ext cx="3857625" cy="692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F855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714669EF-2A9C-4AAB-9156-7AE752DF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4548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6BA1C236-A731-49E6-A318-A6F5BE0C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963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59D5969F-B865-4A4F-912F-86294C4C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2891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Straight Connector 34">
            <a:extLst xmlns:a="http://schemas.openxmlformats.org/drawingml/2006/main">
              <a:ext uri="{FF2B5EF4-FFF2-40B4-BE49-F238E27FC236}">
                <a16:creationId xmlns:a16="http://schemas.microsoft.com/office/drawing/2014/main" id="{5C575A5A-F73E-48BE-B6F7-34DEE9C3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52832"/>
            <a:ext cx="3857625" cy="362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176A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traight Connector 35">
            <a:extLst xmlns:a="http://schemas.openxmlformats.org/drawingml/2006/main">
              <a:ext uri="{FF2B5EF4-FFF2-40B4-BE49-F238E27FC236}">
                <a16:creationId xmlns:a16="http://schemas.microsoft.com/office/drawing/2014/main" id="{8DF4838A-39FE-4DB5-9CD1-3277A924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48375" y="1985630"/>
            <a:ext cx="3857625" cy="34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176A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6FB3738D-527D-4575-9516-1E2F867C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0520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D750CFFC-1698-4BE3-927A-4FC0636C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142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FE874AB4-BC6D-4138-AA39-D1AAB597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3800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Straight Connector 39">
            <a:extLst xmlns:a="http://schemas.openxmlformats.org/drawingml/2006/main">
              <a:ext uri="{FF2B5EF4-FFF2-40B4-BE49-F238E27FC236}">
                <a16:creationId xmlns:a16="http://schemas.microsoft.com/office/drawing/2014/main" id="{7D261C21-4C85-456F-AB9D-9F2C5CD2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14029"/>
            <a:ext cx="3857625" cy="144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D5BD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Straight Connector 40">
            <a:extLst xmlns:a="http://schemas.openxmlformats.org/drawingml/2006/main">
              <a:ext uri="{FF2B5EF4-FFF2-40B4-BE49-F238E27FC236}">
                <a16:creationId xmlns:a16="http://schemas.microsoft.com/office/drawing/2014/main" id="{BC3D9009-F45C-4EE1-9C4B-CBDC55A4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28490"/>
            <a:ext cx="3857625" cy="4581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D5BD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9F3341C0-30BA-4A45-A997-0D587EC5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6640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F0C98C4D-5F5C-4584-AAC6-7AE8FD99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8086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F10DA290-9CD6-4E51-BD53-0A0FF689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390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Straight Connector 44">
            <a:extLst xmlns:a="http://schemas.openxmlformats.org/drawingml/2006/main">
              <a:ext uri="{FF2B5EF4-FFF2-40B4-BE49-F238E27FC236}">
                <a16:creationId xmlns:a16="http://schemas.microsoft.com/office/drawing/2014/main" id="{E58BFA91-945A-4CD1-BC93-1019FDAA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11506"/>
            <a:ext cx="3857625" cy="672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8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Straight Connector 45">
            <a:extLst xmlns:a="http://schemas.openxmlformats.org/drawingml/2006/main">
              <a:ext uri="{FF2B5EF4-FFF2-40B4-BE49-F238E27FC236}">
                <a16:creationId xmlns:a16="http://schemas.microsoft.com/office/drawing/2014/main" id="{F4F180FF-FD56-412C-AFAA-6CC7B813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48375" y="1999761"/>
            <a:ext cx="3857625" cy="1789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8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AECDC346-6160-4651-9A75-1C57E0A9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638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276B0497-FF28-42A3-8F67-BF73C3D9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311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4CCEAF3D-E9B9-4432-976F-E90C0988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5213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Straight Connector 49">
            <a:extLst xmlns:a="http://schemas.openxmlformats.org/drawingml/2006/main">
              <a:ext uri="{FF2B5EF4-FFF2-40B4-BE49-F238E27FC236}">
                <a16:creationId xmlns:a16="http://schemas.microsoft.com/office/drawing/2014/main" id="{67230B7F-FCD8-4FF0-9D50-360E893C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73085"/>
            <a:ext cx="3857625" cy="512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28E2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Straight Connector 50">
            <a:extLst xmlns:a="http://schemas.openxmlformats.org/drawingml/2006/main">
              <a:ext uri="{FF2B5EF4-FFF2-40B4-BE49-F238E27FC236}">
                <a16:creationId xmlns:a16="http://schemas.microsoft.com/office/drawing/2014/main" id="{4BFF7DA3-F116-44DF-9E19-D8C5DB58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48375" y="2232858"/>
            <a:ext cx="3857625" cy="4529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28E2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2ED84BE4-96D1-4ED1-812E-D6B934AE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2546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Oval 52">
            <a:extLst xmlns:a="http://schemas.openxmlformats.org/drawingml/2006/main">
              <a:ext uri="{FF2B5EF4-FFF2-40B4-BE49-F238E27FC236}">
                <a16:creationId xmlns:a16="http://schemas.microsoft.com/office/drawing/2014/main" id="{31F8F130-A8AD-47E8-92E6-2ACCB635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3815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CF6B2139-404C-4781-87F0-8ACE88BE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8523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E019EEBB-EFB2-42D5-BA38-BA1C1F72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73689"/>
            <a:ext cx="3857625" cy="596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5423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Straight Connector 55">
            <a:extLst xmlns:a="http://schemas.openxmlformats.org/drawingml/2006/main">
              <a:ext uri="{FF2B5EF4-FFF2-40B4-BE49-F238E27FC236}">
                <a16:creationId xmlns:a16="http://schemas.microsoft.com/office/drawing/2014/main" id="{A5A72F58-8A5F-45C9-9A13-8C8BB348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69739"/>
            <a:ext cx="3857625" cy="4106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5423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5FD1E121-8534-41DF-A4A5-3605B39D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2606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23A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Oval 57">
            <a:extLst xmlns:a="http://schemas.openxmlformats.org/drawingml/2006/main">
              <a:ext uri="{FF2B5EF4-FFF2-40B4-BE49-F238E27FC236}">
                <a16:creationId xmlns:a16="http://schemas.microsoft.com/office/drawing/2014/main" id="{A6895DEF-EA33-46D5-999F-8D7D0030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2211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23A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175A080C-B728-4AC0-8A1D-630C23B1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327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23A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612125CA-1418-4CFC-9283-329AE15E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55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Oval 60">
            <a:extLst xmlns:a="http://schemas.openxmlformats.org/drawingml/2006/main">
              <a:ext uri="{FF2B5EF4-FFF2-40B4-BE49-F238E27FC236}">
                <a16:creationId xmlns:a16="http://schemas.microsoft.com/office/drawing/2014/main" id="{A4801E62-E625-4B90-B3D4-4B781070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77AD2F1E-CB19-4866-9567-4C5D98EB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067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63" name="Straight Connector 62">
            <a:extLst xmlns:a="http://schemas.openxmlformats.org/drawingml/2006/main">
              <a:ext uri="{FF2B5EF4-FFF2-40B4-BE49-F238E27FC236}">
                <a16:creationId xmlns:a16="http://schemas.microsoft.com/office/drawing/2014/main" id="{F71D652B-80D5-473E-A613-1039AE05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91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176A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Oval 63">
            <a:extLst xmlns:a="http://schemas.openxmlformats.org/drawingml/2006/main">
              <a:ext uri="{FF2B5EF4-FFF2-40B4-BE49-F238E27FC236}">
                <a16:creationId xmlns:a16="http://schemas.microsoft.com/office/drawing/2014/main" id="{C565F584-BB1D-4140-B423-5ACB0082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Rectangle 64">
            <a:extLst xmlns:a="http://schemas.openxmlformats.org/drawingml/2006/main">
              <a:ext uri="{FF2B5EF4-FFF2-40B4-BE49-F238E27FC236}">
                <a16:creationId xmlns:a16="http://schemas.microsoft.com/office/drawing/2014/main" id="{94C16638-E365-4E6F-9150-3806475E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067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MobileNetV3-Large</a:t>
            </a:r>
          </a:p>
        </p:txBody>
      </p:sp>
      <p:sp>
        <p:nvSpPr>
          <p:cNvPr id="66" name="Straight Connector 65">
            <a:extLst xmlns:a="http://schemas.openxmlformats.org/drawingml/2006/main">
              <a:ext uri="{FF2B5EF4-FFF2-40B4-BE49-F238E27FC236}">
                <a16:creationId xmlns:a16="http://schemas.microsoft.com/office/drawing/2014/main" id="{6951779C-F0C0-4BA1-9385-5F2C8EE3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91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5BD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Oval 66">
            <a:extLst xmlns:a="http://schemas.openxmlformats.org/drawingml/2006/main">
              <a:ext uri="{FF2B5EF4-FFF2-40B4-BE49-F238E27FC236}">
                <a16:creationId xmlns:a16="http://schemas.microsoft.com/office/drawing/2014/main" id="{B6B9032F-0667-497D-BA5C-66E3D2B2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Rectangle 67">
            <a:extLst xmlns:a="http://schemas.openxmlformats.org/drawingml/2006/main">
              <a:ext uri="{FF2B5EF4-FFF2-40B4-BE49-F238E27FC236}">
                <a16:creationId xmlns:a16="http://schemas.microsoft.com/office/drawing/2014/main" id="{19488FAB-8FBE-4ED9-ADBB-BA5A9AFD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67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69" name="Straight Connector 68">
            <a:extLst xmlns:a="http://schemas.openxmlformats.org/drawingml/2006/main">
              <a:ext uri="{FF2B5EF4-FFF2-40B4-BE49-F238E27FC236}">
                <a16:creationId xmlns:a16="http://schemas.microsoft.com/office/drawing/2014/main" id="{1168D55E-9D52-4A69-B4FA-34BF4BC2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14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8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Oval 69">
            <a:extLst xmlns:a="http://schemas.openxmlformats.org/drawingml/2006/main">
              <a:ext uri="{FF2B5EF4-FFF2-40B4-BE49-F238E27FC236}">
                <a16:creationId xmlns:a16="http://schemas.microsoft.com/office/drawing/2014/main" id="{14F2A9BD-6308-4B05-A781-819E313F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46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Rectangle 70">
            <a:extLst xmlns:a="http://schemas.openxmlformats.org/drawingml/2006/main">
              <a:ext uri="{FF2B5EF4-FFF2-40B4-BE49-F238E27FC236}">
                <a16:creationId xmlns:a16="http://schemas.microsoft.com/office/drawing/2014/main" id="{E0B3CA92-0F9B-4248-8EC5-751765BD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391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72" name="Straight Connector 71">
            <a:extLst xmlns:a="http://schemas.openxmlformats.org/drawingml/2006/main">
              <a:ext uri="{FF2B5EF4-FFF2-40B4-BE49-F238E27FC236}">
                <a16:creationId xmlns:a16="http://schemas.microsoft.com/office/drawing/2014/main" id="{EED6F030-B0B8-43AE-B23F-1E59106F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514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8E2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" name="Oval 72">
            <a:extLst xmlns:a="http://schemas.openxmlformats.org/drawingml/2006/main">
              <a:ext uri="{FF2B5EF4-FFF2-40B4-BE49-F238E27FC236}">
                <a16:creationId xmlns:a16="http://schemas.microsoft.com/office/drawing/2014/main" id="{83DA461E-1AA4-4971-80FD-9A9103D9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46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Rectangle 73">
            <a:extLst xmlns:a="http://schemas.openxmlformats.org/drawingml/2006/main">
              <a:ext uri="{FF2B5EF4-FFF2-40B4-BE49-F238E27FC236}">
                <a16:creationId xmlns:a16="http://schemas.microsoft.com/office/drawing/2014/main" id="{A472C8DB-EDF1-4FA7-857E-1F79CDCC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391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75" name="Straight Connector 74">
            <a:extLst xmlns:a="http://schemas.openxmlformats.org/drawingml/2006/main">
              <a:ext uri="{FF2B5EF4-FFF2-40B4-BE49-F238E27FC236}">
                <a16:creationId xmlns:a16="http://schemas.microsoft.com/office/drawing/2014/main" id="{272502FF-4E6F-4B88-A721-FA55E310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14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5423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Oval 75">
            <a:extLst xmlns:a="http://schemas.openxmlformats.org/drawingml/2006/main">
              <a:ext uri="{FF2B5EF4-FFF2-40B4-BE49-F238E27FC236}">
                <a16:creationId xmlns:a16="http://schemas.microsoft.com/office/drawing/2014/main" id="{285EBE1E-BEEA-4EAA-84A5-04218681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46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23A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2CB3167E-9126-475E-AC8D-5274E7B5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391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 1.0×</a:t>
            </a:r>
          </a:p>
        </p:txBody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0522390C-C213-4A2A-A997-89E3BEF2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Training seed</a:t>
            </a:r>
          </a:p>
        </p:txBody>
      </p:sp>
    </p:spTree>
    <p:extLst>
      <p:ext uri="{BB962C8B-B14F-4D97-AF65-F5344CB8AC3E}">
        <p14:creationId xmlns:p14="http://schemas.microsoft.com/office/powerpoint/2010/main" val="8884193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F1 theo lớp — sáu lớp đầu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Đơn vị: %. Mean 3 seed, làm tròn 1 chữ số; 100,0 có thể do làm tròn.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B0 = EfficientNet-B0; V3-L = MobileNetV3-Large; Shuffle = ShuffleNet V2 1.0×.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02499E7-F3E1-46A3-985F-8E3B7BE3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19" name="Table 16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1371600"/>
                <a:gridCol w="1371600"/>
                <a:gridCol w="1371600"/>
                <a:gridCol w="1371600"/>
                <a:gridCol w="1371600"/>
                <a:gridCol w="1381125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 (test n)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Eff-B0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MV3-L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RN18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DN121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MV2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Shuffle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Bạc lá vi khuẩn (270)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Đạo ôn (251)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Rầy nâu (2786)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Đốm nâu (330)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Dảnh héo (215)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Ốc bươu vàng (122)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7"/>
          <p:cNvGraphicFramePr/>
          <p:nvPr/>
        </p:nvGraphicFramePr>
        <p:xfrm>
          <a:off xmlns:a="http://schemas.openxmlformats.org/drawingml/2006/main" x="619125" y="55721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Đơn vị: %, mean F1 lớp qua ba seed. Mỗi cột mô hình dùng đúng cùng ảnh test.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56248EA-BF21-4D37-A162-C19E851A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143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F1 theo lớp — năm lớp còn lại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Đơn vị: %. Mean 3 seed, làm tròn 1 chữ số; 100,0 có thể do làm tròn.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B0 = EfficientNet-B0; V3-L = MobileNetV3-Large; Shuffle = ShuffleNet V2 1.0×.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F2E9B6E-8FE9-4E18-9EED-CFD8DDF4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19" name="Table 16"/>
          <p:cNvGraphicFramePr/>
          <p:nvPr/>
        </p:nvGraphicFramePr>
        <p:xfrm>
          <a:off xmlns:a="http://schemas.openxmlformats.org/drawingml/2006/main" x="457200" y="1524000"/>
          <a:ext xmlns:a="http://schemas.openxmlformats.org/drawingml/2006/main" cx="109537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1371600"/>
                <a:gridCol w="1371600"/>
                <a:gridCol w="1371600"/>
                <a:gridCol w="1371600"/>
                <a:gridCol w="1371600"/>
                <a:gridCol w="1381125"/>
              </a:tblGrid>
              <a:tr h="603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 (test n)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Eff-B0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MV3-L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RN18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DN121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MV2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Shuffle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cuốn lá (1764)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Bình thường (263)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đục thân (2973)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Tungro (163)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89,5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76,7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Cỏ dại (239)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82,1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7"/>
          <p:cNvGraphicFramePr/>
          <p:nvPr/>
        </p:nvGraphicFramePr>
        <p:xfrm>
          <a:off xmlns:a="http://schemas.openxmlformats.org/drawingml/2006/main" x="619125" y="53816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Các lớp lớn gần bão hòa; Tungro và cỏ dại phân hóa mô hình rõ hơn.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26A55DB-F0EB-485B-BFD3-B98FB93F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143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9">
            <a:extLst xmlns:a="http://schemas.openxmlformats.org/drawingml/2006/main">
              <a:ext uri="{FF2B5EF4-FFF2-40B4-BE49-F238E27FC236}">
                <a16:creationId xmlns:a16="http://schemas.microsoft.com/office/drawing/2014/main" id="{8CF66D40-498E-4AA9-9A44-E7B99DA8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Lớp khó nhất cho thấy khoảng cách giữa các backbone</a:t>
            </a:r>
          </a:p>
        </p:txBody>
      </p:sp>
      <p:sp>
        <p:nvSpPr>
          <p:cNvPr id="2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922FE490-3233-4692-BA70-3690BE3A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9">
            <a:extLst xmlns:a="http://schemas.openxmlformats.org/drawingml/2006/main">
              <a:ext uri="{FF2B5EF4-FFF2-40B4-BE49-F238E27FC236}">
                <a16:creationId xmlns:a16="http://schemas.microsoft.com/office/drawing/2014/main" id="{E0B54F9D-451E-4D39-93DC-A5F1D9FA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class-callout-title">
            <a:extLst xmlns:a="http://schemas.openxmlformats.org/drawingml/2006/main">
              <a:ext uri="{FF2B5EF4-FFF2-40B4-BE49-F238E27FC236}">
                <a16:creationId xmlns:a16="http://schemas.microsoft.com/office/drawing/2014/main" id="{E917EE6A-8DA4-4BAB-9D3D-D99D2273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71625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Đọc theo từng lớp</a:t>
            </a:r>
          </a:p>
        </p:txBody>
      </p:sp>
      <p:sp>
        <p:nvSpPr>
          <p:cNvPr id="6" name="class-callout">
            <a:extLst xmlns:a="http://schemas.openxmlformats.org/drawingml/2006/main">
              <a:ext uri="{FF2B5EF4-FFF2-40B4-BE49-F238E27FC236}">
                <a16:creationId xmlns:a16="http://schemas.microsoft.com/office/drawing/2014/main" id="{038B23F7-0713-464A-8DCE-7DC92611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57425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Sương mai: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B0 92,9% • V3 91,9%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endParaRPr sz="1800" b="0">
              <a:solidFill>
                <a:srgbClr val="0B172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Sọc lá vi khuẩn: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71,2%</a:t>
            </a:r>
          </a:p>
        </p:txBody>
      </p:sp>
      <p:sp>
        <p:nvSpPr>
          <p:cNvPr id="7" name="class-small">
            <a:extLst xmlns:a="http://schemas.openxmlformats.org/drawingml/2006/main">
              <a:ext uri="{FF2B5EF4-FFF2-40B4-BE49-F238E27FC236}">
                <a16:creationId xmlns:a16="http://schemas.microsoft.com/office/drawing/2014/main" id="{B940AFDE-1B3F-4F7F-ABA2-9345C1BE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2524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class-small-text">
            <a:extLst xmlns:a="http://schemas.openxmlformats.org/drawingml/2006/main">
              <a:ext uri="{FF2B5EF4-FFF2-40B4-BE49-F238E27FC236}">
                <a16:creationId xmlns:a16="http://schemas.microsoft.com/office/drawing/2014/main" id="{6D07E430-C17A-4630-8299-A55AFF40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05300"/>
            <a:ext cx="2266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n: số ảnh của lớp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F1: mean 3 seed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Đủ 19 lớp: phụ lục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122C9A0-5308-4FFF-A0DF-C067288F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2" name="Table 21"/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095375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952625"/>
                <a:gridCol w="1952625"/>
                <a:gridCol w="1952625"/>
                <a:gridCol w="1952625"/>
              </a:tblGrid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Đạo ôn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Bình thường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Tungro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Cỏ dại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89,5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76,7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82,1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/>
          <p:nvPr/>
        </p:nvGraphicFramePr>
        <p:xfrm>
          <a:off xmlns:a="http://schemas.openxmlformats.org/drawingml/2006/main" x="619125" y="53816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ShuffleNet suy giảm rõ ở Tungro (76,7%) và cỏ dại (82,1%); bảng đầy đủ ở slide 20–21.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6943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0">
            <a:extLst xmlns:a="http://schemas.openxmlformats.org/drawingml/2006/main">
              <a:ext uri="{FF2B5EF4-FFF2-40B4-BE49-F238E27FC236}">
                <a16:creationId xmlns:a16="http://schemas.microsoft.com/office/drawing/2014/main" id="{E10E2226-76B8-4DD1-8376-82F56B4E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Thứ hạng giữ nguyên khi bỏ tám lớp support thấp</a:t>
            </a:r>
          </a:p>
        </p:txBody>
      </p:sp>
      <p:sp>
        <p:nvSpPr>
          <p:cNvPr id="2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A95F6E64-9507-43C0-B33C-36B3B027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10">
            <a:extLst xmlns:a="http://schemas.openxmlformats.org/drawingml/2006/main">
              <a:ext uri="{FF2B5EF4-FFF2-40B4-BE49-F238E27FC236}">
                <a16:creationId xmlns:a16="http://schemas.microsoft.com/office/drawing/2014/main" id="{7F77577C-2527-4653-A96B-60128ABD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error-read-title">
            <a:extLst xmlns:a="http://schemas.openxmlformats.org/drawingml/2006/main">
              <a:ext uri="{FF2B5EF4-FFF2-40B4-BE49-F238E27FC236}">
                <a16:creationId xmlns:a16="http://schemas.microsoft.com/office/drawing/2014/main" id="{95142EA5-F43E-454F-B653-08333BBC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Cách đọc ví dụ</a:t>
            </a:r>
          </a:p>
        </p:txBody>
      </p:sp>
      <p:sp>
        <p:nvSpPr>
          <p:cNvPr id="6" name="error-read">
            <a:extLst xmlns:a="http://schemas.openxmlformats.org/drawingml/2006/main">
              <a:ext uri="{FF2B5EF4-FFF2-40B4-BE49-F238E27FC236}">
                <a16:creationId xmlns:a16="http://schemas.microsoft.com/office/drawing/2014/main" id="{BB020F84-6BB3-4E28-AC1E-053A007B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14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Leaf smut → bạc lá:</a:t>
            </a:r>
          </a:p>
          <a:p xmlns:a="http://schemas.openxmlformats.org/drawingml/2006/main">
            <a:pPr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 lượt nhầm / (21 ảnh × 3 seed) = 4,76%.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endParaRPr sz="1875" b="0">
              <a:solidFill>
                <a:srgbClr val="52616B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Cùng 21 ảnh được đánh giá bởi 3 mô hình đã train.</a:t>
            </a:r>
          </a:p>
        </p:txBody>
      </p:sp>
      <p:sp>
        <p:nvSpPr>
          <p:cNvPr id="7" name="error-example">
            <a:extLst xmlns:a="http://schemas.openxmlformats.org/drawingml/2006/main">
              <a:ext uri="{FF2B5EF4-FFF2-40B4-BE49-F238E27FC236}">
                <a16:creationId xmlns:a16="http://schemas.microsoft.com/office/drawing/2014/main" id="{1C73C4A9-987A-4C42-9B9F-BF38A8D6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error-example-text">
            <a:extLst xmlns:a="http://schemas.openxmlformats.org/drawingml/2006/main">
              <a:ext uri="{FF2B5EF4-FFF2-40B4-BE49-F238E27FC236}">
                <a16:creationId xmlns:a16="http://schemas.microsoft.com/office/drawing/2014/main" id="{7E0AF6CA-A544-4883-ADAB-84B29094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958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Không coi 63 lượt dự đoán là 63 ảnh độc lập.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DED383C-41FD-4A0D-A5AB-8B546E55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2" name="Table 21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476500"/>
                <a:gridCol w="2667000"/>
                <a:gridCol w="238125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 19 lớp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Chuyển tiếp 11 lớp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Chênh lệch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97,764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97,994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+0,230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97,323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97,585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+0,262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96,878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97,234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+0,356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96,658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+0,505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96,184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96,227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+0,043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90,971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+0,553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/>
          <p:nvPr/>
        </p:nvGraphicFramePr>
        <p:xfrm>
          <a:off xmlns:a="http://schemas.openxmlformats.org/drawingml/2006/main" x="619125" y="55721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Điểm tăng do đổi phạm vi true-label; checkpoint không đổi và dự đoán sang nhãn bị loại vẫn tính sai.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3116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Bootstrap ghép cặp: V3-Large so với 5 mô hình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Điểm %. Δ dương nghiêng về V3; CI percentile 95% từ 2.000 lần lấy mẫu lại theo ảnh.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2714625"/>
                <a:gridCol w="2714625"/>
                <a:gridCol w="2714625"/>
              </a:tblGrid>
              <a:tr h="695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Δ F1: V3 − đối chiếu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42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123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2026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-0,209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[-0,835; 0,412]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-0,636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[-1,220; -0,074]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-0,382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[-0,970; 0,189]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-0,136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[-0,741; 0,492]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-0,212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[-0,851; 0,418]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1,403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[0,737; 2,124]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0,555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[-0,083; 1,208]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0,664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[0,071; 1,332]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0,049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[-0,565; 0,676]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0,771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[0,099; 1,458]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2,438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[1,654; 3,227]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0,865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[0,189; 1,570]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4,272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[3,417; 5,152]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6,232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[5,249; 7,222]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7,681</a:t>
                      </a:r>
                    </a:p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[6,729; 8,723]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Hai mô hình dẫn đầu: B0 và V3-Large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Chênh lệch nhỏ về mean nhưng không đồng nhất qua từng seed.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97,994 ± 0,159%; hạng 1. Điểm từng seed: 97,875 / 98,175 / 97,933.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97,585 ± 0,070%; hạng 2, thấp hơn B0 0,409 điểm % theo mean.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Bootstrap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V3−B0: CI chứa 0 ở seed 42 và 2026; hoàn toàn âm ở seed 123. Không tuyên bố B0 vượt trội thống kê toàn cục.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B0 là mốc chất lượng; V3-Large vẫn đáng ưu tiên khi mục tiêu cuối là mobile.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 và DenseNet-121: hạng giữa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kiến trúc đạt chất lượng cao nhưng không có lợi thế rõ về quy mô.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66925"/>
            <a:ext cx="685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Macro-F1: 97,234 ± 0,941%. Seed 2026 giảm còn 96,148%.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71825"/>
            <a:ext cx="685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Macro-F1: 97,163 ± 0,316%. Độ dao động thấp hơn ResNet-18.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Quy mô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76725"/>
            <a:ext cx="685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Checkpoint 19 lớp: ResNet 11,186M; DenseNet 6,973M.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Chưa có paired bootstrap trực tiếp ResNet–DenseNet; thứ hạng 3–4 chỉ mang tính mô tả.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 và ShuffleNet: độ gọn đổi lấy chất lượng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baseline nhẹ giúp nhìn rõ đường biên triển khai.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96,227 ± 0,981%; V3-Large hơn 1,358 điểm % theo mean.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91,524 ± 1,771%; SD lớn nhất và giảm liên tục từ seed 42 đến 2026.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Triển khai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ShuffleNet nhỏ nhất với 1,273M tham số ở checkpoint 19 lớp, nhưng F1 của Tungro và cỏ dại giảm mạnh.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Không chọn mô hình chỉ vì nhỏ nhất; cần ngưỡng chất lượng tối thiểu và benchmark mobile thật.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3">
            <a:extLst xmlns:a="http://schemas.openxmlformats.org/drawingml/2006/main">
              <a:ext uri="{FF2B5EF4-FFF2-40B4-BE49-F238E27FC236}">
                <a16:creationId xmlns:a16="http://schemas.microsoft.com/office/drawing/2014/main" id="{91B1FC95-FEC2-4E8A-8CCC-1C087915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Kiểm toán phép tính và provenance</a:t>
            </a:r>
          </a:p>
        </p:txBody>
      </p:sp>
      <p:sp>
        <p:nvSpPr>
          <p:cNvPr id="2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3EFD848A-6809-415A-ACBE-0773DB59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13">
            <a:extLst xmlns:a="http://schemas.openxmlformats.org/drawingml/2006/main">
              <a:ext uri="{FF2B5EF4-FFF2-40B4-BE49-F238E27FC236}">
                <a16:creationId xmlns:a16="http://schemas.microsoft.com/office/drawing/2014/main" id="{09273645-C816-449B-8BF9-B8EE5C47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high-score">
            <a:extLst xmlns:a="http://schemas.openxmlformats.org/drawingml/2006/main">
              <a:ext uri="{FF2B5EF4-FFF2-40B4-BE49-F238E27FC236}">
                <a16:creationId xmlns:a16="http://schemas.microsoft.com/office/drawing/2014/main" id="{1E73B4F9-2DB7-4349-87C8-E22D4112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18 / 18 file</a:t>
            </a:r>
          </a:p>
        </p:txBody>
      </p:sp>
      <p:sp>
        <p:nvSpPr>
          <p:cNvPr id="5" name="high-score-label">
            <a:extLst xmlns:a="http://schemas.openxmlformats.org/drawingml/2006/main">
              <a:ext uri="{FF2B5EF4-FFF2-40B4-BE49-F238E27FC236}">
                <a16:creationId xmlns:a16="http://schemas.microsoft.com/office/drawing/2014/main" id="{5250DC14-68C7-4F3D-B786-7FD98D8F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3905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18 CSV × 9.376 hàng sau lọc; cùng danh sách ảnh.</a:t>
            </a:r>
          </a:p>
        </p:txBody>
      </p:sp>
      <p:sp>
        <p:nvSpPr>
          <p:cNvPr id="6" name="limit-rule">
            <a:extLst xmlns:a="http://schemas.openxmlformats.org/drawingml/2006/main">
              <a:ext uri="{FF2B5EF4-FFF2-40B4-BE49-F238E27FC236}">
                <a16:creationId xmlns:a16="http://schemas.microsoft.com/office/drawing/2014/main" id="{36087144-6432-4CA7-8BFE-95208601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8112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limit-num-0">
            <a:extLst xmlns:a="http://schemas.openxmlformats.org/drawingml/2006/main">
              <a:ext uri="{FF2B5EF4-FFF2-40B4-BE49-F238E27FC236}">
                <a16:creationId xmlns:a16="http://schemas.microsoft.com/office/drawing/2014/main" id="{A10774EB-94E4-444B-A0AF-24126A2F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28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limit-title-0">
            <a:extLst xmlns:a="http://schemas.openxmlformats.org/drawingml/2006/main">
              <a:ext uri="{FF2B5EF4-FFF2-40B4-BE49-F238E27FC236}">
                <a16:creationId xmlns:a16="http://schemas.microsoft.com/office/drawing/2014/main" id="{3FE1F188-6A11-4AAD-B545-FBD95BD1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Nguồn nhãn</a:t>
            </a:r>
          </a:p>
        </p:txBody>
      </p:sp>
      <p:sp>
        <p:nvSpPr>
          <p:cNvPr id="9" name="limit-body-0">
            <a:extLst xmlns:a="http://schemas.openxmlformats.org/drawingml/2006/main">
              <a:ext uri="{FF2B5EF4-FFF2-40B4-BE49-F238E27FC236}">
                <a16:creationId xmlns:a16="http://schemas.microsoft.com/office/drawing/2014/main" id="{DF347633-AC8E-4BB5-B0E4-9ABC4A34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true_label từ split V2; chỉ lọc theo danh sách 11 lớp.</a:t>
            </a:r>
          </a:p>
        </p:txBody>
      </p:sp>
      <p:sp>
        <p:nvSpPr>
          <p:cNvPr id="10" name="limit-num-1">
            <a:extLst xmlns:a="http://schemas.openxmlformats.org/drawingml/2006/main">
              <a:ext uri="{FF2B5EF4-FFF2-40B4-BE49-F238E27FC236}">
                <a16:creationId xmlns:a16="http://schemas.microsoft.com/office/drawing/2014/main" id="{5880ECD1-21EE-4972-AC18-21239A73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955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limit-title-1">
            <a:extLst xmlns:a="http://schemas.openxmlformats.org/drawingml/2006/main">
              <a:ext uri="{FF2B5EF4-FFF2-40B4-BE49-F238E27FC236}">
                <a16:creationId xmlns:a16="http://schemas.microsoft.com/office/drawing/2014/main" id="{160C83C0-B1D1-414B-8E15-BDEAF599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955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Nguồn dự đoán</a:t>
            </a:r>
          </a:p>
        </p:txBody>
      </p:sp>
      <p:sp>
        <p:nvSpPr>
          <p:cNvPr id="12" name="limit-body-1">
            <a:extLst xmlns:a="http://schemas.openxmlformats.org/drawingml/2006/main">
              <a:ext uri="{FF2B5EF4-FFF2-40B4-BE49-F238E27FC236}">
                <a16:creationId xmlns:a16="http://schemas.microsoft.com/office/drawing/2014/main" id="{AAA64AFD-7FA0-4F45-9275-62877AE0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955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predicted_label giữ nguyên từ classifier 19 đầu ra.</a:t>
            </a:r>
          </a:p>
        </p:txBody>
      </p:sp>
      <p:sp>
        <p:nvSpPr>
          <p:cNvPr id="13" name="limit-num-2">
            <a:extLst xmlns:a="http://schemas.openxmlformats.org/drawingml/2006/main">
              <a:ext uri="{FF2B5EF4-FFF2-40B4-BE49-F238E27FC236}">
                <a16:creationId xmlns:a16="http://schemas.microsoft.com/office/drawing/2014/main" id="{E5114A80-CA6F-4DBA-89E3-4FC61347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62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limit-title-2">
            <a:extLst xmlns:a="http://schemas.openxmlformats.org/drawingml/2006/main">
              <a:ext uri="{FF2B5EF4-FFF2-40B4-BE49-F238E27FC236}">
                <a16:creationId xmlns:a16="http://schemas.microsoft.com/office/drawing/2014/main" id="{9AF12744-88D0-48D1-A583-4C48806C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623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Phép tính</a:t>
            </a:r>
          </a:p>
        </p:txBody>
      </p:sp>
      <p:sp>
        <p:nvSpPr>
          <p:cNvPr id="15" name="limit-body-2">
            <a:extLst xmlns:a="http://schemas.openxmlformats.org/drawingml/2006/main">
              <a:ext uri="{FF2B5EF4-FFF2-40B4-BE49-F238E27FC236}">
                <a16:creationId xmlns:a16="http://schemas.microsoft.com/office/drawing/2014/main" id="{654393D0-6288-41F9-AA10-6262E6BA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Tái lập Accuracy, Macro-P/R/F1, per-class, mean, sample SD và bootstrap.</a:t>
            </a:r>
          </a:p>
        </p:txBody>
      </p:sp>
      <p:sp>
        <p:nvSpPr>
          <p:cNvPr id="16" name="limit-num-3">
            <a:extLst xmlns:a="http://schemas.openxmlformats.org/drawingml/2006/main">
              <a:ext uri="{FF2B5EF4-FFF2-40B4-BE49-F238E27FC236}">
                <a16:creationId xmlns:a16="http://schemas.microsoft.com/office/drawing/2014/main" id="{5A9A4FAE-7E4D-4EA3-B595-268314B1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291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limit-title-3">
            <a:extLst xmlns:a="http://schemas.openxmlformats.org/drawingml/2006/main">
              <a:ext uri="{FF2B5EF4-FFF2-40B4-BE49-F238E27FC236}">
                <a16:creationId xmlns:a16="http://schemas.microsoft.com/office/drawing/2014/main" id="{2BE5482D-DDA4-4AC8-AF0D-AB3E60FE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291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Tệp kết quả</a:t>
            </a:r>
          </a:p>
        </p:txBody>
      </p:sp>
      <p:sp>
        <p:nvSpPr>
          <p:cNvPr id="18" name="limit-body-3">
            <a:extLst xmlns:a="http://schemas.openxmlformats.org/drawingml/2006/main">
              <a:ext uri="{FF2B5EF4-FFF2-40B4-BE49-F238E27FC236}">
                <a16:creationId xmlns:a16="http://schemas.microsoft.com/office/drawing/2014/main" id="{9BC74C7A-17C1-4547-AF29-D31F8C01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291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recalculated_11class_metrics.json là nguồn số duy nhất cho Word, hình và PowerPoint.</a:t>
            </a:r>
          </a:p>
        </p:txBody>
      </p:sp>
      <p:sp>
        <p:nvSpPr>
          <p:cNvPr id="19" name="high-conclusion">
            <a:extLst xmlns:a="http://schemas.openxmlformats.org/drawingml/2006/main">
              <a:ext uri="{FF2B5EF4-FFF2-40B4-BE49-F238E27FC236}">
                <a16:creationId xmlns:a16="http://schemas.microsoft.com/office/drawing/2014/main" id="{19F101A9-9A9A-4D71-B840-DFD4C592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385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high-conclusion-text">
            <a:extLst xmlns:a="http://schemas.openxmlformats.org/drawingml/2006/main">
              <a:ext uri="{FF2B5EF4-FFF2-40B4-BE49-F238E27FC236}">
                <a16:creationId xmlns:a16="http://schemas.microsoft.com/office/drawing/2014/main" id="{64DD71C4-6C58-496A-8351-A38E663E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3381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Không thay checkpoint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Không renormalize xác suất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Không xóa dữ liệu gốc</a:t>
            </a:r>
          </a:p>
        </p:txBody>
      </p:sp>
    </p:spTree>
    <p:extLst>
      <p:ext uri="{BB962C8B-B14F-4D97-AF65-F5344CB8AC3E}">
        <p14:creationId xmlns:p14="http://schemas.microsoft.com/office/powerpoint/2010/main" val="4833257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Giới hạn bắt buộc khi trình bày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Điểm cao cần được hiểu trong phạm vi đánh giá lại 11 lớp từ checkpoint 19 đầu ra.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Hậu kiểm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 lớp được chốt sau campaign 19 lớp; có nguy cơ quyết định thiết kế chịu ảnh hưởng bởi kết quả đã xem.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Classifier giữ 19 logit. Dự đoán ngoài 11 nhãn vẫn được giữ và tính là sai.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Tổng quát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Dữ liệu mất cân bằng; chưa có external test, group split theo ruộng/cây/phiên chụp hay mobile benchmark.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Kết luận chỉ áp dụng cho phép đánh giá lại 11 lớp trên checkpoint 19 đầu ra.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14">
            <a:extLst xmlns:a="http://schemas.openxmlformats.org/drawingml/2006/main">
              <a:ext uri="{FF2B5EF4-FFF2-40B4-BE49-F238E27FC236}">
                <a16:creationId xmlns:a16="http://schemas.microsoft.com/office/drawing/2014/main" id="{5FDB4365-AB47-4A4B-9673-7A7036BB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Kết luận từ phép lọc 11 lớp</a:t>
            </a:r>
          </a:p>
        </p:txBody>
      </p:sp>
      <p:sp>
        <p:nvSpPr>
          <p:cNvPr id="2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DD379C15-C89C-4FFC-9AFB-844BD68D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number-14">
            <a:extLst xmlns:a="http://schemas.openxmlformats.org/drawingml/2006/main">
              <a:ext uri="{FF2B5EF4-FFF2-40B4-BE49-F238E27FC236}">
                <a16:creationId xmlns:a16="http://schemas.microsoft.com/office/drawing/2014/main" id="{275C531F-FC6B-4598-8CE6-D44CE9AE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final-claim">
            <a:extLst xmlns:a="http://schemas.openxmlformats.org/drawingml/2006/main">
              <a:ext uri="{FF2B5EF4-FFF2-40B4-BE49-F238E27FC236}">
                <a16:creationId xmlns:a16="http://schemas.microsoft.com/office/drawing/2014/main" id="{1B671FD6-F5A9-41F0-A137-DAC2BC08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Thứ hạng sáu mô hình giữ nguyên khi lọc còn 11 lớp.</a:t>
            </a:r>
          </a:p>
        </p:txBody>
      </p:sp>
      <p:sp>
        <p:nvSpPr>
          <p:cNvPr id="5" name="rec-label-0">
            <a:extLst xmlns:a="http://schemas.openxmlformats.org/drawingml/2006/main">
              <a:ext uri="{FF2B5EF4-FFF2-40B4-BE49-F238E27FC236}">
                <a16:creationId xmlns:a16="http://schemas.microsoft.com/office/drawing/2014/main" id="{5D9A0ACA-8BB3-46E9-88B3-8AC1CA3C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6" name="rec-body-0">
            <a:extLst xmlns:a="http://schemas.openxmlformats.org/drawingml/2006/main">
              <a:ext uri="{FF2B5EF4-FFF2-40B4-BE49-F238E27FC236}">
                <a16:creationId xmlns:a16="http://schemas.microsoft.com/office/drawing/2014/main" id="{D85B99F4-B4FD-40B7-B12B-7EE39E6E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833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B0 dẫn đầu 97,994% Macro-F1; V3-Large thứ hai 97,585%; ShuffleNet thấp nhất 91,524%.</a:t>
            </a:r>
          </a:p>
        </p:txBody>
      </p:sp>
      <p:sp>
        <p:nvSpPr>
          <p:cNvPr id="7" name="rec-rule-0">
            <a:extLst xmlns:a="http://schemas.openxmlformats.org/drawingml/2006/main">
              <a:ext uri="{FF2B5EF4-FFF2-40B4-BE49-F238E27FC236}">
                <a16:creationId xmlns:a16="http://schemas.microsoft.com/office/drawing/2014/main" id="{F6B77484-81C7-4BE2-8E3A-D1822B45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38500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-label-1">
            <a:extLst xmlns:a="http://schemas.openxmlformats.org/drawingml/2006/main">
              <a:ext uri="{FF2B5EF4-FFF2-40B4-BE49-F238E27FC236}">
                <a16:creationId xmlns:a16="http://schemas.microsoft.com/office/drawing/2014/main" id="{2EE58283-4101-4386-8A7C-3BE08599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Ý NGHĨA</a:t>
            </a:r>
          </a:p>
        </p:txBody>
      </p:sp>
      <p:sp>
        <p:nvSpPr>
          <p:cNvPr id="9" name="rec-body-1">
            <a:extLst xmlns:a="http://schemas.openxmlformats.org/drawingml/2006/main">
              <a:ext uri="{FF2B5EF4-FFF2-40B4-BE49-F238E27FC236}">
                <a16:creationId xmlns:a16="http://schemas.microsoft.com/office/drawing/2014/main" id="{C73C4BDE-562F-4D97-8548-77FB3FCF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76625"/>
            <a:ext cx="833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Loại tám true-label support thấp không làm đảo thứ hạng; kết luận backbone có độ bền mô tả trong sensitivity analysis.</a:t>
            </a:r>
          </a:p>
        </p:txBody>
      </p:sp>
      <p:sp>
        <p:nvSpPr>
          <p:cNvPr id="10" name="rec-rule-1">
            <a:extLst xmlns:a="http://schemas.openxmlformats.org/drawingml/2006/main">
              <a:ext uri="{FF2B5EF4-FFF2-40B4-BE49-F238E27FC236}">
                <a16:creationId xmlns:a16="http://schemas.microsoft.com/office/drawing/2014/main" id="{4BAA5F34-8230-44C2-8DE1-FD66627B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38625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-label-2">
            <a:extLst xmlns:a="http://schemas.openxmlformats.org/drawingml/2006/main">
              <a:ext uri="{FF2B5EF4-FFF2-40B4-BE49-F238E27FC236}">
                <a16:creationId xmlns:a16="http://schemas.microsoft.com/office/drawing/2014/main" id="{7F9CF0F5-5E75-43D7-9C5D-39167203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ỨNG DỤNG</a:t>
            </a:r>
          </a:p>
        </p:txBody>
      </p:sp>
      <p:sp>
        <p:nvSpPr>
          <p:cNvPr id="12" name="rec-body-2">
            <a:extLst xmlns:a="http://schemas.openxmlformats.org/drawingml/2006/main">
              <a:ext uri="{FF2B5EF4-FFF2-40B4-BE49-F238E27FC236}">
                <a16:creationId xmlns:a16="http://schemas.microsoft.com/office/drawing/2014/main" id="{217D1F94-BDD3-4A28-B5C7-7058B780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833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Dùng kết quả lọc 11 lớp để chọn backbone, sau đó kiểm thử external, group split và benchmark mobile.</a:t>
            </a:r>
          </a:p>
        </p:txBody>
      </p:sp>
      <p:sp>
        <p:nvSpPr>
          <p:cNvPr id="13" name="rec-rule-2">
            <a:extLst xmlns:a="http://schemas.openxmlformats.org/drawingml/2006/main">
              <a:ext uri="{FF2B5EF4-FFF2-40B4-BE49-F238E27FC236}">
                <a16:creationId xmlns:a16="http://schemas.microsoft.com/office/drawing/2014/main" id="{ABE0F5C2-7B12-4CB1-B7CF-B223EDA2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38750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final-close">
            <a:extLst xmlns:a="http://schemas.openxmlformats.org/drawingml/2006/main">
              <a:ext uri="{FF2B5EF4-FFF2-40B4-BE49-F238E27FC236}">
                <a16:creationId xmlns:a16="http://schemas.microsoft.com/office/drawing/2014/main" id="{14B26AA6-943B-4958-A27F-9D3D1BAB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Checkpoint 19 lớp và toàn bộ dự đoán gốc được giữ nguyên.</a:t>
            </a:r>
          </a:p>
        </p:txBody>
      </p:sp>
    </p:spTree>
    <p:extLst>
      <p:ext uri="{BB962C8B-B14F-4D97-AF65-F5344CB8AC3E}">
        <p14:creationId xmlns:p14="http://schemas.microsoft.com/office/powerpoint/2010/main" val="2082982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2026-09-07T05:15:28.5240000Z</dcterms:created>
  <dcterms:modified xsi:type="dcterms:W3CDTF">2026-09-07T05:15:28.5240000Z</dcterms:modified>
</coreProperties>
</file>